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94" r:id="rId5"/>
    <p:sldId id="259" r:id="rId6"/>
    <p:sldId id="273" r:id="rId7"/>
    <p:sldId id="274" r:id="rId8"/>
    <p:sldId id="275" r:id="rId9"/>
    <p:sldId id="276" r:id="rId10"/>
    <p:sldId id="260" r:id="rId11"/>
    <p:sldId id="289" r:id="rId12"/>
    <p:sldId id="277" r:id="rId13"/>
    <p:sldId id="279" r:id="rId14"/>
    <p:sldId id="284" r:id="rId15"/>
    <p:sldId id="280" r:id="rId16"/>
    <p:sldId id="281" r:id="rId17"/>
    <p:sldId id="282" r:id="rId18"/>
    <p:sldId id="290" r:id="rId19"/>
    <p:sldId id="285" r:id="rId20"/>
    <p:sldId id="291" r:id="rId21"/>
    <p:sldId id="283" r:id="rId22"/>
    <p:sldId id="292" r:id="rId23"/>
    <p:sldId id="286" r:id="rId24"/>
    <p:sldId id="287" r:id="rId25"/>
    <p:sldId id="288" r:id="rId26"/>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1" d="100"/>
          <a:sy n="151" d="100"/>
        </p:scale>
        <p:origin x="1637" y="8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70CFEC35-CB78-40F2-903A-E4B648570DB3}" type="datetimeFigureOut">
              <a:rPr lang="en-US" smtClean="0"/>
              <a:t>3/8/2026</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4E1D9A0B-BCCE-4466-8534-D03BF3B95182}" type="slidenum">
              <a:rPr lang="en-US" smtClean="0"/>
              <a:t>‹#›</a:t>
            </a:fld>
            <a:endParaRPr lang="en-US"/>
          </a:p>
        </p:txBody>
      </p:sp>
    </p:spTree>
    <p:extLst>
      <p:ext uri="{BB962C8B-B14F-4D97-AF65-F5344CB8AC3E}">
        <p14:creationId xmlns:p14="http://schemas.microsoft.com/office/powerpoint/2010/main" val="1404503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1D9A0B-BCCE-4466-8534-D03BF3B95182}" type="slidenum">
              <a:rPr lang="en-US" smtClean="0"/>
              <a:t>5</a:t>
            </a:fld>
            <a:endParaRPr lang="en-US"/>
          </a:p>
        </p:txBody>
      </p:sp>
    </p:spTree>
    <p:extLst>
      <p:ext uri="{BB962C8B-B14F-4D97-AF65-F5344CB8AC3E}">
        <p14:creationId xmlns:p14="http://schemas.microsoft.com/office/powerpoint/2010/main" val="4209455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Adaptation</a:t>
            </a:r>
            <a:r>
              <a:rPr spc="20" dirty="0"/>
              <a:t> </a:t>
            </a:r>
            <a:r>
              <a:rPr spc="-25" dirty="0"/>
              <a:t>technology</a:t>
            </a:r>
            <a:r>
              <a:rPr spc="25" dirty="0"/>
              <a:t> </a:t>
            </a:r>
            <a:r>
              <a:rPr spc="-10" dirty="0"/>
              <a:t>and</a:t>
            </a:r>
            <a:r>
              <a:rPr spc="25" dirty="0"/>
              <a:t> </a:t>
            </a:r>
            <a:r>
              <a:rPr spc="-25" dirty="0"/>
              <a:t>free-</a:t>
            </a:r>
            <a:r>
              <a:rPr spc="-10" dirty="0"/>
              <a:t>riding</a:t>
            </a:r>
            <a:r>
              <a:rPr spc="25" dirty="0"/>
              <a:t> </a:t>
            </a:r>
            <a:r>
              <a:rPr spc="-30" dirty="0"/>
              <a:t>incentives</a:t>
            </a:r>
            <a:r>
              <a:rPr spc="25" dirty="0"/>
              <a:t> </a:t>
            </a:r>
            <a:r>
              <a:rPr dirty="0"/>
              <a:t>in</a:t>
            </a:r>
            <a:r>
              <a:rPr spc="25" dirty="0"/>
              <a:t> </a:t>
            </a:r>
            <a:r>
              <a:rPr spc="-20" dirty="0"/>
              <a:t>IEAs</a:t>
            </a:r>
          </a:p>
        </p:txBody>
      </p:sp>
      <p:sp>
        <p:nvSpPr>
          <p:cNvPr id="5" name="Holder 5"/>
          <p:cNvSpPr>
            <a:spLocks noGrp="1"/>
          </p:cNvSpPr>
          <p:nvPr>
            <p:ph type="dt" sz="half" idx="6"/>
          </p:nvPr>
        </p:nvSpPr>
        <p:spPr/>
        <p:txBody>
          <a:bodyPr lIns="0" tIns="0" rIns="0" bIns="0"/>
          <a:lstStyle>
            <a:lvl1pPr>
              <a:defRPr sz="600" b="1" i="0">
                <a:solidFill>
                  <a:schemeClr val="bg1"/>
                </a:solidFill>
                <a:latin typeface="Arial"/>
                <a:cs typeface="Arial"/>
              </a:defRPr>
            </a:lvl1pPr>
          </a:lstStyle>
          <a:p>
            <a:pPr marL="12700">
              <a:lnSpc>
                <a:spcPts val="685"/>
              </a:lnSpc>
            </a:pPr>
            <a:r>
              <a:rPr spc="-30" dirty="0"/>
              <a:t>Benchekroun</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6680" y="3245103"/>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2967063" y="3241141"/>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44865" y="3241141"/>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05694" y="3234791"/>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42526" y="3241141"/>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06877" y="3247491"/>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17976" y="3241141"/>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594177" y="3234791"/>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69640" y="3234791"/>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793439" y="3241141"/>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69640" y="3272891"/>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sp>
        <p:nvSpPr>
          <p:cNvPr id="27" name="bg object 27"/>
          <p:cNvSpPr/>
          <p:nvPr/>
        </p:nvSpPr>
        <p:spPr>
          <a:xfrm>
            <a:off x="4145090" y="3234791"/>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5271"/>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8776"/>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4791"/>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000000"/>
          </a:solidFill>
        </p:spPr>
        <p:txBody>
          <a:bodyPr wrap="square" lIns="0" tIns="0" rIns="0" bIns="0" rtlCol="0"/>
          <a:lstStyle/>
          <a:p>
            <a:endParaRPr/>
          </a:p>
        </p:txBody>
      </p:sp>
      <p:sp>
        <p:nvSpPr>
          <p:cNvPr id="32" name="bg object 32"/>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0" i="0">
                <a:solidFill>
                  <a:schemeClr val="bg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Adaptation</a:t>
            </a:r>
            <a:r>
              <a:rPr spc="20" dirty="0"/>
              <a:t> </a:t>
            </a:r>
            <a:r>
              <a:rPr spc="-25" dirty="0"/>
              <a:t>technology</a:t>
            </a:r>
            <a:r>
              <a:rPr spc="25" dirty="0"/>
              <a:t> </a:t>
            </a:r>
            <a:r>
              <a:rPr spc="-10" dirty="0"/>
              <a:t>and</a:t>
            </a:r>
            <a:r>
              <a:rPr spc="25" dirty="0"/>
              <a:t> </a:t>
            </a:r>
            <a:r>
              <a:rPr spc="-25" dirty="0"/>
              <a:t>free-</a:t>
            </a:r>
            <a:r>
              <a:rPr spc="-10" dirty="0"/>
              <a:t>riding</a:t>
            </a:r>
            <a:r>
              <a:rPr spc="25" dirty="0"/>
              <a:t> </a:t>
            </a:r>
            <a:r>
              <a:rPr spc="-30" dirty="0"/>
              <a:t>incentives</a:t>
            </a:r>
            <a:r>
              <a:rPr spc="25" dirty="0"/>
              <a:t> </a:t>
            </a:r>
            <a:r>
              <a:rPr dirty="0"/>
              <a:t>in</a:t>
            </a:r>
            <a:r>
              <a:rPr spc="25" dirty="0"/>
              <a:t> </a:t>
            </a:r>
            <a:r>
              <a:rPr spc="-20" dirty="0"/>
              <a:t>IEAs</a:t>
            </a:r>
          </a:p>
        </p:txBody>
      </p:sp>
      <p:sp>
        <p:nvSpPr>
          <p:cNvPr id="5" name="Holder 5"/>
          <p:cNvSpPr>
            <a:spLocks noGrp="1"/>
          </p:cNvSpPr>
          <p:nvPr>
            <p:ph type="dt" sz="half" idx="6"/>
          </p:nvPr>
        </p:nvSpPr>
        <p:spPr/>
        <p:txBody>
          <a:bodyPr lIns="0" tIns="0" rIns="0" bIns="0"/>
          <a:lstStyle>
            <a:lvl1pPr>
              <a:defRPr sz="600" b="1" i="0">
                <a:solidFill>
                  <a:schemeClr val="bg1"/>
                </a:solidFill>
                <a:latin typeface="Arial"/>
                <a:cs typeface="Arial"/>
              </a:defRPr>
            </a:lvl1pPr>
          </a:lstStyle>
          <a:p>
            <a:pPr marL="12700">
              <a:lnSpc>
                <a:spcPts val="685"/>
              </a:lnSpc>
            </a:pPr>
            <a:r>
              <a:rPr spc="-30" dirty="0"/>
              <a:t>Benchekroun</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Adaptation</a:t>
            </a:r>
            <a:r>
              <a:rPr spc="20" dirty="0"/>
              <a:t> </a:t>
            </a:r>
            <a:r>
              <a:rPr spc="-25" dirty="0"/>
              <a:t>technology</a:t>
            </a:r>
            <a:r>
              <a:rPr spc="25" dirty="0"/>
              <a:t> </a:t>
            </a:r>
            <a:r>
              <a:rPr spc="-10" dirty="0"/>
              <a:t>and</a:t>
            </a:r>
            <a:r>
              <a:rPr spc="25" dirty="0"/>
              <a:t> </a:t>
            </a:r>
            <a:r>
              <a:rPr spc="-25" dirty="0"/>
              <a:t>free-</a:t>
            </a:r>
            <a:r>
              <a:rPr spc="-10" dirty="0"/>
              <a:t>riding</a:t>
            </a:r>
            <a:r>
              <a:rPr spc="25" dirty="0"/>
              <a:t> </a:t>
            </a:r>
            <a:r>
              <a:rPr spc="-30" dirty="0"/>
              <a:t>incentives</a:t>
            </a:r>
            <a:r>
              <a:rPr spc="25" dirty="0"/>
              <a:t> </a:t>
            </a:r>
            <a:r>
              <a:rPr dirty="0"/>
              <a:t>in</a:t>
            </a:r>
            <a:r>
              <a:rPr spc="25" dirty="0"/>
              <a:t> </a:t>
            </a:r>
            <a:r>
              <a:rPr spc="-20" dirty="0"/>
              <a:t>IEAs</a:t>
            </a:r>
          </a:p>
        </p:txBody>
      </p:sp>
      <p:sp>
        <p:nvSpPr>
          <p:cNvPr id="6" name="Holder 6"/>
          <p:cNvSpPr>
            <a:spLocks noGrp="1"/>
          </p:cNvSpPr>
          <p:nvPr>
            <p:ph type="dt" sz="half" idx="6"/>
          </p:nvPr>
        </p:nvSpPr>
        <p:spPr/>
        <p:txBody>
          <a:bodyPr lIns="0" tIns="0" rIns="0" bIns="0"/>
          <a:lstStyle>
            <a:lvl1pPr>
              <a:defRPr sz="600" b="1" i="0">
                <a:solidFill>
                  <a:schemeClr val="bg1"/>
                </a:solidFill>
                <a:latin typeface="Arial"/>
                <a:cs typeface="Arial"/>
              </a:defRPr>
            </a:lvl1pPr>
          </a:lstStyle>
          <a:p>
            <a:pPr marL="12700">
              <a:lnSpc>
                <a:spcPts val="685"/>
              </a:lnSpc>
            </a:pPr>
            <a:r>
              <a:rPr spc="-30" dirty="0"/>
              <a:t>Benchekroun</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Adaptation</a:t>
            </a:r>
            <a:r>
              <a:rPr spc="20" dirty="0"/>
              <a:t> </a:t>
            </a:r>
            <a:r>
              <a:rPr spc="-25" dirty="0"/>
              <a:t>technology</a:t>
            </a:r>
            <a:r>
              <a:rPr spc="25" dirty="0"/>
              <a:t> </a:t>
            </a:r>
            <a:r>
              <a:rPr spc="-10" dirty="0"/>
              <a:t>and</a:t>
            </a:r>
            <a:r>
              <a:rPr spc="25" dirty="0"/>
              <a:t> </a:t>
            </a:r>
            <a:r>
              <a:rPr spc="-25" dirty="0"/>
              <a:t>free-</a:t>
            </a:r>
            <a:r>
              <a:rPr spc="-10" dirty="0"/>
              <a:t>riding</a:t>
            </a:r>
            <a:r>
              <a:rPr spc="25" dirty="0"/>
              <a:t> </a:t>
            </a:r>
            <a:r>
              <a:rPr spc="-30" dirty="0"/>
              <a:t>incentives</a:t>
            </a:r>
            <a:r>
              <a:rPr spc="25" dirty="0"/>
              <a:t> </a:t>
            </a:r>
            <a:r>
              <a:rPr dirty="0"/>
              <a:t>in</a:t>
            </a:r>
            <a:r>
              <a:rPr spc="25" dirty="0"/>
              <a:t> </a:t>
            </a:r>
            <a:r>
              <a:rPr spc="-20" dirty="0"/>
              <a:t>IEAs</a:t>
            </a:r>
          </a:p>
        </p:txBody>
      </p:sp>
      <p:sp>
        <p:nvSpPr>
          <p:cNvPr id="4" name="Holder 4"/>
          <p:cNvSpPr>
            <a:spLocks noGrp="1"/>
          </p:cNvSpPr>
          <p:nvPr>
            <p:ph type="dt" sz="half" idx="6"/>
          </p:nvPr>
        </p:nvSpPr>
        <p:spPr/>
        <p:txBody>
          <a:bodyPr lIns="0" tIns="0" rIns="0" bIns="0"/>
          <a:lstStyle>
            <a:lvl1pPr>
              <a:defRPr sz="600" b="1" i="0">
                <a:solidFill>
                  <a:schemeClr val="bg1"/>
                </a:solidFill>
                <a:latin typeface="Arial"/>
                <a:cs typeface="Arial"/>
              </a:defRPr>
            </a:lvl1pPr>
          </a:lstStyle>
          <a:p>
            <a:pPr marL="12700">
              <a:lnSpc>
                <a:spcPts val="685"/>
              </a:lnSpc>
            </a:pPr>
            <a:r>
              <a:rPr spc="-30" dirty="0"/>
              <a:t>Benchekroun</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Adaptation</a:t>
            </a:r>
            <a:r>
              <a:rPr spc="20" dirty="0"/>
              <a:t> </a:t>
            </a:r>
            <a:r>
              <a:rPr spc="-25" dirty="0"/>
              <a:t>technology</a:t>
            </a:r>
            <a:r>
              <a:rPr spc="25" dirty="0"/>
              <a:t> </a:t>
            </a:r>
            <a:r>
              <a:rPr spc="-10" dirty="0"/>
              <a:t>and</a:t>
            </a:r>
            <a:r>
              <a:rPr spc="25" dirty="0"/>
              <a:t> </a:t>
            </a:r>
            <a:r>
              <a:rPr spc="-25" dirty="0"/>
              <a:t>free-</a:t>
            </a:r>
            <a:r>
              <a:rPr spc="-10" dirty="0"/>
              <a:t>riding</a:t>
            </a:r>
            <a:r>
              <a:rPr spc="25" dirty="0"/>
              <a:t> </a:t>
            </a:r>
            <a:r>
              <a:rPr spc="-30" dirty="0"/>
              <a:t>incentives</a:t>
            </a:r>
            <a:r>
              <a:rPr spc="25" dirty="0"/>
              <a:t> </a:t>
            </a:r>
            <a:r>
              <a:rPr dirty="0"/>
              <a:t>in</a:t>
            </a:r>
            <a:r>
              <a:rPr spc="25" dirty="0"/>
              <a:t> </a:t>
            </a:r>
            <a:r>
              <a:rPr spc="-20" dirty="0"/>
              <a:t>IEAs</a:t>
            </a:r>
          </a:p>
        </p:txBody>
      </p:sp>
      <p:sp>
        <p:nvSpPr>
          <p:cNvPr id="3" name="Holder 3"/>
          <p:cNvSpPr>
            <a:spLocks noGrp="1"/>
          </p:cNvSpPr>
          <p:nvPr>
            <p:ph type="dt" sz="half" idx="6"/>
          </p:nvPr>
        </p:nvSpPr>
        <p:spPr/>
        <p:txBody>
          <a:bodyPr lIns="0" tIns="0" rIns="0" bIns="0"/>
          <a:lstStyle>
            <a:lvl1pPr>
              <a:defRPr sz="600" b="1" i="0">
                <a:solidFill>
                  <a:schemeClr val="bg1"/>
                </a:solidFill>
                <a:latin typeface="Arial"/>
                <a:cs typeface="Arial"/>
              </a:defRPr>
            </a:lvl1pPr>
          </a:lstStyle>
          <a:p>
            <a:pPr marL="12700">
              <a:lnSpc>
                <a:spcPts val="685"/>
              </a:lnSpc>
            </a:pPr>
            <a:r>
              <a:rPr spc="-30" dirty="0"/>
              <a:t>Benchekroun</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6680" y="3245103"/>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2967063" y="3241141"/>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44865" y="3241141"/>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05694" y="3234791"/>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42526" y="3241141"/>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06877" y="3247491"/>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17976" y="3241141"/>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594177" y="3234791"/>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69640" y="3234791"/>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793439" y="3241141"/>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69640" y="3272891"/>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sp>
        <p:nvSpPr>
          <p:cNvPr id="27" name="bg object 27"/>
          <p:cNvSpPr/>
          <p:nvPr/>
        </p:nvSpPr>
        <p:spPr>
          <a:xfrm>
            <a:off x="4145090" y="3234791"/>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5271"/>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8776"/>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4791"/>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359994" y="1024750"/>
            <a:ext cx="3890111" cy="592455"/>
          </a:xfrm>
          <a:prstGeom prst="rect">
            <a:avLst/>
          </a:prstGeom>
        </p:spPr>
        <p:txBody>
          <a:bodyPr wrap="square" lIns="0" tIns="0" rIns="0" bIns="0">
            <a:spAutoFit/>
          </a:bodyPr>
          <a:lstStyle>
            <a:lvl1pPr>
              <a:defRPr sz="1400" b="0" i="0">
                <a:solidFill>
                  <a:schemeClr val="bg1"/>
                </a:solidFill>
                <a:latin typeface="Tahoma"/>
                <a:cs typeface="Tahoma"/>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99296" y="3344944"/>
            <a:ext cx="1993900" cy="104139"/>
          </a:xfrm>
          <a:prstGeom prst="rect">
            <a:avLst/>
          </a:prstGeom>
        </p:spPr>
        <p:txBody>
          <a:bodyPr wrap="square" lIns="0" tIns="0" rIns="0" bIns="0">
            <a:spAutoFit/>
          </a:bodyPr>
          <a:lstStyle>
            <a:lvl1pPr>
              <a:defRPr sz="600" b="1" i="0">
                <a:solidFill>
                  <a:schemeClr val="bg1"/>
                </a:solidFill>
                <a:latin typeface="Arial"/>
                <a:cs typeface="Arial"/>
              </a:defRPr>
            </a:lvl1pPr>
          </a:lstStyle>
          <a:p>
            <a:pPr marL="12700">
              <a:lnSpc>
                <a:spcPts val="685"/>
              </a:lnSpc>
            </a:pPr>
            <a:r>
              <a:rPr spc="-10" dirty="0"/>
              <a:t>Adaptation</a:t>
            </a:r>
            <a:r>
              <a:rPr spc="20" dirty="0"/>
              <a:t> </a:t>
            </a:r>
            <a:r>
              <a:rPr spc="-25" dirty="0"/>
              <a:t>technology</a:t>
            </a:r>
            <a:r>
              <a:rPr spc="25" dirty="0"/>
              <a:t> </a:t>
            </a:r>
            <a:r>
              <a:rPr spc="-10" dirty="0"/>
              <a:t>and</a:t>
            </a:r>
            <a:r>
              <a:rPr spc="25" dirty="0"/>
              <a:t> </a:t>
            </a:r>
            <a:r>
              <a:rPr spc="-25" dirty="0"/>
              <a:t>free-</a:t>
            </a:r>
            <a:r>
              <a:rPr spc="-10" dirty="0"/>
              <a:t>riding</a:t>
            </a:r>
            <a:r>
              <a:rPr spc="25" dirty="0"/>
              <a:t> </a:t>
            </a:r>
            <a:r>
              <a:rPr spc="-30" dirty="0"/>
              <a:t>incentives</a:t>
            </a:r>
            <a:r>
              <a:rPr spc="25" dirty="0"/>
              <a:t> </a:t>
            </a:r>
            <a:r>
              <a:rPr dirty="0"/>
              <a:t>in</a:t>
            </a:r>
            <a:r>
              <a:rPr spc="25" dirty="0"/>
              <a:t> </a:t>
            </a:r>
            <a:r>
              <a:rPr spc="-20" dirty="0"/>
              <a:t>IEAs</a:t>
            </a:r>
          </a:p>
        </p:txBody>
      </p:sp>
      <p:sp>
        <p:nvSpPr>
          <p:cNvPr id="5" name="Holder 5"/>
          <p:cNvSpPr>
            <a:spLocks noGrp="1"/>
          </p:cNvSpPr>
          <p:nvPr>
            <p:ph type="dt" sz="half" idx="6"/>
          </p:nvPr>
        </p:nvSpPr>
        <p:spPr>
          <a:xfrm>
            <a:off x="388315" y="3344944"/>
            <a:ext cx="476884" cy="104139"/>
          </a:xfrm>
          <a:prstGeom prst="rect">
            <a:avLst/>
          </a:prstGeom>
        </p:spPr>
        <p:txBody>
          <a:bodyPr wrap="square" lIns="0" tIns="0" rIns="0" bIns="0">
            <a:spAutoFit/>
          </a:bodyPr>
          <a:lstStyle>
            <a:lvl1pPr>
              <a:defRPr sz="600" b="1" i="0">
                <a:solidFill>
                  <a:schemeClr val="bg1"/>
                </a:solidFill>
                <a:latin typeface="Arial"/>
                <a:cs typeface="Arial"/>
              </a:defRPr>
            </a:lvl1pPr>
          </a:lstStyle>
          <a:p>
            <a:pPr marL="12700">
              <a:lnSpc>
                <a:spcPts val="685"/>
              </a:lnSpc>
            </a:pPr>
            <a:r>
              <a:rPr spc="-30" dirty="0"/>
              <a:t>Benchekroun</a:t>
            </a:r>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4.tmp"/><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943" y="1475625"/>
            <a:ext cx="3888104" cy="405239"/>
          </a:xfrm>
          <a:prstGeom prst="rect">
            <a:avLst/>
          </a:prstGeom>
          <a:solidFill>
            <a:srgbClr val="3333B2"/>
          </a:solidFill>
        </p:spPr>
        <p:txBody>
          <a:bodyPr vert="horz" wrap="square" lIns="0" tIns="35560" rIns="0" bIns="0" rtlCol="0">
            <a:spAutoFit/>
          </a:bodyPr>
          <a:lstStyle/>
          <a:p>
            <a:pPr algn="ctr"/>
            <a:r>
              <a:rPr lang="en-US" sz="1200" dirty="0"/>
              <a:t>The Impact of Oil Price Shocks on GDP and Inflation: Case of Saudi Arabia</a:t>
            </a:r>
          </a:p>
        </p:txBody>
      </p:sp>
      <p:grpSp>
        <p:nvGrpSpPr>
          <p:cNvPr id="8" name="object 8"/>
          <p:cNvGrpSpPr/>
          <p:nvPr/>
        </p:nvGrpSpPr>
        <p:grpSpPr>
          <a:xfrm>
            <a:off x="0" y="3329876"/>
            <a:ext cx="4608195" cy="126364"/>
            <a:chOff x="0" y="3329876"/>
            <a:chExt cx="4608195" cy="126364"/>
          </a:xfrm>
        </p:grpSpPr>
        <p:sp>
          <p:nvSpPr>
            <p:cNvPr id="9" name="object 9"/>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0" name="object 10"/>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3" name="object 13"/>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4" name="object 14"/>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rgbClr val="FFFFFF"/>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a:t>
            </a:r>
            <a:r>
              <a:rPr lang="en-US" sz="600" b="1" spc="-35" dirty="0">
                <a:solidFill>
                  <a:srgbClr val="7F7F7F"/>
                </a:solidFill>
                <a:latin typeface="Arial"/>
                <a:cs typeface="Arial"/>
              </a:rPr>
              <a:t>ding remarks</a:t>
            </a:r>
            <a:endParaRPr sz="600" dirty="0">
              <a:latin typeface="Arial"/>
              <a:cs typeface="Arial"/>
            </a:endParaRPr>
          </a:p>
        </p:txBody>
      </p:sp>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4" name="object 4"/>
          <p:cNvSpPr txBox="1"/>
          <p:nvPr/>
        </p:nvSpPr>
        <p:spPr>
          <a:xfrm>
            <a:off x="351682" y="499986"/>
            <a:ext cx="3341370" cy="2874505"/>
          </a:xfrm>
          <a:prstGeom prst="rect">
            <a:avLst/>
          </a:prstGeom>
        </p:spPr>
        <p:txBody>
          <a:bodyPr vert="horz" wrap="square" lIns="0" tIns="78105" rIns="0" bIns="0" rtlCol="0">
            <a:spAutoFit/>
          </a:bodyPr>
          <a:lstStyle/>
          <a:p>
            <a:pPr marL="186055" indent="-148590">
              <a:lnSpc>
                <a:spcPct val="100000"/>
              </a:lnSpc>
              <a:spcBef>
                <a:spcPts val="615"/>
              </a:spcBef>
              <a:buClr>
                <a:srgbClr val="3333B2"/>
              </a:buClr>
              <a:buSzPct val="72727"/>
              <a:buFont typeface="Lucida Sans Unicode"/>
              <a:buChar char="►"/>
              <a:tabLst>
                <a:tab pos="186690" algn="l"/>
              </a:tabLst>
            </a:pPr>
            <a:r>
              <a:rPr sz="1100" spc="-10" dirty="0">
                <a:latin typeface="Tahoma"/>
                <a:cs typeface="Tahoma"/>
              </a:rPr>
              <a:t>Introduction</a:t>
            </a:r>
            <a:endParaRPr sz="1100" dirty="0">
              <a:latin typeface="Tahoma"/>
              <a:cs typeface="Tahoma"/>
            </a:endParaRPr>
          </a:p>
          <a:p>
            <a:pPr marL="462915" lvl="1" indent="-137795">
              <a:spcBef>
                <a:spcPts val="475"/>
              </a:spcBef>
              <a:buClr>
                <a:srgbClr val="3333B2"/>
              </a:buClr>
              <a:buSzPct val="60000"/>
              <a:buFont typeface="Arial"/>
              <a:buChar char="►"/>
              <a:tabLst>
                <a:tab pos="463550" algn="l"/>
              </a:tabLst>
            </a:pPr>
            <a:r>
              <a:rPr sz="1000" spc="-10" dirty="0">
                <a:latin typeface="Tahoma"/>
                <a:cs typeface="Tahoma"/>
              </a:rPr>
              <a:t>Motivation</a:t>
            </a:r>
            <a:endParaRPr lang="en-US" sz="1000" spc="-10" dirty="0">
              <a:latin typeface="Tahoma"/>
              <a:cs typeface="Tahoma"/>
            </a:endParaRPr>
          </a:p>
          <a:p>
            <a:pPr marL="462915" lvl="1" indent="-137795">
              <a:spcBef>
                <a:spcPts val="475"/>
              </a:spcBef>
              <a:buClr>
                <a:srgbClr val="3333B2"/>
              </a:buClr>
              <a:buSzPct val="60000"/>
              <a:buFont typeface="Arial"/>
              <a:buChar char="►"/>
              <a:tabLst>
                <a:tab pos="463550" algn="l"/>
              </a:tabLst>
            </a:pPr>
            <a:r>
              <a:rPr lang="en-US" sz="1000" spc="-10" dirty="0">
                <a:latin typeface="Tahoma"/>
                <a:cs typeface="Tahoma"/>
              </a:rPr>
              <a:t>Objective</a:t>
            </a:r>
            <a:endParaRPr sz="1000" dirty="0">
              <a:latin typeface="Tahoma"/>
              <a:cs typeface="Tahoma"/>
            </a:endParaRPr>
          </a:p>
          <a:p>
            <a:pPr marL="462915" lvl="1" indent="-137795">
              <a:buClr>
                <a:srgbClr val="3333B2"/>
              </a:buClr>
              <a:buSzPct val="60000"/>
              <a:buFont typeface="Arial"/>
              <a:buChar char="►"/>
              <a:tabLst>
                <a:tab pos="463550" algn="l"/>
              </a:tabLst>
            </a:pPr>
            <a:r>
              <a:rPr sz="1000" spc="-20" dirty="0">
                <a:latin typeface="Tahoma"/>
                <a:cs typeface="Tahoma"/>
              </a:rPr>
              <a:t>Related</a:t>
            </a:r>
            <a:r>
              <a:rPr sz="1000" spc="-40" dirty="0">
                <a:latin typeface="Tahoma"/>
                <a:cs typeface="Tahoma"/>
              </a:rPr>
              <a:t> </a:t>
            </a:r>
            <a:r>
              <a:rPr sz="1000" spc="-10" dirty="0">
                <a:latin typeface="Tahoma"/>
                <a:cs typeface="Tahoma"/>
              </a:rPr>
              <a:t>literature</a:t>
            </a:r>
            <a:endParaRPr lang="en-US" sz="1000" spc="-10" dirty="0">
              <a:latin typeface="Tahoma"/>
              <a:cs typeface="Tahoma"/>
            </a:endParaRPr>
          </a:p>
          <a:p>
            <a:pPr marL="462915" lvl="1" indent="-137795">
              <a:buClr>
                <a:srgbClr val="3333B2"/>
              </a:buClr>
              <a:buSzPct val="60000"/>
              <a:buFont typeface="Arial"/>
              <a:buChar char="►"/>
              <a:tabLst>
                <a:tab pos="463550" algn="l"/>
              </a:tabLst>
            </a:pPr>
            <a:r>
              <a:rPr lang="en-US" sz="1000" spc="-10" dirty="0">
                <a:latin typeface="Tahoma"/>
                <a:cs typeface="Tahoma"/>
              </a:rPr>
              <a:t>Contribution</a:t>
            </a:r>
            <a:endParaRPr sz="1000" dirty="0">
              <a:latin typeface="Tahoma"/>
              <a:cs typeface="Tahoma"/>
            </a:endParaRPr>
          </a:p>
          <a:p>
            <a:pPr marL="186055" indent="-148590">
              <a:lnSpc>
                <a:spcPct val="100000"/>
              </a:lnSpc>
              <a:spcBef>
                <a:spcPts val="390"/>
              </a:spcBef>
              <a:buClr>
                <a:srgbClr val="3333B2"/>
              </a:buClr>
              <a:buSzPct val="72727"/>
              <a:buFont typeface="Lucida Sans Unicode"/>
              <a:buChar char="►"/>
              <a:tabLst>
                <a:tab pos="186690" algn="l"/>
              </a:tabLst>
            </a:pPr>
            <a:r>
              <a:rPr lang="en-US" sz="1100" dirty="0">
                <a:latin typeface="Tahoma"/>
                <a:cs typeface="Tahoma"/>
              </a:rPr>
              <a:t>Data</a:t>
            </a:r>
            <a:endParaRPr sz="1100" dirty="0">
              <a:latin typeface="Tahoma"/>
              <a:cs typeface="Tahoma"/>
            </a:endParaRPr>
          </a:p>
          <a:p>
            <a:pPr marL="462915" lvl="1" indent="-137795">
              <a:lnSpc>
                <a:spcPct val="100000"/>
              </a:lnSpc>
              <a:spcBef>
                <a:spcPts val="175"/>
              </a:spcBef>
              <a:buClr>
                <a:srgbClr val="3333B2"/>
              </a:buClr>
              <a:buSzPct val="60000"/>
              <a:buFont typeface="Arial"/>
              <a:buChar char="►"/>
              <a:tabLst>
                <a:tab pos="463550" algn="l"/>
              </a:tabLst>
            </a:pPr>
            <a:r>
              <a:rPr lang="en-US" sz="1000" dirty="0">
                <a:latin typeface="Tahoma"/>
                <a:cs typeface="Tahoma"/>
              </a:rPr>
              <a:t>Descriptive Statistics</a:t>
            </a:r>
          </a:p>
          <a:p>
            <a:pPr marL="462915" lvl="1" indent="-137795">
              <a:lnSpc>
                <a:spcPct val="100000"/>
              </a:lnSpc>
              <a:spcBef>
                <a:spcPts val="175"/>
              </a:spcBef>
              <a:buClr>
                <a:srgbClr val="3333B2"/>
              </a:buClr>
              <a:buSzPct val="60000"/>
              <a:buFont typeface="Arial"/>
              <a:buChar char="►"/>
              <a:tabLst>
                <a:tab pos="463550" algn="l"/>
              </a:tabLst>
            </a:pPr>
            <a:r>
              <a:rPr lang="en-US" sz="1000" dirty="0">
                <a:latin typeface="Tahoma"/>
                <a:cs typeface="Tahoma"/>
              </a:rPr>
              <a:t>Preliminary Analysis</a:t>
            </a:r>
          </a:p>
          <a:p>
            <a:pPr marL="462915" lvl="1" indent="-137795">
              <a:lnSpc>
                <a:spcPct val="100000"/>
              </a:lnSpc>
              <a:spcBef>
                <a:spcPts val="175"/>
              </a:spcBef>
              <a:buClr>
                <a:srgbClr val="3333B2"/>
              </a:buClr>
              <a:buSzPct val="60000"/>
              <a:buFont typeface="Arial"/>
              <a:buChar char="►"/>
              <a:tabLst>
                <a:tab pos="463550" algn="l"/>
              </a:tabLst>
            </a:pPr>
            <a:r>
              <a:rPr lang="en-US" sz="1000" dirty="0">
                <a:latin typeface="Tahoma"/>
                <a:cs typeface="Tahoma"/>
              </a:rPr>
              <a:t>Unit Root Tests</a:t>
            </a:r>
            <a:endParaRPr sz="1000" dirty="0">
              <a:latin typeface="Tahoma"/>
              <a:cs typeface="Tahoma"/>
            </a:endParaRPr>
          </a:p>
          <a:p>
            <a:pPr marL="186055" indent="-148590">
              <a:lnSpc>
                <a:spcPct val="100000"/>
              </a:lnSpc>
              <a:spcBef>
                <a:spcPts val="195"/>
              </a:spcBef>
              <a:buClr>
                <a:srgbClr val="3333B2"/>
              </a:buClr>
              <a:buSzPct val="72727"/>
              <a:buFont typeface="Lucida Sans Unicode"/>
              <a:buChar char="►"/>
              <a:tabLst>
                <a:tab pos="186690" algn="l"/>
              </a:tabLst>
            </a:pPr>
            <a:r>
              <a:rPr lang="en-US" sz="1100" dirty="0">
                <a:latin typeface="Tahoma"/>
                <a:cs typeface="Tahoma"/>
              </a:rPr>
              <a:t>Empirical model</a:t>
            </a:r>
            <a:endParaRPr sz="1100" dirty="0">
              <a:latin typeface="Tahoma"/>
              <a:cs typeface="Tahoma"/>
            </a:endParaRPr>
          </a:p>
          <a:p>
            <a:pPr marL="462915" lvl="1" indent="-137795">
              <a:lnSpc>
                <a:spcPts val="1200"/>
              </a:lnSpc>
              <a:spcBef>
                <a:spcPts val="175"/>
              </a:spcBef>
              <a:buClr>
                <a:srgbClr val="3333B2"/>
              </a:buClr>
              <a:buSzPct val="60000"/>
              <a:buFont typeface="Arial"/>
              <a:buChar char="►"/>
              <a:tabLst>
                <a:tab pos="463550" algn="l"/>
              </a:tabLst>
            </a:pPr>
            <a:r>
              <a:rPr lang="en-US" sz="1000" spc="-10" dirty="0">
                <a:latin typeface="Tahoma"/>
                <a:cs typeface="Tahoma"/>
              </a:rPr>
              <a:t>SVAR model</a:t>
            </a:r>
          </a:p>
          <a:p>
            <a:pPr marL="186055" indent="-148590">
              <a:lnSpc>
                <a:spcPct val="100000"/>
              </a:lnSpc>
              <a:spcBef>
                <a:spcPts val="195"/>
              </a:spcBef>
              <a:buClr>
                <a:srgbClr val="3333B2"/>
              </a:buClr>
              <a:buSzPct val="72727"/>
              <a:buFont typeface="Lucida Sans Unicode"/>
              <a:buChar char="►"/>
              <a:tabLst>
                <a:tab pos="186690" algn="l"/>
              </a:tabLst>
            </a:pPr>
            <a:r>
              <a:rPr lang="en-US" sz="1100" spc="-40" dirty="0">
                <a:latin typeface="Tahoma"/>
                <a:cs typeface="Tahoma"/>
              </a:rPr>
              <a:t>Empirical Results</a:t>
            </a:r>
            <a:endParaRPr sz="1100" dirty="0">
              <a:latin typeface="Tahoma"/>
              <a:cs typeface="Tahoma"/>
            </a:endParaRPr>
          </a:p>
          <a:p>
            <a:pPr marL="462915" lvl="1" indent="-137795">
              <a:lnSpc>
                <a:spcPts val="1200"/>
              </a:lnSpc>
              <a:spcBef>
                <a:spcPts val="175"/>
              </a:spcBef>
              <a:buClr>
                <a:srgbClr val="3333B2"/>
              </a:buClr>
              <a:buSzPct val="60000"/>
              <a:buFont typeface="Arial"/>
              <a:buChar char="►"/>
              <a:tabLst>
                <a:tab pos="463550" algn="l"/>
              </a:tabLst>
            </a:pPr>
            <a:r>
              <a:rPr lang="en-US" sz="1000" spc="-35" dirty="0">
                <a:latin typeface="Tahoma"/>
                <a:cs typeface="Tahoma"/>
              </a:rPr>
              <a:t>Impulse Response Functions</a:t>
            </a:r>
            <a:endParaRPr sz="1000" dirty="0">
              <a:latin typeface="Tahoma"/>
              <a:cs typeface="Tahoma"/>
            </a:endParaRPr>
          </a:p>
          <a:p>
            <a:pPr marL="462915" lvl="1" indent="-137795">
              <a:lnSpc>
                <a:spcPts val="1195"/>
              </a:lnSpc>
              <a:buClr>
                <a:srgbClr val="3333B2"/>
              </a:buClr>
              <a:buSzPct val="60000"/>
              <a:buFont typeface="Arial"/>
              <a:buChar char="►"/>
              <a:tabLst>
                <a:tab pos="463550" algn="l"/>
              </a:tabLst>
            </a:pPr>
            <a:r>
              <a:rPr lang="en-US" sz="1000" dirty="0">
                <a:latin typeface="Tahoma"/>
                <a:cs typeface="Tahoma"/>
              </a:rPr>
              <a:t>Forecast Error Variance Decomposition</a:t>
            </a:r>
            <a:endParaRPr sz="1000" dirty="0">
              <a:latin typeface="Tahoma"/>
              <a:cs typeface="Tahoma"/>
            </a:endParaRPr>
          </a:p>
          <a:p>
            <a:pPr marL="186055" indent="-148590">
              <a:lnSpc>
                <a:spcPct val="100000"/>
              </a:lnSpc>
              <a:spcBef>
                <a:spcPts val="355"/>
              </a:spcBef>
              <a:buClr>
                <a:srgbClr val="3333B2"/>
              </a:buClr>
              <a:buSzPct val="72727"/>
              <a:buFont typeface="Lucida Sans Unicode"/>
              <a:buChar char="►"/>
              <a:tabLst>
                <a:tab pos="186690" algn="l"/>
              </a:tabLst>
            </a:pPr>
            <a:r>
              <a:rPr sz="1100" spc="-35" dirty="0">
                <a:latin typeface="Tahoma"/>
                <a:cs typeface="Tahoma"/>
              </a:rPr>
              <a:t>Conclu</a:t>
            </a:r>
            <a:r>
              <a:rPr lang="en-US" sz="1100" spc="-35" dirty="0">
                <a:latin typeface="Tahoma"/>
                <a:cs typeface="Tahoma"/>
              </a:rPr>
              <a:t>ding remarks</a:t>
            </a:r>
            <a:endParaRPr sz="1100" dirty="0">
              <a:latin typeface="Tahoma"/>
              <a:cs typeface="Tahoma"/>
            </a:endParaRPr>
          </a:p>
        </p:txBody>
      </p:sp>
      <p:grpSp>
        <p:nvGrpSpPr>
          <p:cNvPr id="5" name="object 5"/>
          <p:cNvGrpSpPr/>
          <p:nvPr/>
        </p:nvGrpSpPr>
        <p:grpSpPr>
          <a:xfrm>
            <a:off x="0" y="3329876"/>
            <a:ext cx="4608195" cy="126364"/>
            <a:chOff x="0" y="3329876"/>
            <a:chExt cx="4608195" cy="126364"/>
          </a:xfrm>
        </p:grpSpPr>
        <p:sp>
          <p:nvSpPr>
            <p:cNvPr id="6" name="object 6"/>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7" name="object 7"/>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2" name="object 13">
            <a:extLst>
              <a:ext uri="{FF2B5EF4-FFF2-40B4-BE49-F238E27FC236}">
                <a16:creationId xmlns:a16="http://schemas.microsoft.com/office/drawing/2014/main" id="{E39F526B-BB87-42FA-AF4D-A60ACB8EC2A3}"/>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3" name="object 14">
            <a:extLst>
              <a:ext uri="{FF2B5EF4-FFF2-40B4-BE49-F238E27FC236}">
                <a16:creationId xmlns:a16="http://schemas.microsoft.com/office/drawing/2014/main" id="{C0EE7E0E-566F-4211-9398-83CC2C1FA291}"/>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303995" y="-12374"/>
            <a:ext cx="2304200" cy="810478"/>
          </a:xfrm>
          <a:prstGeom prst="rect">
            <a:avLst/>
          </a:prstGeom>
          <a:solidFill>
            <a:srgbClr val="3333B2"/>
          </a:solidFill>
        </p:spPr>
        <p:txBody>
          <a:bodyPr vert="horz" wrap="square" lIns="0" tIns="0" rIns="0" bIns="0" rtlCol="0">
            <a:spAutoFit/>
          </a:bodyPr>
          <a:lstStyle/>
          <a:p>
            <a:pPr>
              <a:lnSpc>
                <a:spcPct val="100000"/>
              </a:lnSpc>
            </a:pPr>
            <a:endParaRPr sz="600" dirty="0">
              <a:latin typeface="Times New Roman"/>
              <a:cs typeface="Times New Roman"/>
            </a:endParaRPr>
          </a:p>
          <a:p>
            <a:pPr marL="107950" marR="1579245">
              <a:lnSpc>
                <a:spcPts val="670"/>
              </a:lnSpc>
            </a:pPr>
            <a:r>
              <a:rPr lang="en-US" sz="600" b="1" spc="-10" dirty="0">
                <a:solidFill>
                  <a:srgbClr val="FFFFFF"/>
                </a:solidFill>
                <a:latin typeface="Arial"/>
                <a:cs typeface="Arial"/>
              </a:rPr>
              <a:t>Motivation</a:t>
            </a:r>
            <a:endParaRPr lang="en-US" sz="600" dirty="0">
              <a:latin typeface="Times New Roman"/>
              <a:cs typeface="Times New Roman"/>
            </a:endParaRPr>
          </a:p>
          <a:p>
            <a:pPr marL="107950" marR="1579245">
              <a:lnSpc>
                <a:spcPts val="670"/>
              </a:lnSpc>
            </a:pPr>
            <a:r>
              <a:rPr lang="en-US" sz="600" b="1" spc="-10" dirty="0">
                <a:solidFill>
                  <a:schemeClr val="bg1">
                    <a:lumMod val="75000"/>
                  </a:schemeClr>
                </a:solidFill>
                <a:latin typeface="Arial"/>
                <a:cs typeface="Arial"/>
              </a:rPr>
              <a:t>Objective Related</a:t>
            </a:r>
            <a:r>
              <a:rPr lang="en-US" sz="600" b="1" spc="10" dirty="0">
                <a:solidFill>
                  <a:schemeClr val="bg1">
                    <a:lumMod val="75000"/>
                  </a:schemeClr>
                </a:solidFill>
                <a:latin typeface="Arial"/>
                <a:cs typeface="Arial"/>
              </a:rPr>
              <a:t> </a:t>
            </a:r>
            <a:r>
              <a:rPr lang="en-US" sz="600" b="1" spc="-10" dirty="0">
                <a:solidFill>
                  <a:schemeClr val="bg1">
                    <a:lumMod val="75000"/>
                  </a:schemeClr>
                </a:solidFill>
                <a:latin typeface="Arial"/>
                <a:cs typeface="Arial"/>
              </a:rPr>
              <a:t>literature</a:t>
            </a:r>
            <a:endParaRPr lang="en-US" sz="600" b="1" spc="-10" dirty="0">
              <a:solidFill>
                <a:schemeClr val="bg1">
                  <a:lumMod val="75000"/>
                </a:schemeClr>
              </a:solidFill>
              <a:latin typeface="Times New Roman"/>
              <a:cs typeface="Times New Roman"/>
            </a:endParaRPr>
          </a:p>
          <a:p>
            <a:pPr marL="107950" marR="1579245">
              <a:lnSpc>
                <a:spcPts val="670"/>
              </a:lnSpc>
            </a:pPr>
            <a:r>
              <a:rPr lang="en-US" sz="600" b="1" spc="-10" dirty="0">
                <a:solidFill>
                  <a:schemeClr val="bg1">
                    <a:lumMod val="75000"/>
                  </a:schemeClr>
                </a:solidFill>
                <a:latin typeface="Arial"/>
                <a:cs typeface="Arial"/>
              </a:rPr>
              <a:t>Contribution</a:t>
            </a:r>
            <a:r>
              <a:rPr lang="en-US" sz="600" b="1" spc="500" dirty="0">
                <a:solidFill>
                  <a:schemeClr val="bg1">
                    <a:lumMod val="75000"/>
                  </a:schemeClr>
                </a:solidFill>
                <a:latin typeface="Arial"/>
                <a:cs typeface="Arial"/>
              </a:rPr>
              <a:t> </a:t>
            </a: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r>
              <a:rPr lang="en-US" sz="600" b="1" spc="-10" dirty="0">
                <a:solidFill>
                  <a:srgbClr val="9898D8"/>
                </a:solidFill>
                <a:latin typeface="Arial"/>
                <a:cs typeface="Arial"/>
              </a:rPr>
              <a:t>Contribution  </a:t>
            </a:r>
            <a:endParaRPr lang="en-US" sz="600" dirty="0">
              <a:latin typeface="Arial"/>
              <a:cs typeface="Arial"/>
            </a:endParaRPr>
          </a:p>
        </p:txBody>
      </p:sp>
      <p:sp>
        <p:nvSpPr>
          <p:cNvPr id="4" name="object 4"/>
          <p:cNvSpPr txBox="1"/>
          <p:nvPr/>
        </p:nvSpPr>
        <p:spPr>
          <a:xfrm>
            <a:off x="0" y="548005"/>
            <a:ext cx="4608195" cy="350520"/>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sz="1400" spc="-10" dirty="0">
                <a:solidFill>
                  <a:srgbClr val="FFFFFF"/>
                </a:solidFill>
                <a:latin typeface="Tahoma"/>
                <a:cs typeface="Tahoma"/>
              </a:rPr>
              <a:t>Motivation</a:t>
            </a:r>
            <a:endParaRPr sz="1400">
              <a:latin typeface="Tahoma"/>
              <a:cs typeface="Tahoma"/>
            </a:endParaRPr>
          </a:p>
        </p:txBody>
      </p:sp>
      <p:sp>
        <p:nvSpPr>
          <p:cNvPr id="5" name="object 5"/>
          <p:cNvSpPr txBox="1"/>
          <p:nvPr/>
        </p:nvSpPr>
        <p:spPr>
          <a:xfrm>
            <a:off x="315883" y="737179"/>
            <a:ext cx="3794125" cy="2592376"/>
          </a:xfrm>
          <a:prstGeom prst="rect">
            <a:avLst/>
          </a:prstGeom>
        </p:spPr>
        <p:txBody>
          <a:bodyPr vert="horz" wrap="square" lIns="0" tIns="6985" rIns="0" bIns="0" rtlCol="0">
            <a:spAutoFit/>
          </a:bodyPr>
          <a:lstStyle/>
          <a:p>
            <a:pPr>
              <a:lnSpc>
                <a:spcPct val="100000"/>
              </a:lnSpc>
              <a:spcBef>
                <a:spcPts val="20"/>
              </a:spcBef>
              <a:buClr>
                <a:srgbClr val="3333B2"/>
              </a:buClr>
            </a:pPr>
            <a:endParaRPr lang="en-US" sz="1100" dirty="0">
              <a:latin typeface="Times New Roman" panose="02020603050405020304" pitchFamily="18" charset="0"/>
              <a:cs typeface="Times New Roman" panose="02020603050405020304" pitchFamily="18" charset="0"/>
            </a:endParaRPr>
          </a:p>
          <a:p>
            <a:pPr>
              <a:lnSpc>
                <a:spcPct val="100000"/>
              </a:lnSpc>
              <a:spcBef>
                <a:spcPts val="40"/>
              </a:spcBef>
              <a:buClr>
                <a:srgbClr val="3333B2"/>
              </a:buClr>
              <a:buFont typeface="Lucida Sans Unicode"/>
              <a:buChar char="►"/>
            </a:pPr>
            <a:r>
              <a:rPr lang="en-US" sz="1200" b="1" dirty="0">
                <a:latin typeface="Times New Roman" panose="02020603050405020304" pitchFamily="18" charset="0"/>
                <a:cs typeface="Times New Roman" panose="02020603050405020304" pitchFamily="18" charset="0"/>
              </a:rPr>
              <a:t>Oil is the cornerstone of Saudi Arabia:</a:t>
            </a:r>
            <a:endParaRPr sz="1200" b="1" dirty="0">
              <a:latin typeface="Times New Roman" panose="02020603050405020304" pitchFamily="18" charset="0"/>
              <a:cs typeface="Times New Roman" panose="02020603050405020304" pitchFamily="18" charset="0"/>
            </a:endParaRPr>
          </a:p>
          <a:p>
            <a:pPr marL="211454" marR="295910" indent="-148590">
              <a:lnSpc>
                <a:spcPct val="100000"/>
              </a:lnSpc>
              <a:buClr>
                <a:srgbClr val="3333B2"/>
              </a:buClr>
              <a:buSzPct val="80000"/>
              <a:buFont typeface="Lucida Sans Unicode"/>
              <a:buChar char="►"/>
              <a:tabLst>
                <a:tab pos="212090" algn="l"/>
              </a:tabLst>
            </a:pPr>
            <a:r>
              <a:rPr lang="en-US" sz="1100" spc="-25" dirty="0">
                <a:latin typeface="Times New Roman" panose="02020603050405020304" pitchFamily="18" charset="0"/>
                <a:cs typeface="Times New Roman" panose="02020603050405020304" pitchFamily="18" charset="0"/>
              </a:rPr>
              <a:t>Oil representing around 17% of the world’s discovered petroleum reserves (OPEC)</a:t>
            </a:r>
          </a:p>
          <a:p>
            <a:pPr marL="211454" marR="295910" indent="-148590">
              <a:lnSpc>
                <a:spcPct val="100000"/>
              </a:lnSpc>
              <a:buClr>
                <a:srgbClr val="3333B2"/>
              </a:buClr>
              <a:buSzPct val="80000"/>
              <a:buFont typeface="Lucida Sans Unicode"/>
              <a:buChar char="►"/>
              <a:tabLst>
                <a:tab pos="212090" algn="l"/>
              </a:tabLst>
            </a:pPr>
            <a:r>
              <a:rPr lang="en-US" sz="1100" spc="-25" dirty="0">
                <a:latin typeface="Times New Roman" panose="02020603050405020304" pitchFamily="18" charset="0"/>
                <a:cs typeface="Times New Roman" panose="02020603050405020304" pitchFamily="18" charset="0"/>
              </a:rPr>
              <a:t>Oil sector making up 45% of the country’s total GDP</a:t>
            </a:r>
          </a:p>
          <a:p>
            <a:pPr marL="211454" marR="295910" indent="-148590">
              <a:lnSpc>
                <a:spcPct val="100000"/>
              </a:lnSpc>
              <a:buClr>
                <a:srgbClr val="3333B2"/>
              </a:buClr>
              <a:buSzPct val="80000"/>
              <a:buFont typeface="Lucida Sans Unicode"/>
              <a:buChar char="►"/>
              <a:tabLst>
                <a:tab pos="212090" algn="l"/>
              </a:tabLst>
            </a:pPr>
            <a:r>
              <a:rPr lang="en-US" sz="1100" spc="-25" dirty="0">
                <a:latin typeface="Times New Roman" panose="02020603050405020304" pitchFamily="18" charset="0"/>
                <a:cs typeface="Times New Roman" panose="02020603050405020304" pitchFamily="18" charset="0"/>
              </a:rPr>
              <a:t>Share of oil exports in total exports is around 80%</a:t>
            </a:r>
          </a:p>
          <a:p>
            <a:pPr marL="62864" marR="295910">
              <a:lnSpc>
                <a:spcPct val="100000"/>
              </a:lnSpc>
              <a:buClr>
                <a:srgbClr val="3333B2"/>
              </a:buClr>
              <a:buSzPct val="80000"/>
              <a:tabLst>
                <a:tab pos="212090" algn="l"/>
              </a:tabLst>
            </a:pPr>
            <a:endParaRPr lang="en-US" sz="1100" spc="-25" dirty="0">
              <a:latin typeface="Times New Roman" panose="02020603050405020304" pitchFamily="18" charset="0"/>
              <a:cs typeface="Times New Roman" panose="02020603050405020304" pitchFamily="18" charset="0"/>
            </a:endParaRPr>
          </a:p>
          <a:p>
            <a:pPr marL="211454" marR="295910" indent="-148590">
              <a:lnSpc>
                <a:spcPct val="100000"/>
              </a:lnSpc>
              <a:buClr>
                <a:srgbClr val="3333B2"/>
              </a:buClr>
              <a:buSzPct val="80000"/>
              <a:buFont typeface="Lucida Sans Unicode"/>
              <a:buChar char="►"/>
              <a:tabLst>
                <a:tab pos="212090" algn="l"/>
              </a:tabLst>
            </a:pPr>
            <a:r>
              <a:rPr lang="en-US" sz="1100" dirty="0">
                <a:latin typeface="Times New Roman" panose="02020603050405020304" pitchFamily="18" charset="0"/>
                <a:cs typeface="Times New Roman" panose="02020603050405020304" pitchFamily="18" charset="0"/>
              </a:rPr>
              <a:t>Given the uncertainty in global oil market, the oil sector in Saudi Arabia is vulnerable to volatility, thus, affecting the macroeconomy</a:t>
            </a:r>
          </a:p>
          <a:p>
            <a:pPr marL="62864" marR="295910">
              <a:lnSpc>
                <a:spcPct val="100000"/>
              </a:lnSpc>
              <a:buClr>
                <a:srgbClr val="3333B2"/>
              </a:buClr>
              <a:buSzPct val="80000"/>
              <a:tabLst>
                <a:tab pos="212090" algn="l"/>
              </a:tabLst>
            </a:pPr>
            <a:endParaRPr sz="1100" dirty="0">
              <a:latin typeface="Times New Roman" panose="02020603050405020304" pitchFamily="18" charset="0"/>
              <a:cs typeface="Times New Roman" panose="02020603050405020304" pitchFamily="18" charset="0"/>
            </a:endParaRPr>
          </a:p>
          <a:p>
            <a:pPr lvl="1">
              <a:lnSpc>
                <a:spcPct val="100000"/>
              </a:lnSpc>
              <a:spcBef>
                <a:spcPts val="35"/>
              </a:spcBef>
              <a:buClr>
                <a:srgbClr val="3333B2"/>
              </a:buClr>
              <a:buFont typeface="Arial"/>
              <a:buChar char="►"/>
            </a:pPr>
            <a:r>
              <a:rPr lang="en-US" sz="1100" dirty="0">
                <a:latin typeface="Times New Roman" panose="02020603050405020304" pitchFamily="18" charset="0"/>
                <a:cs typeface="Times New Roman" panose="02020603050405020304" pitchFamily="18" charset="0"/>
              </a:rPr>
              <a:t>To mitigate effect of fluctuations, the Kingdom has initiated </a:t>
            </a:r>
            <a:r>
              <a:rPr lang="en-US" sz="1100" b="1" dirty="0">
                <a:latin typeface="Times New Roman" panose="02020603050405020304" pitchFamily="18" charset="0"/>
                <a:cs typeface="Times New Roman" panose="02020603050405020304" pitchFamily="18" charset="0"/>
              </a:rPr>
              <a:t>extensive economic reforms </a:t>
            </a:r>
            <a:r>
              <a:rPr lang="en-US" sz="1100" dirty="0">
                <a:latin typeface="Times New Roman" panose="02020603050405020304" pitchFamily="18" charset="0"/>
                <a:cs typeface="Times New Roman" panose="02020603050405020304" pitchFamily="18" charset="0"/>
              </a:rPr>
              <a:t>aimed at reducing its reliance on oil</a:t>
            </a:r>
          </a:p>
          <a:p>
            <a:pPr lvl="1">
              <a:lnSpc>
                <a:spcPct val="100000"/>
              </a:lnSpc>
              <a:spcBef>
                <a:spcPts val="35"/>
              </a:spcBef>
              <a:buClr>
                <a:srgbClr val="3333B2"/>
              </a:buClr>
              <a:buFont typeface="Arial"/>
              <a:buChar char="►"/>
            </a:pPr>
            <a:r>
              <a:rPr lang="en-US" sz="1200" dirty="0">
                <a:latin typeface="Times New Roman" panose="02020603050405020304" pitchFamily="18" charset="0"/>
                <a:cs typeface="Times New Roman" panose="02020603050405020304" pitchFamily="18" charset="0"/>
              </a:rPr>
              <a:t>Saudi Vision 2030</a:t>
            </a:r>
          </a:p>
          <a:p>
            <a:pPr lvl="1">
              <a:lnSpc>
                <a:spcPct val="100000"/>
              </a:lnSpc>
              <a:spcBef>
                <a:spcPts val="35"/>
              </a:spcBef>
              <a:buClr>
                <a:srgbClr val="3333B2"/>
              </a:buClr>
              <a:buFont typeface="Arial"/>
              <a:buChar char="►"/>
            </a:pPr>
            <a:endParaRPr sz="1200" b="1" dirty="0">
              <a:latin typeface="Times New Roman" panose="02020603050405020304" pitchFamily="18" charset="0"/>
              <a:cs typeface="Times New Roman" panose="02020603050405020304" pitchFamily="18" charset="0"/>
            </a:endParaRPr>
          </a:p>
        </p:txBody>
      </p:sp>
      <p:grpSp>
        <p:nvGrpSpPr>
          <p:cNvPr id="6" name="object 6"/>
          <p:cNvGrpSpPr/>
          <p:nvPr/>
        </p:nvGrpSpPr>
        <p:grpSpPr>
          <a:xfrm>
            <a:off x="0" y="3416962"/>
            <a:ext cx="4608195" cy="126364"/>
            <a:chOff x="0" y="3329876"/>
            <a:chExt cx="4608195" cy="126364"/>
          </a:xfrm>
        </p:grpSpPr>
        <p:sp>
          <p:nvSpPr>
            <p:cNvPr id="7" name="object 7"/>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dirty="0"/>
            </a:p>
          </p:txBody>
        </p:sp>
        <p:sp>
          <p:nvSpPr>
            <p:cNvPr id="8" name="object 8"/>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85"/>
              </a:lnSpc>
            </a:pPr>
            <a:r>
              <a:rPr spc="-10" dirty="0"/>
              <a:t>Adaptation</a:t>
            </a:r>
            <a:r>
              <a:rPr spc="20" dirty="0"/>
              <a:t> </a:t>
            </a:r>
            <a:r>
              <a:rPr spc="-25" dirty="0"/>
              <a:t>technology</a:t>
            </a:r>
            <a:r>
              <a:rPr spc="25" dirty="0"/>
              <a:t> </a:t>
            </a:r>
            <a:r>
              <a:rPr spc="-10" dirty="0"/>
              <a:t>and</a:t>
            </a:r>
            <a:r>
              <a:rPr spc="25" dirty="0"/>
              <a:t> </a:t>
            </a:r>
            <a:r>
              <a:rPr spc="-25" dirty="0"/>
              <a:t>free-</a:t>
            </a:r>
            <a:r>
              <a:rPr spc="-10" dirty="0"/>
              <a:t>riding</a:t>
            </a:r>
            <a:r>
              <a:rPr spc="25" dirty="0"/>
              <a:t> </a:t>
            </a:r>
            <a:r>
              <a:rPr spc="-30" dirty="0"/>
              <a:t>incentives</a:t>
            </a:r>
            <a:r>
              <a:rPr spc="25" dirty="0"/>
              <a:t> </a:t>
            </a:r>
            <a:r>
              <a:rPr dirty="0"/>
              <a:t>in</a:t>
            </a:r>
            <a:r>
              <a:rPr spc="25" dirty="0"/>
              <a:t> </a:t>
            </a:r>
            <a:r>
              <a:rPr spc="-20" dirty="0"/>
              <a:t>IEAs</a:t>
            </a:r>
          </a:p>
        </p:txBody>
      </p:sp>
      <p:sp>
        <p:nvSpPr>
          <p:cNvPr id="14" name="object 2">
            <a:extLst>
              <a:ext uri="{FF2B5EF4-FFF2-40B4-BE49-F238E27FC236}">
                <a16:creationId xmlns:a16="http://schemas.microsoft.com/office/drawing/2014/main" id="{E5C5398F-0D37-4838-8ADA-1560737538D9}"/>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50000"/>
                  </a:schemeClr>
                </a:solidFill>
                <a:latin typeface="Arial"/>
                <a:cs typeface="Arial"/>
              </a:rPr>
              <a:t>Outline</a:t>
            </a:r>
            <a:r>
              <a:rPr sz="600" b="1" spc="500" dirty="0">
                <a:solidFill>
                  <a:srgbClr val="FFFFFF"/>
                </a:solidFill>
                <a:latin typeface="Arial"/>
                <a:cs typeface="Arial"/>
              </a:rPr>
              <a:t> </a:t>
            </a:r>
            <a:r>
              <a:rPr sz="600" b="1" spc="-20" dirty="0">
                <a:solidFill>
                  <a:schemeClr val="bg1"/>
                </a:solidFill>
                <a:latin typeface="Arial"/>
                <a:cs typeface="Arial"/>
              </a:rPr>
              <a:t>Introducti</a:t>
            </a:r>
            <a:r>
              <a:rPr lang="en-US" sz="600" b="1" spc="-20" dirty="0">
                <a:solidFill>
                  <a:schemeClr val="bg1"/>
                </a:solidFill>
                <a:latin typeface="Arial"/>
                <a:cs typeface="Arial"/>
              </a:rPr>
              <a:t>on</a:t>
            </a:r>
            <a:r>
              <a:rPr lang="en-US" sz="600" b="1" spc="500" dirty="0">
                <a:solidFill>
                  <a:schemeClr val="bg1"/>
                </a:solidFill>
                <a:latin typeface="Arial"/>
                <a:cs typeface="Arial"/>
              </a:rPr>
              <a:t> </a:t>
            </a:r>
            <a:endParaRPr lang="en-US" sz="600" dirty="0">
              <a:solidFill>
                <a:schemeClr val="bg1"/>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15" name="object 13">
            <a:extLst>
              <a:ext uri="{FF2B5EF4-FFF2-40B4-BE49-F238E27FC236}">
                <a16:creationId xmlns:a16="http://schemas.microsoft.com/office/drawing/2014/main" id="{88D7F918-F7D1-4D97-BAE9-DDF89FD02AF2}"/>
              </a:ext>
            </a:extLst>
          </p:cNvPr>
          <p:cNvSpPr txBox="1"/>
          <p:nvPr/>
        </p:nvSpPr>
        <p:spPr>
          <a:xfrm>
            <a:off x="766635" y="3443603"/>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6" name="object 14">
            <a:extLst>
              <a:ext uri="{FF2B5EF4-FFF2-40B4-BE49-F238E27FC236}">
                <a16:creationId xmlns:a16="http://schemas.microsoft.com/office/drawing/2014/main" id="{A6BF549F-AEEE-47F9-ABE9-F9333536DB6C}"/>
              </a:ext>
            </a:extLst>
          </p:cNvPr>
          <p:cNvSpPr txBox="1">
            <a:spLocks/>
          </p:cNvSpPr>
          <p:nvPr/>
        </p:nvSpPr>
        <p:spPr>
          <a:xfrm>
            <a:off x="2491031" y="3431333"/>
            <a:ext cx="1993900" cy="89768"/>
          </a:xfrm>
          <a:prstGeom prst="rect">
            <a:avLst/>
          </a:prstGeom>
        </p:spPr>
        <p:txBody>
          <a:bodyPr vert="horz" wrap="square" lIns="0" tIns="0" rIns="0" bIns="0" rtlCol="0">
            <a:spAutoFit/>
          </a:bodyPr>
          <a:lstStyle>
            <a:defPPr>
              <a:defRPr kern="0"/>
            </a:defPPr>
            <a:lvl1pPr>
              <a:defRPr sz="600" b="1" i="0">
                <a:solidFill>
                  <a:schemeClr val="bg1"/>
                </a:solidFill>
                <a:latin typeface="Arial"/>
                <a:cs typeface="Arial"/>
              </a:defRPr>
            </a:lvl1pPr>
          </a:lstStyle>
          <a:p>
            <a:pPr marL="12700">
              <a:lnSpc>
                <a:spcPts val="685"/>
              </a:lnSpc>
            </a:pPr>
            <a:r>
              <a:rPr lang="en-US" spc="-10"/>
              <a:t>Impact of Oil Price Shocks on Saudi Arabia</a:t>
            </a:r>
            <a:endParaRPr lang="en-US" spc="-20" dirty="0"/>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0" y="548005"/>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spc="-10" dirty="0">
                <a:solidFill>
                  <a:srgbClr val="FFFFFF"/>
                </a:solidFill>
                <a:latin typeface="Tahoma"/>
                <a:cs typeface="Tahoma"/>
              </a:rPr>
              <a:t>Objective</a:t>
            </a:r>
            <a:endParaRPr sz="1400" dirty="0">
              <a:latin typeface="Tahoma"/>
              <a:cs typeface="Tahoma"/>
            </a:endParaRPr>
          </a:p>
        </p:txBody>
      </p:sp>
      <p:sp>
        <p:nvSpPr>
          <p:cNvPr id="5" name="object 5"/>
          <p:cNvSpPr txBox="1"/>
          <p:nvPr/>
        </p:nvSpPr>
        <p:spPr>
          <a:xfrm>
            <a:off x="406932" y="1662657"/>
            <a:ext cx="3794125" cy="745717"/>
          </a:xfrm>
          <a:prstGeom prst="rect">
            <a:avLst/>
          </a:prstGeom>
        </p:spPr>
        <p:txBody>
          <a:bodyPr vert="horz" wrap="square" lIns="0" tIns="6985" rIns="0" bIns="0" rtlCol="0">
            <a:spAutoFit/>
          </a:bodyPr>
          <a:lstStyle/>
          <a:p>
            <a:pPr>
              <a:lnSpc>
                <a:spcPct val="100000"/>
              </a:lnSpc>
              <a:spcBef>
                <a:spcPts val="40"/>
              </a:spcBef>
              <a:buClr>
                <a:srgbClr val="3333B2"/>
              </a:buClr>
              <a:buFont typeface="Lucida Sans Unicode"/>
              <a:buChar char="►"/>
            </a:pPr>
            <a:r>
              <a:rPr lang="en-US" sz="1200" b="1" dirty="0">
                <a:latin typeface="Times New Roman" panose="02020603050405020304" pitchFamily="18" charset="0"/>
                <a:cs typeface="Times New Roman" panose="02020603050405020304" pitchFamily="18" charset="0"/>
              </a:rPr>
              <a:t>The current paper aims at investigating the impact of oil price shocks on real economic growth and inflation rates in Saudi Arabia.</a:t>
            </a:r>
            <a:endParaRPr lang="en-US" sz="1200" dirty="0">
              <a:latin typeface="Times New Roman" panose="02020603050405020304" pitchFamily="18" charset="0"/>
              <a:cs typeface="Times New Roman" panose="02020603050405020304" pitchFamily="18" charset="0"/>
            </a:endParaRPr>
          </a:p>
          <a:p>
            <a:pPr>
              <a:spcBef>
                <a:spcPts val="35"/>
              </a:spcBef>
              <a:buClr>
                <a:srgbClr val="3333B2"/>
              </a:buClr>
              <a:buFont typeface="Arial"/>
              <a:buChar char="►"/>
            </a:pPr>
            <a:endParaRPr sz="1200" b="1" dirty="0">
              <a:latin typeface="Times New Roman" panose="02020603050405020304" pitchFamily="18" charset="0"/>
              <a:cs typeface="Times New Roman" panose="02020603050405020304" pitchFamily="18" charset="0"/>
            </a:endParaRPr>
          </a:p>
        </p:txBody>
      </p:sp>
      <p:grpSp>
        <p:nvGrpSpPr>
          <p:cNvPr id="6" name="object 6"/>
          <p:cNvGrpSpPr/>
          <p:nvPr/>
        </p:nvGrpSpPr>
        <p:grpSpPr>
          <a:xfrm>
            <a:off x="0" y="3416962"/>
            <a:ext cx="4608195" cy="126364"/>
            <a:chOff x="0" y="3329876"/>
            <a:chExt cx="4608195" cy="126364"/>
          </a:xfrm>
        </p:grpSpPr>
        <p:sp>
          <p:nvSpPr>
            <p:cNvPr id="7" name="object 7"/>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dirty="0"/>
            </a:p>
          </p:txBody>
        </p:sp>
        <p:sp>
          <p:nvSpPr>
            <p:cNvPr id="8" name="object 8"/>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85"/>
              </a:lnSpc>
            </a:pPr>
            <a:r>
              <a:rPr spc="-10" dirty="0"/>
              <a:t>Adaptation</a:t>
            </a:r>
            <a:r>
              <a:rPr spc="20" dirty="0"/>
              <a:t> </a:t>
            </a:r>
            <a:r>
              <a:rPr spc="-25" dirty="0"/>
              <a:t>technology</a:t>
            </a:r>
            <a:r>
              <a:rPr spc="25" dirty="0"/>
              <a:t> </a:t>
            </a:r>
            <a:r>
              <a:rPr spc="-10" dirty="0"/>
              <a:t>and</a:t>
            </a:r>
            <a:r>
              <a:rPr spc="25" dirty="0"/>
              <a:t> </a:t>
            </a:r>
            <a:r>
              <a:rPr spc="-25" dirty="0"/>
              <a:t>free-</a:t>
            </a:r>
            <a:r>
              <a:rPr spc="-10" dirty="0"/>
              <a:t>riding</a:t>
            </a:r>
            <a:r>
              <a:rPr spc="25" dirty="0"/>
              <a:t> </a:t>
            </a:r>
            <a:r>
              <a:rPr spc="-30" dirty="0"/>
              <a:t>incentives</a:t>
            </a:r>
            <a:r>
              <a:rPr spc="25" dirty="0"/>
              <a:t> </a:t>
            </a:r>
            <a:r>
              <a:rPr dirty="0"/>
              <a:t>in</a:t>
            </a:r>
            <a:r>
              <a:rPr spc="25" dirty="0"/>
              <a:t> </a:t>
            </a:r>
            <a:r>
              <a:rPr spc="-20" dirty="0"/>
              <a:t>IEAs</a:t>
            </a:r>
          </a:p>
        </p:txBody>
      </p:sp>
      <p:sp>
        <p:nvSpPr>
          <p:cNvPr id="14" name="object 2">
            <a:extLst>
              <a:ext uri="{FF2B5EF4-FFF2-40B4-BE49-F238E27FC236}">
                <a16:creationId xmlns:a16="http://schemas.microsoft.com/office/drawing/2014/main" id="{E5C5398F-0D37-4838-8ADA-1560737538D9}"/>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50000"/>
                  </a:schemeClr>
                </a:solidFill>
                <a:latin typeface="Arial"/>
                <a:cs typeface="Arial"/>
              </a:rPr>
              <a:t>Outline</a:t>
            </a:r>
            <a:r>
              <a:rPr sz="600" b="1" spc="500" dirty="0">
                <a:solidFill>
                  <a:srgbClr val="FFFFFF"/>
                </a:solidFill>
                <a:latin typeface="Arial"/>
                <a:cs typeface="Arial"/>
              </a:rPr>
              <a:t> </a:t>
            </a:r>
            <a:r>
              <a:rPr sz="600" b="1" spc="-20" dirty="0">
                <a:solidFill>
                  <a:schemeClr val="bg1"/>
                </a:solidFill>
                <a:latin typeface="Arial"/>
                <a:cs typeface="Arial"/>
              </a:rPr>
              <a:t>Introducti</a:t>
            </a:r>
            <a:r>
              <a:rPr lang="en-US" sz="600" b="1" spc="-20" dirty="0">
                <a:solidFill>
                  <a:schemeClr val="bg1"/>
                </a:solidFill>
                <a:latin typeface="Arial"/>
                <a:cs typeface="Arial"/>
              </a:rPr>
              <a:t>on</a:t>
            </a:r>
            <a:r>
              <a:rPr lang="en-US" sz="600" b="1" spc="500" dirty="0">
                <a:solidFill>
                  <a:schemeClr val="bg1"/>
                </a:solidFill>
                <a:latin typeface="Arial"/>
                <a:cs typeface="Arial"/>
              </a:rPr>
              <a:t> </a:t>
            </a:r>
            <a:endParaRPr lang="en-US" sz="600" dirty="0">
              <a:solidFill>
                <a:schemeClr val="bg1"/>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15" name="object 13">
            <a:extLst>
              <a:ext uri="{FF2B5EF4-FFF2-40B4-BE49-F238E27FC236}">
                <a16:creationId xmlns:a16="http://schemas.microsoft.com/office/drawing/2014/main" id="{88D7F918-F7D1-4D97-BAE9-DDF89FD02AF2}"/>
              </a:ext>
            </a:extLst>
          </p:cNvPr>
          <p:cNvSpPr txBox="1"/>
          <p:nvPr/>
        </p:nvSpPr>
        <p:spPr>
          <a:xfrm>
            <a:off x="766635" y="3443603"/>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6" name="object 14">
            <a:extLst>
              <a:ext uri="{FF2B5EF4-FFF2-40B4-BE49-F238E27FC236}">
                <a16:creationId xmlns:a16="http://schemas.microsoft.com/office/drawing/2014/main" id="{A6BF549F-AEEE-47F9-ABE9-F9333536DB6C}"/>
              </a:ext>
            </a:extLst>
          </p:cNvPr>
          <p:cNvSpPr txBox="1">
            <a:spLocks/>
          </p:cNvSpPr>
          <p:nvPr/>
        </p:nvSpPr>
        <p:spPr>
          <a:xfrm>
            <a:off x="2616200" y="3435260"/>
            <a:ext cx="1993900" cy="89768"/>
          </a:xfrm>
          <a:prstGeom prst="rect">
            <a:avLst/>
          </a:prstGeom>
        </p:spPr>
        <p:txBody>
          <a:bodyPr vert="horz" wrap="square" lIns="0" tIns="0" rIns="0" bIns="0" rtlCol="0">
            <a:spAutoFit/>
          </a:bodyPr>
          <a:lstStyle>
            <a:defPPr>
              <a:defRPr kern="0"/>
            </a:defPPr>
            <a:lvl1pPr>
              <a:defRPr sz="600" b="1" i="0">
                <a:solidFill>
                  <a:schemeClr val="bg1"/>
                </a:solidFill>
                <a:latin typeface="Arial"/>
                <a:cs typeface="Arial"/>
              </a:defRPr>
            </a:lvl1pPr>
          </a:lstStyle>
          <a:p>
            <a:pPr marL="12700">
              <a:lnSpc>
                <a:spcPts val="685"/>
              </a:lnSpc>
            </a:pPr>
            <a:r>
              <a:rPr lang="en-US" spc="-10" dirty="0"/>
              <a:t>Impact of Oil Price Shocks on Saudi Arabia</a:t>
            </a:r>
            <a:endParaRPr lang="en-US" spc="-20" dirty="0"/>
          </a:p>
        </p:txBody>
      </p:sp>
      <p:sp>
        <p:nvSpPr>
          <p:cNvPr id="2" name="object 3">
            <a:extLst>
              <a:ext uri="{FF2B5EF4-FFF2-40B4-BE49-F238E27FC236}">
                <a16:creationId xmlns:a16="http://schemas.microsoft.com/office/drawing/2014/main" id="{EA95E66C-52FA-644B-AB9D-179BBA5BB477}"/>
              </a:ext>
            </a:extLst>
          </p:cNvPr>
          <p:cNvSpPr txBox="1"/>
          <p:nvPr/>
        </p:nvSpPr>
        <p:spPr>
          <a:xfrm>
            <a:off x="2303995" y="-12374"/>
            <a:ext cx="2304200" cy="810478"/>
          </a:xfrm>
          <a:prstGeom prst="rect">
            <a:avLst/>
          </a:prstGeom>
          <a:solidFill>
            <a:srgbClr val="3333B2"/>
          </a:solidFill>
        </p:spPr>
        <p:txBody>
          <a:bodyPr vert="horz" wrap="square" lIns="0" tIns="0" rIns="0" bIns="0" rtlCol="0">
            <a:spAutoFit/>
          </a:bodyPr>
          <a:lstStyle/>
          <a:p>
            <a:pPr>
              <a:lnSpc>
                <a:spcPct val="100000"/>
              </a:lnSpc>
            </a:pPr>
            <a:endParaRPr sz="600" dirty="0">
              <a:latin typeface="Times New Roman"/>
              <a:cs typeface="Times New Roman"/>
            </a:endParaRPr>
          </a:p>
          <a:p>
            <a:pPr marL="107950" marR="1579245">
              <a:lnSpc>
                <a:spcPts val="670"/>
              </a:lnSpc>
            </a:pPr>
            <a:r>
              <a:rPr lang="en-US" sz="600" b="1" spc="-10" dirty="0">
                <a:solidFill>
                  <a:schemeClr val="tx1">
                    <a:lumMod val="25000"/>
                    <a:lumOff val="75000"/>
                  </a:schemeClr>
                </a:solidFill>
                <a:latin typeface="Arial"/>
                <a:cs typeface="Arial"/>
              </a:rPr>
              <a:t>Motivation</a:t>
            </a:r>
            <a:endParaRPr lang="en-US" sz="600" dirty="0">
              <a:solidFill>
                <a:schemeClr val="tx1">
                  <a:lumMod val="25000"/>
                  <a:lumOff val="75000"/>
                </a:schemeClr>
              </a:solidFill>
              <a:latin typeface="Times New Roman"/>
              <a:cs typeface="Times New Roman"/>
            </a:endParaRPr>
          </a:p>
          <a:p>
            <a:pPr marL="107950" marR="1579245">
              <a:lnSpc>
                <a:spcPts val="670"/>
              </a:lnSpc>
            </a:pPr>
            <a:r>
              <a:rPr lang="en-US" sz="600" b="1" spc="-10" dirty="0">
                <a:solidFill>
                  <a:schemeClr val="bg1"/>
                </a:solidFill>
                <a:latin typeface="Arial"/>
                <a:cs typeface="Arial"/>
              </a:rPr>
              <a:t>Objective</a:t>
            </a:r>
            <a:r>
              <a:rPr lang="en-US" sz="600" b="1" spc="-10" dirty="0">
                <a:solidFill>
                  <a:schemeClr val="bg1">
                    <a:lumMod val="75000"/>
                  </a:schemeClr>
                </a:solidFill>
                <a:latin typeface="Arial"/>
                <a:cs typeface="Arial"/>
              </a:rPr>
              <a:t> Related</a:t>
            </a:r>
            <a:r>
              <a:rPr lang="en-US" sz="600" b="1" spc="10" dirty="0">
                <a:solidFill>
                  <a:schemeClr val="bg1">
                    <a:lumMod val="75000"/>
                  </a:schemeClr>
                </a:solidFill>
                <a:latin typeface="Arial"/>
                <a:cs typeface="Arial"/>
              </a:rPr>
              <a:t> </a:t>
            </a:r>
            <a:r>
              <a:rPr lang="en-US" sz="600" b="1" spc="-10" dirty="0">
                <a:solidFill>
                  <a:schemeClr val="bg1">
                    <a:lumMod val="75000"/>
                  </a:schemeClr>
                </a:solidFill>
                <a:latin typeface="Arial"/>
                <a:cs typeface="Arial"/>
              </a:rPr>
              <a:t>literature</a:t>
            </a:r>
            <a:endParaRPr lang="en-US" sz="600" b="1" spc="-10" dirty="0">
              <a:solidFill>
                <a:schemeClr val="bg1">
                  <a:lumMod val="75000"/>
                </a:schemeClr>
              </a:solidFill>
              <a:latin typeface="Times New Roman"/>
              <a:cs typeface="Times New Roman"/>
            </a:endParaRPr>
          </a:p>
          <a:p>
            <a:pPr marL="107950" marR="1579245">
              <a:lnSpc>
                <a:spcPts val="670"/>
              </a:lnSpc>
            </a:pPr>
            <a:r>
              <a:rPr lang="en-US" sz="600" b="1" spc="-10" dirty="0">
                <a:solidFill>
                  <a:schemeClr val="bg1">
                    <a:lumMod val="75000"/>
                  </a:schemeClr>
                </a:solidFill>
                <a:latin typeface="Arial"/>
                <a:cs typeface="Arial"/>
              </a:rPr>
              <a:t>Contribution</a:t>
            </a:r>
            <a:r>
              <a:rPr lang="en-US" sz="600" b="1" spc="500" dirty="0">
                <a:solidFill>
                  <a:schemeClr val="bg1">
                    <a:lumMod val="75000"/>
                  </a:schemeClr>
                </a:solidFill>
                <a:latin typeface="Arial"/>
                <a:cs typeface="Arial"/>
              </a:rPr>
              <a:t> </a:t>
            </a: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r>
              <a:rPr lang="en-US" sz="600" b="1" spc="-10" dirty="0">
                <a:solidFill>
                  <a:srgbClr val="9898D8"/>
                </a:solidFill>
                <a:latin typeface="Arial"/>
                <a:cs typeface="Arial"/>
              </a:rPr>
              <a:t>  </a:t>
            </a:r>
            <a:endParaRPr lang="en-US" sz="600" dirty="0">
              <a:latin typeface="Arial"/>
              <a:cs typeface="Arial"/>
            </a:endParaRPr>
          </a:p>
        </p:txBody>
      </p:sp>
    </p:spTree>
    <p:extLst>
      <p:ext uri="{BB962C8B-B14F-4D97-AF65-F5344CB8AC3E}">
        <p14:creationId xmlns:p14="http://schemas.microsoft.com/office/powerpoint/2010/main" val="1973009985"/>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0" y="548005"/>
            <a:ext cx="4608195" cy="350520"/>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sz="1400" spc="-25" dirty="0">
                <a:solidFill>
                  <a:srgbClr val="FFFFFF"/>
                </a:solidFill>
                <a:latin typeface="Tahoma"/>
                <a:cs typeface="Tahoma"/>
              </a:rPr>
              <a:t>Related</a:t>
            </a:r>
            <a:r>
              <a:rPr sz="1400" spc="-75" dirty="0">
                <a:solidFill>
                  <a:srgbClr val="FFFFFF"/>
                </a:solidFill>
                <a:latin typeface="Tahoma"/>
                <a:cs typeface="Tahoma"/>
              </a:rPr>
              <a:t> </a:t>
            </a:r>
            <a:r>
              <a:rPr sz="1400" spc="-10" dirty="0">
                <a:solidFill>
                  <a:srgbClr val="FFFFFF"/>
                </a:solidFill>
                <a:latin typeface="Tahoma"/>
                <a:cs typeface="Tahoma"/>
              </a:rPr>
              <a:t>literature</a:t>
            </a:r>
            <a:endParaRPr sz="1400" dirty="0">
              <a:latin typeface="Tahoma"/>
              <a:cs typeface="Tahoma"/>
            </a:endParaRPr>
          </a:p>
        </p:txBody>
      </p:sp>
      <p:sp>
        <p:nvSpPr>
          <p:cNvPr id="5" name="object 5"/>
          <p:cNvSpPr txBox="1"/>
          <p:nvPr/>
        </p:nvSpPr>
        <p:spPr>
          <a:xfrm>
            <a:off x="-97155" y="1082905"/>
            <a:ext cx="4724400" cy="1894749"/>
          </a:xfrm>
          <a:prstGeom prst="rect">
            <a:avLst/>
          </a:prstGeom>
        </p:spPr>
        <p:txBody>
          <a:bodyPr vert="horz" wrap="square" lIns="0" tIns="98425" rIns="0" bIns="0" rtlCol="0">
            <a:spAutoFit/>
          </a:bodyPr>
          <a:lstStyle/>
          <a:p>
            <a:pPr marL="50165" marR="542290">
              <a:lnSpc>
                <a:spcPts val="1200"/>
              </a:lnSpc>
              <a:spcBef>
                <a:spcPts val="810"/>
              </a:spcBef>
              <a:buClr>
                <a:srgbClr val="3333B2"/>
              </a:buClr>
              <a:buSzPct val="72727"/>
              <a:tabLst>
                <a:tab pos="199390" algn="l"/>
              </a:tabLst>
            </a:pPr>
            <a:r>
              <a:rPr lang="en-US" sz="1050" b="1" dirty="0">
                <a:latin typeface="Tahoma"/>
                <a:cs typeface="Tahoma"/>
              </a:rPr>
              <a:t>     Theoretical literature:</a:t>
            </a:r>
          </a:p>
          <a:p>
            <a:pPr marL="50165" marR="542290">
              <a:lnSpc>
                <a:spcPts val="1200"/>
              </a:lnSpc>
              <a:spcBef>
                <a:spcPts val="810"/>
              </a:spcBef>
              <a:buClr>
                <a:srgbClr val="3333B2"/>
              </a:buClr>
              <a:buSzPct val="72727"/>
              <a:tabLst>
                <a:tab pos="199390" algn="l"/>
              </a:tabLst>
            </a:pPr>
            <a:endParaRPr sz="1100" b="1" dirty="0">
              <a:latin typeface="Tahoma"/>
              <a:cs typeface="Tahoma"/>
            </a:endParaRPr>
          </a:p>
          <a:p>
            <a:pPr marL="475615" indent="-137795">
              <a:lnSpc>
                <a:spcPts val="1150"/>
              </a:lnSpc>
              <a:buClr>
                <a:srgbClr val="3333B2"/>
              </a:buClr>
              <a:buSzPct val="60000"/>
              <a:buFont typeface="Arial"/>
              <a:buChar char="►"/>
              <a:tabLst>
                <a:tab pos="476250" algn="l"/>
              </a:tabLst>
            </a:pPr>
            <a:r>
              <a:rPr lang="en-US" sz="1000" spc="-20" dirty="0">
                <a:latin typeface="Tahoma"/>
                <a:cs typeface="Tahoma"/>
              </a:rPr>
              <a:t>Kilian (2005) states that higher oil prices are beneficial to oil-exporting countries because they are translated into more money to spend.</a:t>
            </a:r>
          </a:p>
          <a:p>
            <a:pPr marL="337820" lvl="1">
              <a:lnSpc>
                <a:spcPts val="1150"/>
              </a:lnSpc>
              <a:buClr>
                <a:srgbClr val="3333B2"/>
              </a:buClr>
              <a:buSzPct val="60000"/>
              <a:tabLst>
                <a:tab pos="476250" algn="l"/>
              </a:tabLst>
            </a:pPr>
            <a:endParaRPr lang="en-US" sz="1000" spc="-2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Ghalayini (2011) reveals that although a price hike directly increases real national income, part of this gain would be later offset by losses from lower demand due to the economic recession suffered by trading partners.</a:t>
            </a:r>
          </a:p>
          <a:p>
            <a:pPr marL="337820" lvl="1">
              <a:lnSpc>
                <a:spcPts val="1150"/>
              </a:lnSpc>
              <a:buClr>
                <a:srgbClr val="3333B2"/>
              </a:buClr>
              <a:buSzPct val="60000"/>
              <a:tabLst>
                <a:tab pos="476250" algn="l"/>
              </a:tabLst>
            </a:pPr>
            <a:endParaRPr lang="en-US" sz="100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Ferderer (1996) states that high oil prices may incentivize economies to develop alternative oil substitutes, reducing oil demand.</a:t>
            </a:r>
            <a:endParaRPr sz="1000" dirty="0">
              <a:latin typeface="Tahoma"/>
              <a:cs typeface="Tahoma"/>
            </a:endParaRPr>
          </a:p>
        </p:txBody>
      </p:sp>
      <p:grpSp>
        <p:nvGrpSpPr>
          <p:cNvPr id="6" name="object 6"/>
          <p:cNvGrpSpPr/>
          <p:nvPr/>
        </p:nvGrpSpPr>
        <p:grpSpPr>
          <a:xfrm>
            <a:off x="0" y="3329876"/>
            <a:ext cx="4608195" cy="126364"/>
            <a:chOff x="0" y="3329876"/>
            <a:chExt cx="4608195" cy="126364"/>
          </a:xfrm>
        </p:grpSpPr>
        <p:sp>
          <p:nvSpPr>
            <p:cNvPr id="7" name="object 7"/>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8" name="object 8"/>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5" name="object 3">
            <a:extLst>
              <a:ext uri="{FF2B5EF4-FFF2-40B4-BE49-F238E27FC236}">
                <a16:creationId xmlns:a16="http://schemas.microsoft.com/office/drawing/2014/main" id="{50EF2F0C-7CD5-4EBF-B096-A1BF676B7FE2}"/>
              </a:ext>
            </a:extLst>
          </p:cNvPr>
          <p:cNvSpPr txBox="1"/>
          <p:nvPr/>
        </p:nvSpPr>
        <p:spPr>
          <a:xfrm>
            <a:off x="2303995" y="-12374"/>
            <a:ext cx="2304200" cy="630942"/>
          </a:xfrm>
          <a:prstGeom prst="rect">
            <a:avLst/>
          </a:prstGeom>
          <a:solidFill>
            <a:srgbClr val="3333B2"/>
          </a:solidFill>
        </p:spPr>
        <p:txBody>
          <a:bodyPr vert="horz" wrap="square" lIns="0" tIns="0" rIns="0" bIns="0" rtlCol="0">
            <a:spAutoFit/>
          </a:bodyPr>
          <a:lstStyle/>
          <a:p>
            <a:pPr>
              <a:lnSpc>
                <a:spcPct val="100000"/>
              </a:lnSpc>
            </a:pPr>
            <a:endParaRPr sz="600" dirty="0">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Motivation</a:t>
            </a:r>
            <a:endParaRPr lang="en-US" sz="600" dirty="0">
              <a:solidFill>
                <a:schemeClr val="bg1">
                  <a:lumMod val="65000"/>
                </a:schemeClr>
              </a:solidFill>
              <a:latin typeface="Times New Roman"/>
              <a:cs typeface="Times New Roman"/>
            </a:endParaRPr>
          </a:p>
          <a:p>
            <a:pPr marL="107950" marR="1579245">
              <a:lnSpc>
                <a:spcPts val="670"/>
              </a:lnSpc>
            </a:pPr>
            <a:r>
              <a:rPr lang="en-US" sz="600" b="1" spc="-10" dirty="0">
                <a:solidFill>
                  <a:schemeClr val="bg1"/>
                </a:solidFill>
                <a:latin typeface="Arial"/>
                <a:cs typeface="Arial"/>
              </a:rPr>
              <a:t>Related</a:t>
            </a:r>
            <a:r>
              <a:rPr lang="en-US" sz="600" b="1" spc="10" dirty="0">
                <a:solidFill>
                  <a:schemeClr val="bg1"/>
                </a:solidFill>
                <a:latin typeface="Arial"/>
                <a:cs typeface="Arial"/>
              </a:rPr>
              <a:t> </a:t>
            </a:r>
            <a:r>
              <a:rPr lang="en-US" sz="600" b="1" spc="-10" dirty="0">
                <a:solidFill>
                  <a:schemeClr val="bg1"/>
                </a:solidFill>
                <a:latin typeface="Arial"/>
                <a:cs typeface="Arial"/>
              </a:rPr>
              <a:t>literature</a:t>
            </a:r>
            <a:endParaRPr lang="en-US" sz="600" b="1" spc="-10" dirty="0">
              <a:solidFill>
                <a:schemeClr val="bg1"/>
              </a:solidFill>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Contribution</a:t>
            </a:r>
            <a:r>
              <a:rPr lang="en-US" sz="600" b="1" spc="500" dirty="0">
                <a:solidFill>
                  <a:schemeClr val="bg1">
                    <a:lumMod val="65000"/>
                  </a:schemeClr>
                </a:solidFill>
                <a:latin typeface="Arial"/>
                <a:cs typeface="Arial"/>
              </a:rPr>
              <a:t> </a:t>
            </a: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p:txBody>
      </p:sp>
      <p:sp>
        <p:nvSpPr>
          <p:cNvPr id="13" name="object 2">
            <a:extLst>
              <a:ext uri="{FF2B5EF4-FFF2-40B4-BE49-F238E27FC236}">
                <a16:creationId xmlns:a16="http://schemas.microsoft.com/office/drawing/2014/main" id="{17FBF45C-FC38-4DD1-87A2-450E4476F1BC}"/>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chemeClr val="bg1"/>
                </a:solidFill>
                <a:latin typeface="Arial"/>
                <a:cs typeface="Arial"/>
              </a:rPr>
              <a:t>Introducti</a:t>
            </a:r>
            <a:r>
              <a:rPr lang="en-US" sz="600" b="1" spc="-20" dirty="0">
                <a:solidFill>
                  <a:schemeClr val="bg1"/>
                </a:solidFill>
                <a:latin typeface="Arial"/>
                <a:cs typeface="Arial"/>
              </a:rPr>
              <a:t>on</a:t>
            </a:r>
            <a:r>
              <a:rPr lang="en-US" sz="600" b="1" spc="500" dirty="0">
                <a:solidFill>
                  <a:schemeClr val="bg1"/>
                </a:solidFill>
                <a:latin typeface="Arial"/>
                <a:cs typeface="Arial"/>
              </a:rPr>
              <a:t> </a:t>
            </a:r>
            <a:endParaRPr lang="en-US" sz="600" dirty="0">
              <a:solidFill>
                <a:schemeClr val="bg1"/>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14" name="object 13">
            <a:extLst>
              <a:ext uri="{FF2B5EF4-FFF2-40B4-BE49-F238E27FC236}">
                <a16:creationId xmlns:a16="http://schemas.microsoft.com/office/drawing/2014/main" id="{DE6E3015-C7FB-4AC9-8D21-2433E08EB821}"/>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6" name="object 14">
            <a:extLst>
              <a:ext uri="{FF2B5EF4-FFF2-40B4-BE49-F238E27FC236}">
                <a16:creationId xmlns:a16="http://schemas.microsoft.com/office/drawing/2014/main" id="{2DC3868A-9BE0-4DAE-AA19-5C4767743FAD}"/>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0" y="548005"/>
            <a:ext cx="4608195" cy="350520"/>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sz="1400" spc="-25" dirty="0">
                <a:solidFill>
                  <a:srgbClr val="FFFFFF"/>
                </a:solidFill>
                <a:latin typeface="Tahoma"/>
                <a:cs typeface="Tahoma"/>
              </a:rPr>
              <a:t>Related</a:t>
            </a:r>
            <a:r>
              <a:rPr sz="1400" spc="-75" dirty="0">
                <a:solidFill>
                  <a:srgbClr val="FFFFFF"/>
                </a:solidFill>
                <a:latin typeface="Tahoma"/>
                <a:cs typeface="Tahoma"/>
              </a:rPr>
              <a:t> </a:t>
            </a:r>
            <a:r>
              <a:rPr sz="1400" spc="-10" dirty="0">
                <a:solidFill>
                  <a:srgbClr val="FFFFFF"/>
                </a:solidFill>
                <a:latin typeface="Tahoma"/>
                <a:cs typeface="Tahoma"/>
              </a:rPr>
              <a:t>literature</a:t>
            </a:r>
            <a:endParaRPr sz="1400">
              <a:latin typeface="Tahoma"/>
              <a:cs typeface="Tahoma"/>
            </a:endParaRPr>
          </a:p>
        </p:txBody>
      </p:sp>
      <p:sp>
        <p:nvSpPr>
          <p:cNvPr id="5" name="object 5"/>
          <p:cNvSpPr txBox="1"/>
          <p:nvPr/>
        </p:nvSpPr>
        <p:spPr>
          <a:xfrm>
            <a:off x="0" y="737482"/>
            <a:ext cx="4210050" cy="2202526"/>
          </a:xfrm>
          <a:prstGeom prst="rect">
            <a:avLst/>
          </a:prstGeom>
        </p:spPr>
        <p:txBody>
          <a:bodyPr vert="horz" wrap="square" lIns="0" tIns="98425" rIns="0" bIns="0" rtlCol="0">
            <a:spAutoFit/>
          </a:bodyPr>
          <a:lstStyle/>
          <a:p>
            <a:pPr marL="50165" marR="542290">
              <a:lnSpc>
                <a:spcPts val="1200"/>
              </a:lnSpc>
              <a:spcBef>
                <a:spcPts val="810"/>
              </a:spcBef>
              <a:buClr>
                <a:srgbClr val="3333B2"/>
              </a:buClr>
              <a:buSzPct val="72727"/>
              <a:tabLst>
                <a:tab pos="199390" algn="l"/>
              </a:tabLst>
            </a:pPr>
            <a:endParaRPr lang="en-US" sz="1100" b="1" dirty="0">
              <a:latin typeface="Tahoma"/>
              <a:cs typeface="Tahoma"/>
            </a:endParaRPr>
          </a:p>
          <a:p>
            <a:pPr marL="50165" marR="542290">
              <a:lnSpc>
                <a:spcPts val="1200"/>
              </a:lnSpc>
              <a:spcBef>
                <a:spcPts val="810"/>
              </a:spcBef>
              <a:buClr>
                <a:srgbClr val="3333B2"/>
              </a:buClr>
              <a:buSzPct val="72727"/>
              <a:tabLst>
                <a:tab pos="199390" algn="l"/>
              </a:tabLst>
            </a:pPr>
            <a:endParaRPr sz="1100" b="1"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spc="-20" dirty="0">
                <a:latin typeface="Tahoma"/>
                <a:cs typeface="Tahoma"/>
              </a:rPr>
              <a:t>Anandan et al. (2013) state that oil prices and inflation move in the same direction.</a:t>
            </a:r>
          </a:p>
          <a:p>
            <a:pPr marL="475615" lvl="1" indent="-137795">
              <a:lnSpc>
                <a:spcPts val="1150"/>
              </a:lnSpc>
              <a:buClr>
                <a:srgbClr val="3333B2"/>
              </a:buClr>
              <a:buSzPct val="60000"/>
              <a:buFont typeface="Arial"/>
              <a:buChar char="►"/>
              <a:tabLst>
                <a:tab pos="476250" algn="l"/>
              </a:tabLst>
            </a:pPr>
            <a:endParaRPr lang="en-US" sz="1000" spc="-2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Tang et al. (2010) explain this relationship through the </a:t>
            </a:r>
            <a:r>
              <a:rPr lang="en-US" sz="1000" b="1" dirty="0">
                <a:latin typeface="Tahoma"/>
                <a:cs typeface="Tahoma"/>
              </a:rPr>
              <a:t>cost channel</a:t>
            </a:r>
            <a:r>
              <a:rPr lang="en-US" sz="1000" dirty="0">
                <a:latin typeface="Tahoma"/>
                <a:cs typeface="Tahoma"/>
              </a:rPr>
              <a:t>. Higher oil prices increase production and transportation costs, placing a burden on the consumer price index.</a:t>
            </a:r>
          </a:p>
          <a:p>
            <a:pPr marL="337820" lvl="1">
              <a:lnSpc>
                <a:spcPts val="1150"/>
              </a:lnSpc>
              <a:buClr>
                <a:srgbClr val="3333B2"/>
              </a:buClr>
              <a:buSzPct val="60000"/>
              <a:tabLst>
                <a:tab pos="476250" algn="l"/>
              </a:tabLst>
            </a:pPr>
            <a:endParaRPr lang="en-US" sz="100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Farzanegan (2011) explains it through the </a:t>
            </a:r>
            <a:r>
              <a:rPr lang="en-US" sz="1000" b="1" dirty="0">
                <a:latin typeface="Tahoma"/>
                <a:cs typeface="Tahoma"/>
              </a:rPr>
              <a:t>fiscal channel</a:t>
            </a:r>
            <a:r>
              <a:rPr lang="en-US" sz="1000" dirty="0">
                <a:latin typeface="Tahoma"/>
                <a:cs typeface="Tahoma"/>
              </a:rPr>
              <a:t>. The result suggests that an oil-exporting country may experience high inflation if it exceeds capacity of purchase during positive price shocks.</a:t>
            </a:r>
            <a:endParaRPr sz="1000" dirty="0">
              <a:latin typeface="Tahoma"/>
              <a:cs typeface="Tahoma"/>
            </a:endParaRPr>
          </a:p>
        </p:txBody>
      </p:sp>
      <p:grpSp>
        <p:nvGrpSpPr>
          <p:cNvPr id="6" name="object 6"/>
          <p:cNvGrpSpPr/>
          <p:nvPr/>
        </p:nvGrpSpPr>
        <p:grpSpPr>
          <a:xfrm>
            <a:off x="0" y="3329876"/>
            <a:ext cx="4608195" cy="126364"/>
            <a:chOff x="0" y="3329876"/>
            <a:chExt cx="4608195" cy="126364"/>
          </a:xfrm>
        </p:grpSpPr>
        <p:sp>
          <p:nvSpPr>
            <p:cNvPr id="7" name="object 7"/>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8" name="object 8"/>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5" name="object 3">
            <a:extLst>
              <a:ext uri="{FF2B5EF4-FFF2-40B4-BE49-F238E27FC236}">
                <a16:creationId xmlns:a16="http://schemas.microsoft.com/office/drawing/2014/main" id="{50EF2F0C-7CD5-4EBF-B096-A1BF676B7FE2}"/>
              </a:ext>
            </a:extLst>
          </p:cNvPr>
          <p:cNvSpPr txBox="1"/>
          <p:nvPr/>
        </p:nvSpPr>
        <p:spPr>
          <a:xfrm>
            <a:off x="2303995" y="-12374"/>
            <a:ext cx="2304200" cy="630942"/>
          </a:xfrm>
          <a:prstGeom prst="rect">
            <a:avLst/>
          </a:prstGeom>
          <a:solidFill>
            <a:srgbClr val="3333B2"/>
          </a:solidFill>
        </p:spPr>
        <p:txBody>
          <a:bodyPr vert="horz" wrap="square" lIns="0" tIns="0" rIns="0" bIns="0" rtlCol="0">
            <a:spAutoFit/>
          </a:bodyPr>
          <a:lstStyle/>
          <a:p>
            <a:pPr>
              <a:lnSpc>
                <a:spcPct val="100000"/>
              </a:lnSpc>
            </a:pPr>
            <a:endParaRPr sz="600" dirty="0">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Motivation</a:t>
            </a:r>
            <a:endParaRPr lang="en-US" sz="600" dirty="0">
              <a:solidFill>
                <a:schemeClr val="bg1">
                  <a:lumMod val="65000"/>
                </a:schemeClr>
              </a:solidFill>
              <a:latin typeface="Times New Roman"/>
              <a:cs typeface="Times New Roman"/>
            </a:endParaRPr>
          </a:p>
          <a:p>
            <a:pPr marL="107950" marR="1579245">
              <a:lnSpc>
                <a:spcPts val="670"/>
              </a:lnSpc>
            </a:pPr>
            <a:r>
              <a:rPr lang="en-US" sz="600" b="1" spc="-10" dirty="0">
                <a:solidFill>
                  <a:schemeClr val="bg2"/>
                </a:solidFill>
                <a:latin typeface="Arial"/>
                <a:cs typeface="Arial"/>
              </a:rPr>
              <a:t>Related</a:t>
            </a:r>
            <a:r>
              <a:rPr lang="en-US" sz="600" b="1" spc="10" dirty="0">
                <a:solidFill>
                  <a:schemeClr val="bg2"/>
                </a:solidFill>
                <a:latin typeface="Arial"/>
                <a:cs typeface="Arial"/>
              </a:rPr>
              <a:t> </a:t>
            </a:r>
            <a:r>
              <a:rPr lang="en-US" sz="600" b="1" spc="-10" dirty="0">
                <a:solidFill>
                  <a:schemeClr val="bg2"/>
                </a:solidFill>
                <a:latin typeface="Arial"/>
                <a:cs typeface="Arial"/>
              </a:rPr>
              <a:t>literature</a:t>
            </a:r>
            <a:endParaRPr lang="en-US" sz="600" b="1" spc="-10" dirty="0">
              <a:solidFill>
                <a:schemeClr val="bg2"/>
              </a:solidFill>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Contribution</a:t>
            </a:r>
            <a:r>
              <a:rPr lang="en-US" sz="600" b="1" spc="500" dirty="0">
                <a:solidFill>
                  <a:schemeClr val="bg1">
                    <a:lumMod val="65000"/>
                  </a:schemeClr>
                </a:solidFill>
                <a:latin typeface="Arial"/>
                <a:cs typeface="Arial"/>
              </a:rPr>
              <a:t> </a:t>
            </a: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p:txBody>
      </p:sp>
      <p:sp>
        <p:nvSpPr>
          <p:cNvPr id="13" name="object 2">
            <a:extLst>
              <a:ext uri="{FF2B5EF4-FFF2-40B4-BE49-F238E27FC236}">
                <a16:creationId xmlns:a16="http://schemas.microsoft.com/office/drawing/2014/main" id="{92969CBB-D6A5-4E37-850B-4037C516E2B1}"/>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chemeClr val="bg2"/>
                </a:solidFill>
                <a:latin typeface="Arial"/>
                <a:cs typeface="Arial"/>
              </a:rPr>
              <a:t>Introducti</a:t>
            </a:r>
            <a:r>
              <a:rPr lang="en-US" sz="600" b="1" spc="-20" dirty="0">
                <a:solidFill>
                  <a:schemeClr val="bg2"/>
                </a:solidFill>
                <a:latin typeface="Arial"/>
                <a:cs typeface="Arial"/>
              </a:rPr>
              <a:t>on</a:t>
            </a:r>
            <a:r>
              <a:rPr lang="en-US" sz="600" b="1" spc="500" dirty="0">
                <a:solidFill>
                  <a:schemeClr val="bg2"/>
                </a:solidFill>
                <a:latin typeface="Arial"/>
                <a:cs typeface="Arial"/>
              </a:rPr>
              <a:t> </a:t>
            </a:r>
            <a:endParaRPr lang="en-US" sz="600" dirty="0">
              <a:solidFill>
                <a:schemeClr val="bg2"/>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14" name="object 13">
            <a:extLst>
              <a:ext uri="{FF2B5EF4-FFF2-40B4-BE49-F238E27FC236}">
                <a16:creationId xmlns:a16="http://schemas.microsoft.com/office/drawing/2014/main" id="{BD1D33E9-2D04-49FC-9C33-F61DD635B150}"/>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6" name="object 14">
            <a:extLst>
              <a:ext uri="{FF2B5EF4-FFF2-40B4-BE49-F238E27FC236}">
                <a16:creationId xmlns:a16="http://schemas.microsoft.com/office/drawing/2014/main" id="{B3612ADA-5847-4529-B985-6B895EA0B9E4}"/>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Tree>
    <p:extLst>
      <p:ext uri="{BB962C8B-B14F-4D97-AF65-F5344CB8AC3E}">
        <p14:creationId xmlns:p14="http://schemas.microsoft.com/office/powerpoint/2010/main" val="3060816945"/>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0" y="548005"/>
            <a:ext cx="4608195" cy="350520"/>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sz="1400" spc="-25" dirty="0">
                <a:solidFill>
                  <a:srgbClr val="FFFFFF"/>
                </a:solidFill>
                <a:latin typeface="Tahoma"/>
                <a:cs typeface="Tahoma"/>
              </a:rPr>
              <a:t>Related</a:t>
            </a:r>
            <a:r>
              <a:rPr sz="1400" spc="-75" dirty="0">
                <a:solidFill>
                  <a:srgbClr val="FFFFFF"/>
                </a:solidFill>
                <a:latin typeface="Tahoma"/>
                <a:cs typeface="Tahoma"/>
              </a:rPr>
              <a:t> </a:t>
            </a:r>
            <a:r>
              <a:rPr sz="1400" spc="-10" dirty="0">
                <a:solidFill>
                  <a:srgbClr val="FFFFFF"/>
                </a:solidFill>
                <a:latin typeface="Tahoma"/>
                <a:cs typeface="Tahoma"/>
              </a:rPr>
              <a:t>literature</a:t>
            </a:r>
            <a:endParaRPr sz="1400">
              <a:latin typeface="Tahoma"/>
              <a:cs typeface="Tahoma"/>
            </a:endParaRPr>
          </a:p>
        </p:txBody>
      </p:sp>
      <p:sp>
        <p:nvSpPr>
          <p:cNvPr id="5" name="object 5"/>
          <p:cNvSpPr txBox="1"/>
          <p:nvPr/>
        </p:nvSpPr>
        <p:spPr>
          <a:xfrm>
            <a:off x="216904" y="898525"/>
            <a:ext cx="3855720" cy="2664191"/>
          </a:xfrm>
          <a:prstGeom prst="rect">
            <a:avLst/>
          </a:prstGeom>
        </p:spPr>
        <p:txBody>
          <a:bodyPr vert="horz" wrap="square" lIns="0" tIns="98425" rIns="0" bIns="0" rtlCol="0">
            <a:spAutoFit/>
          </a:bodyPr>
          <a:lstStyle/>
          <a:p>
            <a:pPr marL="50165" marR="542290">
              <a:lnSpc>
                <a:spcPts val="1200"/>
              </a:lnSpc>
              <a:spcBef>
                <a:spcPts val="810"/>
              </a:spcBef>
              <a:buClr>
                <a:srgbClr val="3333B2"/>
              </a:buClr>
              <a:buSzPct val="72727"/>
              <a:tabLst>
                <a:tab pos="199390" algn="l"/>
              </a:tabLst>
            </a:pPr>
            <a:r>
              <a:rPr lang="en-US" sz="1100" b="1" dirty="0">
                <a:latin typeface="Tahoma"/>
                <a:cs typeface="Tahoma"/>
              </a:rPr>
              <a:t>Empirical literature:</a:t>
            </a:r>
          </a:p>
          <a:p>
            <a:pPr marL="50165" marR="542290">
              <a:lnSpc>
                <a:spcPts val="1200"/>
              </a:lnSpc>
              <a:spcBef>
                <a:spcPts val="810"/>
              </a:spcBef>
              <a:buClr>
                <a:srgbClr val="3333B2"/>
              </a:buClr>
              <a:buSzPct val="72727"/>
              <a:tabLst>
                <a:tab pos="199390" algn="l"/>
              </a:tabLst>
            </a:pPr>
            <a:endParaRPr sz="1100" b="1"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spc="-20" dirty="0">
                <a:latin typeface="Tahoma"/>
                <a:cs typeface="Tahoma"/>
              </a:rPr>
              <a:t>Hamilton (1983) suggests a strong relationship between US recessions and oil price spikes.</a:t>
            </a:r>
          </a:p>
          <a:p>
            <a:pPr marL="337820" lvl="1">
              <a:lnSpc>
                <a:spcPts val="1150"/>
              </a:lnSpc>
              <a:buClr>
                <a:srgbClr val="3333B2"/>
              </a:buClr>
              <a:buSzPct val="60000"/>
              <a:tabLst>
                <a:tab pos="476250" algn="l"/>
              </a:tabLst>
            </a:pPr>
            <a:endParaRPr lang="en-US" sz="1000" spc="-2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Mehara and </a:t>
            </a:r>
            <a:r>
              <a:rPr lang="en-US" sz="1000" dirty="0" err="1">
                <a:latin typeface="Tahoma"/>
                <a:cs typeface="Tahoma"/>
              </a:rPr>
              <a:t>Oskoui</a:t>
            </a:r>
            <a:r>
              <a:rPr lang="en-US" sz="1000" dirty="0">
                <a:latin typeface="Tahoma"/>
                <a:cs typeface="Tahoma"/>
              </a:rPr>
              <a:t>(2007) employed a structural VAR model in 4 exporting countries and found that oil price shocks serve a significant role in driving business cycles in Iran and Saudi Arabia.</a:t>
            </a:r>
          </a:p>
          <a:p>
            <a:pPr marL="475615" lvl="1" indent="-137795">
              <a:lnSpc>
                <a:spcPts val="1150"/>
              </a:lnSpc>
              <a:buClr>
                <a:srgbClr val="3333B2"/>
              </a:buClr>
              <a:buSzPct val="60000"/>
              <a:buFont typeface="Arial"/>
              <a:buChar char="►"/>
              <a:tabLst>
                <a:tab pos="476250" algn="l"/>
              </a:tabLst>
            </a:pPr>
            <a:endParaRPr lang="en-US" sz="100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Berument et al. (2010) examined the effect of oil price shocks in some oil-exporting MENA countries and found a positive and significant impact on economic activity and inflation</a:t>
            </a:r>
          </a:p>
          <a:p>
            <a:pPr marL="475615" lvl="1" indent="-137795">
              <a:lnSpc>
                <a:spcPts val="1150"/>
              </a:lnSpc>
              <a:buClr>
                <a:srgbClr val="3333B2"/>
              </a:buClr>
              <a:buSzPct val="60000"/>
              <a:buFont typeface="Arial"/>
              <a:buChar char="►"/>
              <a:tabLst>
                <a:tab pos="476250" algn="l"/>
              </a:tabLst>
            </a:pPr>
            <a:endParaRPr lang="en-US" sz="1000" dirty="0">
              <a:latin typeface="Tahoma"/>
              <a:cs typeface="Tahoma"/>
            </a:endParaRPr>
          </a:p>
          <a:p>
            <a:pPr marL="337820" lvl="1">
              <a:lnSpc>
                <a:spcPts val="1150"/>
              </a:lnSpc>
              <a:buClr>
                <a:srgbClr val="3333B2"/>
              </a:buClr>
              <a:buSzPct val="60000"/>
              <a:tabLst>
                <a:tab pos="476250" algn="l"/>
              </a:tabLst>
            </a:pPr>
            <a:endParaRPr lang="en-US" sz="1000" dirty="0">
              <a:latin typeface="Tahoma"/>
              <a:cs typeface="Tahoma"/>
            </a:endParaRPr>
          </a:p>
        </p:txBody>
      </p:sp>
      <p:grpSp>
        <p:nvGrpSpPr>
          <p:cNvPr id="6" name="object 6"/>
          <p:cNvGrpSpPr/>
          <p:nvPr/>
        </p:nvGrpSpPr>
        <p:grpSpPr>
          <a:xfrm>
            <a:off x="0" y="3329876"/>
            <a:ext cx="4608195" cy="126364"/>
            <a:chOff x="0" y="3329876"/>
            <a:chExt cx="4608195" cy="126364"/>
          </a:xfrm>
        </p:grpSpPr>
        <p:sp>
          <p:nvSpPr>
            <p:cNvPr id="7" name="object 7"/>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8" name="object 8"/>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5" name="object 3">
            <a:extLst>
              <a:ext uri="{FF2B5EF4-FFF2-40B4-BE49-F238E27FC236}">
                <a16:creationId xmlns:a16="http://schemas.microsoft.com/office/drawing/2014/main" id="{50EF2F0C-7CD5-4EBF-B096-A1BF676B7FE2}"/>
              </a:ext>
            </a:extLst>
          </p:cNvPr>
          <p:cNvSpPr txBox="1"/>
          <p:nvPr/>
        </p:nvSpPr>
        <p:spPr>
          <a:xfrm>
            <a:off x="2303995" y="-12374"/>
            <a:ext cx="2304200" cy="630942"/>
          </a:xfrm>
          <a:prstGeom prst="rect">
            <a:avLst/>
          </a:prstGeom>
          <a:solidFill>
            <a:srgbClr val="3333B2"/>
          </a:solidFill>
        </p:spPr>
        <p:txBody>
          <a:bodyPr vert="horz" wrap="square" lIns="0" tIns="0" rIns="0" bIns="0" rtlCol="0">
            <a:spAutoFit/>
          </a:bodyPr>
          <a:lstStyle/>
          <a:p>
            <a:pPr>
              <a:lnSpc>
                <a:spcPct val="100000"/>
              </a:lnSpc>
            </a:pPr>
            <a:endParaRPr sz="600" dirty="0">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Motivation</a:t>
            </a:r>
            <a:endParaRPr lang="en-US" sz="600" dirty="0">
              <a:solidFill>
                <a:schemeClr val="bg1">
                  <a:lumMod val="65000"/>
                </a:schemeClr>
              </a:solidFill>
              <a:latin typeface="Times New Roman"/>
              <a:cs typeface="Times New Roman"/>
            </a:endParaRPr>
          </a:p>
          <a:p>
            <a:pPr marL="107950" marR="1579245">
              <a:lnSpc>
                <a:spcPts val="670"/>
              </a:lnSpc>
            </a:pPr>
            <a:r>
              <a:rPr lang="en-US" sz="600" b="1" spc="-10" dirty="0">
                <a:solidFill>
                  <a:schemeClr val="bg1"/>
                </a:solidFill>
                <a:latin typeface="Arial"/>
                <a:cs typeface="Arial"/>
              </a:rPr>
              <a:t>Related</a:t>
            </a:r>
            <a:r>
              <a:rPr lang="en-US" sz="600" b="1" spc="10" dirty="0">
                <a:solidFill>
                  <a:schemeClr val="bg1"/>
                </a:solidFill>
                <a:latin typeface="Arial"/>
                <a:cs typeface="Arial"/>
              </a:rPr>
              <a:t> </a:t>
            </a:r>
            <a:r>
              <a:rPr lang="en-US" sz="600" b="1" spc="-10" dirty="0">
                <a:solidFill>
                  <a:schemeClr val="bg1"/>
                </a:solidFill>
                <a:latin typeface="Arial"/>
                <a:cs typeface="Arial"/>
              </a:rPr>
              <a:t>literature</a:t>
            </a:r>
            <a:endParaRPr lang="en-US" sz="600" b="1" spc="-10" dirty="0">
              <a:solidFill>
                <a:schemeClr val="bg1"/>
              </a:solidFill>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Contribution</a:t>
            </a:r>
            <a:r>
              <a:rPr lang="en-US" sz="600" b="1" spc="500" dirty="0">
                <a:solidFill>
                  <a:schemeClr val="bg1">
                    <a:lumMod val="65000"/>
                  </a:schemeClr>
                </a:solidFill>
                <a:latin typeface="Arial"/>
                <a:cs typeface="Arial"/>
              </a:rPr>
              <a:t> </a:t>
            </a: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p:txBody>
      </p:sp>
      <p:sp>
        <p:nvSpPr>
          <p:cNvPr id="13" name="object 2">
            <a:extLst>
              <a:ext uri="{FF2B5EF4-FFF2-40B4-BE49-F238E27FC236}">
                <a16:creationId xmlns:a16="http://schemas.microsoft.com/office/drawing/2014/main" id="{86CD91F7-8159-47E3-BE5C-BC88FB053844}"/>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chemeClr val="bg1"/>
                </a:solidFill>
                <a:latin typeface="Arial"/>
                <a:cs typeface="Arial"/>
              </a:rPr>
              <a:t>Introducti</a:t>
            </a:r>
            <a:r>
              <a:rPr lang="en-US" sz="600" b="1" spc="-20" dirty="0">
                <a:solidFill>
                  <a:schemeClr val="bg1"/>
                </a:solidFill>
                <a:latin typeface="Arial"/>
                <a:cs typeface="Arial"/>
              </a:rPr>
              <a:t>on</a:t>
            </a:r>
            <a:r>
              <a:rPr lang="en-US" sz="600" b="1" spc="500" dirty="0">
                <a:solidFill>
                  <a:schemeClr val="bg1"/>
                </a:solidFill>
                <a:latin typeface="Arial"/>
                <a:cs typeface="Arial"/>
              </a:rPr>
              <a:t> </a:t>
            </a:r>
            <a:endParaRPr lang="en-US" sz="600" dirty="0">
              <a:solidFill>
                <a:schemeClr val="bg1"/>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14" name="object 13">
            <a:extLst>
              <a:ext uri="{FF2B5EF4-FFF2-40B4-BE49-F238E27FC236}">
                <a16:creationId xmlns:a16="http://schemas.microsoft.com/office/drawing/2014/main" id="{9E4F3792-71B1-4FFF-B834-D70FBE41F727}"/>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6" name="object 14">
            <a:extLst>
              <a:ext uri="{FF2B5EF4-FFF2-40B4-BE49-F238E27FC236}">
                <a16:creationId xmlns:a16="http://schemas.microsoft.com/office/drawing/2014/main" id="{305147D1-3AAC-437F-9031-B38784253CA1}"/>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Tree>
    <p:extLst>
      <p:ext uri="{BB962C8B-B14F-4D97-AF65-F5344CB8AC3E}">
        <p14:creationId xmlns:p14="http://schemas.microsoft.com/office/powerpoint/2010/main" val="2177708442"/>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0" y="548005"/>
            <a:ext cx="4608195" cy="350520"/>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sz="1400" spc="-25" dirty="0">
                <a:solidFill>
                  <a:srgbClr val="FFFFFF"/>
                </a:solidFill>
                <a:latin typeface="Tahoma"/>
                <a:cs typeface="Tahoma"/>
              </a:rPr>
              <a:t>Related</a:t>
            </a:r>
            <a:r>
              <a:rPr sz="1400" spc="-75" dirty="0">
                <a:solidFill>
                  <a:srgbClr val="FFFFFF"/>
                </a:solidFill>
                <a:latin typeface="Tahoma"/>
                <a:cs typeface="Tahoma"/>
              </a:rPr>
              <a:t> </a:t>
            </a:r>
            <a:r>
              <a:rPr sz="1400" spc="-10" dirty="0">
                <a:solidFill>
                  <a:srgbClr val="FFFFFF"/>
                </a:solidFill>
                <a:latin typeface="Tahoma"/>
                <a:cs typeface="Tahoma"/>
              </a:rPr>
              <a:t>literature</a:t>
            </a:r>
            <a:endParaRPr sz="1400">
              <a:latin typeface="Tahoma"/>
              <a:cs typeface="Tahoma"/>
            </a:endParaRPr>
          </a:p>
        </p:txBody>
      </p:sp>
      <p:sp>
        <p:nvSpPr>
          <p:cNvPr id="5" name="object 5"/>
          <p:cNvSpPr txBox="1"/>
          <p:nvPr/>
        </p:nvSpPr>
        <p:spPr>
          <a:xfrm>
            <a:off x="171450" y="925958"/>
            <a:ext cx="3855720" cy="2253822"/>
          </a:xfrm>
          <a:prstGeom prst="rect">
            <a:avLst/>
          </a:prstGeom>
        </p:spPr>
        <p:txBody>
          <a:bodyPr vert="horz" wrap="square" lIns="0" tIns="98425" rIns="0" bIns="0" rtlCol="0">
            <a:spAutoFit/>
          </a:bodyPr>
          <a:lstStyle/>
          <a:p>
            <a:pPr marL="50165" marR="542290">
              <a:lnSpc>
                <a:spcPts val="1200"/>
              </a:lnSpc>
              <a:spcBef>
                <a:spcPts val="810"/>
              </a:spcBef>
              <a:buClr>
                <a:srgbClr val="3333B2"/>
              </a:buClr>
              <a:buSzPct val="72727"/>
              <a:tabLst>
                <a:tab pos="199390" algn="l"/>
              </a:tabLst>
            </a:pPr>
            <a:endParaRPr sz="1100" b="1"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Alkhathlan and Javid (2018) employed a VECM model and found that oil price shocks have a short-lived positive effect on the economic growth in Saudi Arabia.</a:t>
            </a:r>
          </a:p>
          <a:p>
            <a:pPr marL="337820" lvl="1">
              <a:lnSpc>
                <a:spcPts val="1150"/>
              </a:lnSpc>
              <a:buClr>
                <a:srgbClr val="3333B2"/>
              </a:buClr>
              <a:buSzPct val="60000"/>
              <a:tabLst>
                <a:tab pos="476250" algn="l"/>
              </a:tabLst>
            </a:pPr>
            <a:endParaRPr lang="en-US" sz="100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Zulfigarov and </a:t>
            </a:r>
            <a:r>
              <a:rPr lang="en-US" sz="1000" dirty="0" err="1">
                <a:latin typeface="Tahoma"/>
                <a:cs typeface="Tahoma"/>
              </a:rPr>
              <a:t>Nenkirch</a:t>
            </a:r>
            <a:r>
              <a:rPr lang="en-US" sz="1000" dirty="0">
                <a:latin typeface="Tahoma"/>
                <a:cs typeface="Tahoma"/>
              </a:rPr>
              <a:t> (2020) utilized a VAR model to study the relationship between fluctuations in oil prices and economic activities in Azerbaijan. Their results revealed that innovation in oil prices leads to higher inflation.</a:t>
            </a:r>
          </a:p>
          <a:p>
            <a:pPr marL="337820" lvl="1">
              <a:lnSpc>
                <a:spcPts val="1150"/>
              </a:lnSpc>
              <a:buClr>
                <a:srgbClr val="3333B2"/>
              </a:buClr>
              <a:buSzPct val="60000"/>
              <a:tabLst>
                <a:tab pos="476250" algn="l"/>
              </a:tabLst>
            </a:pPr>
            <a:endParaRPr lang="en-US" sz="1000" spc="-2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Olomola (2006) conducted a study using VAR approach and found that oil price shocks had no significant effect on inflation and output in Nigeria.</a:t>
            </a:r>
          </a:p>
          <a:p>
            <a:pPr marL="337820" lvl="1">
              <a:lnSpc>
                <a:spcPts val="1150"/>
              </a:lnSpc>
              <a:buClr>
                <a:srgbClr val="3333B2"/>
              </a:buClr>
              <a:buSzPct val="60000"/>
              <a:tabLst>
                <a:tab pos="476250" algn="l"/>
              </a:tabLst>
            </a:pPr>
            <a:endParaRPr lang="en-US" sz="1000" dirty="0">
              <a:latin typeface="Tahoma"/>
              <a:cs typeface="Tahoma"/>
            </a:endParaRPr>
          </a:p>
        </p:txBody>
      </p:sp>
      <p:grpSp>
        <p:nvGrpSpPr>
          <p:cNvPr id="6" name="object 6"/>
          <p:cNvGrpSpPr/>
          <p:nvPr/>
        </p:nvGrpSpPr>
        <p:grpSpPr>
          <a:xfrm>
            <a:off x="0" y="3329876"/>
            <a:ext cx="4608195" cy="126364"/>
            <a:chOff x="0" y="3329876"/>
            <a:chExt cx="4608195" cy="126364"/>
          </a:xfrm>
        </p:grpSpPr>
        <p:sp>
          <p:nvSpPr>
            <p:cNvPr id="7" name="object 7"/>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8" name="object 8"/>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4" name="object 13">
            <a:extLst>
              <a:ext uri="{FF2B5EF4-FFF2-40B4-BE49-F238E27FC236}">
                <a16:creationId xmlns:a16="http://schemas.microsoft.com/office/drawing/2014/main" id="{EAAB59BB-1809-4A8D-B58A-A1A56CDA44CF}"/>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6" name="object 14">
            <a:extLst>
              <a:ext uri="{FF2B5EF4-FFF2-40B4-BE49-F238E27FC236}">
                <a16:creationId xmlns:a16="http://schemas.microsoft.com/office/drawing/2014/main" id="{2C4FE0E7-D678-4F4E-AF15-B8D3F5AEDA63}"/>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7" name="object 2">
            <a:extLst>
              <a:ext uri="{FF2B5EF4-FFF2-40B4-BE49-F238E27FC236}">
                <a16:creationId xmlns:a16="http://schemas.microsoft.com/office/drawing/2014/main" id="{ADB39583-5707-481E-8E66-ACC8BB05274A}"/>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chemeClr val="bg1"/>
                </a:solidFill>
                <a:latin typeface="Arial"/>
                <a:cs typeface="Arial"/>
              </a:rPr>
              <a:t>Introducti</a:t>
            </a:r>
            <a:r>
              <a:rPr lang="en-US" sz="600" b="1" spc="-20" dirty="0">
                <a:solidFill>
                  <a:schemeClr val="bg1"/>
                </a:solidFill>
                <a:latin typeface="Arial"/>
                <a:cs typeface="Arial"/>
              </a:rPr>
              <a:t>on</a:t>
            </a:r>
            <a:r>
              <a:rPr lang="en-US" sz="600" b="1" spc="500" dirty="0">
                <a:solidFill>
                  <a:schemeClr val="bg1"/>
                </a:solidFill>
                <a:latin typeface="Arial"/>
                <a:cs typeface="Arial"/>
              </a:rPr>
              <a:t> </a:t>
            </a:r>
            <a:endParaRPr lang="en-US" sz="600" dirty="0">
              <a:solidFill>
                <a:schemeClr val="bg1"/>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18" name="object 3">
            <a:extLst>
              <a:ext uri="{FF2B5EF4-FFF2-40B4-BE49-F238E27FC236}">
                <a16:creationId xmlns:a16="http://schemas.microsoft.com/office/drawing/2014/main" id="{EB2E557C-D487-4FCA-B2EC-434D2F03DBF5}"/>
              </a:ext>
            </a:extLst>
          </p:cNvPr>
          <p:cNvSpPr txBox="1"/>
          <p:nvPr/>
        </p:nvSpPr>
        <p:spPr>
          <a:xfrm>
            <a:off x="2303995" y="-12374"/>
            <a:ext cx="2304200" cy="630942"/>
          </a:xfrm>
          <a:prstGeom prst="rect">
            <a:avLst/>
          </a:prstGeom>
          <a:solidFill>
            <a:srgbClr val="3333B2"/>
          </a:solidFill>
        </p:spPr>
        <p:txBody>
          <a:bodyPr vert="horz" wrap="square" lIns="0" tIns="0" rIns="0" bIns="0" rtlCol="0">
            <a:spAutoFit/>
          </a:bodyPr>
          <a:lstStyle/>
          <a:p>
            <a:pPr>
              <a:lnSpc>
                <a:spcPct val="100000"/>
              </a:lnSpc>
            </a:pPr>
            <a:endParaRPr sz="600" dirty="0">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Motivation</a:t>
            </a:r>
            <a:endParaRPr lang="en-US" sz="600" dirty="0">
              <a:solidFill>
                <a:schemeClr val="bg1">
                  <a:lumMod val="65000"/>
                </a:schemeClr>
              </a:solidFill>
              <a:latin typeface="Times New Roman"/>
              <a:cs typeface="Times New Roman"/>
            </a:endParaRPr>
          </a:p>
          <a:p>
            <a:pPr marL="107950" marR="1579245">
              <a:lnSpc>
                <a:spcPts val="670"/>
              </a:lnSpc>
            </a:pPr>
            <a:r>
              <a:rPr lang="en-US" sz="600" b="1" spc="-10" dirty="0">
                <a:solidFill>
                  <a:schemeClr val="bg1"/>
                </a:solidFill>
                <a:latin typeface="Arial"/>
                <a:cs typeface="Arial"/>
              </a:rPr>
              <a:t>Related</a:t>
            </a:r>
            <a:r>
              <a:rPr lang="en-US" sz="600" b="1" spc="10" dirty="0">
                <a:solidFill>
                  <a:schemeClr val="bg1"/>
                </a:solidFill>
                <a:latin typeface="Arial"/>
                <a:cs typeface="Arial"/>
              </a:rPr>
              <a:t> </a:t>
            </a:r>
            <a:r>
              <a:rPr lang="en-US" sz="600" b="1" spc="-10" dirty="0">
                <a:solidFill>
                  <a:schemeClr val="bg1"/>
                </a:solidFill>
                <a:latin typeface="Arial"/>
                <a:cs typeface="Arial"/>
              </a:rPr>
              <a:t>literature</a:t>
            </a:r>
            <a:endParaRPr lang="en-US" sz="600" b="1" spc="-10" dirty="0">
              <a:solidFill>
                <a:schemeClr val="bg1"/>
              </a:solidFill>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Contribution</a:t>
            </a:r>
            <a:r>
              <a:rPr lang="en-US" sz="600" b="1" spc="500" dirty="0">
                <a:solidFill>
                  <a:schemeClr val="bg1">
                    <a:lumMod val="65000"/>
                  </a:schemeClr>
                </a:solidFill>
                <a:latin typeface="Arial"/>
                <a:cs typeface="Arial"/>
              </a:rPr>
              <a:t> </a:t>
            </a: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p:txBody>
      </p:sp>
    </p:spTree>
    <p:extLst>
      <p:ext uri="{BB962C8B-B14F-4D97-AF65-F5344CB8AC3E}">
        <p14:creationId xmlns:p14="http://schemas.microsoft.com/office/powerpoint/2010/main" val="3098408295"/>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0" y="548005"/>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spc="-25" dirty="0">
                <a:solidFill>
                  <a:srgbClr val="FFFFFF"/>
                </a:solidFill>
                <a:latin typeface="Tahoma"/>
                <a:cs typeface="Tahoma"/>
              </a:rPr>
              <a:t>Contribution</a:t>
            </a:r>
            <a:endParaRPr sz="1400" dirty="0">
              <a:latin typeface="Tahoma"/>
              <a:cs typeface="Tahoma"/>
            </a:endParaRPr>
          </a:p>
        </p:txBody>
      </p:sp>
      <p:sp>
        <p:nvSpPr>
          <p:cNvPr id="5" name="object 5"/>
          <p:cNvSpPr txBox="1"/>
          <p:nvPr/>
        </p:nvSpPr>
        <p:spPr>
          <a:xfrm>
            <a:off x="171450" y="877420"/>
            <a:ext cx="3855720" cy="2253822"/>
          </a:xfrm>
          <a:prstGeom prst="rect">
            <a:avLst/>
          </a:prstGeom>
        </p:spPr>
        <p:txBody>
          <a:bodyPr vert="horz" wrap="square" lIns="0" tIns="98425" rIns="0" bIns="0" rtlCol="0">
            <a:spAutoFit/>
          </a:bodyPr>
          <a:lstStyle/>
          <a:p>
            <a:pPr marL="50165" marR="542290">
              <a:lnSpc>
                <a:spcPts val="1200"/>
              </a:lnSpc>
              <a:spcBef>
                <a:spcPts val="810"/>
              </a:spcBef>
              <a:buClr>
                <a:srgbClr val="3333B2"/>
              </a:buClr>
              <a:buSzPct val="72727"/>
              <a:tabLst>
                <a:tab pos="199390" algn="l"/>
              </a:tabLst>
            </a:pPr>
            <a:endParaRPr sz="1100" b="1"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This paper contributes to the literature multifold.</a:t>
            </a:r>
          </a:p>
          <a:p>
            <a:pPr marL="475615" lvl="1" indent="-137795">
              <a:lnSpc>
                <a:spcPts val="1150"/>
              </a:lnSpc>
              <a:buClr>
                <a:srgbClr val="3333B2"/>
              </a:buClr>
              <a:buSzPct val="60000"/>
              <a:buFont typeface="Arial"/>
              <a:buChar char="►"/>
              <a:tabLst>
                <a:tab pos="476250" algn="l"/>
              </a:tabLst>
            </a:pPr>
            <a:endParaRPr lang="en-US" sz="100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First, the current study takes the case of Saudi Arabia, the second largest oil producer in the world, thus highly affected by oil price fluctuations</a:t>
            </a:r>
          </a:p>
          <a:p>
            <a:pPr marL="337820" lvl="1">
              <a:lnSpc>
                <a:spcPts val="1150"/>
              </a:lnSpc>
              <a:buClr>
                <a:srgbClr val="3333B2"/>
              </a:buClr>
              <a:buSzPct val="60000"/>
              <a:tabLst>
                <a:tab pos="476250" algn="l"/>
              </a:tabLst>
            </a:pPr>
            <a:endParaRPr lang="en-US" sz="1000" spc="-2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Second, the study employs data from 2007 to 2022, a critical period which involves many global price shocks.</a:t>
            </a:r>
          </a:p>
          <a:p>
            <a:pPr marL="475615" lvl="1" indent="-137795">
              <a:lnSpc>
                <a:spcPts val="1150"/>
              </a:lnSpc>
              <a:buClr>
                <a:srgbClr val="3333B2"/>
              </a:buClr>
              <a:buSzPct val="60000"/>
              <a:buFont typeface="Arial"/>
              <a:buChar char="►"/>
              <a:tabLst>
                <a:tab pos="476250" algn="l"/>
              </a:tabLst>
            </a:pPr>
            <a:endParaRPr lang="en-US" sz="1000" dirty="0">
              <a:latin typeface="Tahoma"/>
              <a:cs typeface="Tahoma"/>
            </a:endParaRPr>
          </a:p>
          <a:p>
            <a:pPr marL="475615" lvl="1" indent="-137795">
              <a:lnSpc>
                <a:spcPts val="1150"/>
              </a:lnSpc>
              <a:buClr>
                <a:srgbClr val="3333B2"/>
              </a:buClr>
              <a:buSzPct val="60000"/>
              <a:buFont typeface="Arial"/>
              <a:buChar char="►"/>
              <a:tabLst>
                <a:tab pos="476250" algn="l"/>
              </a:tabLst>
            </a:pPr>
            <a:r>
              <a:rPr lang="en-US" sz="1000" dirty="0">
                <a:latin typeface="Tahoma"/>
                <a:cs typeface="Tahoma"/>
              </a:rPr>
              <a:t>Lastly, the study may have important policy implications for the government and policymakers, related to economic diversification, energy policies and investment strategies.</a:t>
            </a:r>
          </a:p>
          <a:p>
            <a:pPr marL="337820" lvl="1">
              <a:lnSpc>
                <a:spcPts val="1150"/>
              </a:lnSpc>
              <a:buClr>
                <a:srgbClr val="3333B2"/>
              </a:buClr>
              <a:buSzPct val="60000"/>
              <a:tabLst>
                <a:tab pos="476250" algn="l"/>
              </a:tabLst>
            </a:pPr>
            <a:endParaRPr lang="en-US" sz="1000" dirty="0">
              <a:latin typeface="Tahoma"/>
              <a:cs typeface="Tahoma"/>
            </a:endParaRPr>
          </a:p>
        </p:txBody>
      </p:sp>
      <p:grpSp>
        <p:nvGrpSpPr>
          <p:cNvPr id="6" name="object 6"/>
          <p:cNvGrpSpPr/>
          <p:nvPr/>
        </p:nvGrpSpPr>
        <p:grpSpPr>
          <a:xfrm>
            <a:off x="0" y="3329876"/>
            <a:ext cx="4608195" cy="126364"/>
            <a:chOff x="0" y="3329876"/>
            <a:chExt cx="4608195" cy="126364"/>
          </a:xfrm>
        </p:grpSpPr>
        <p:sp>
          <p:nvSpPr>
            <p:cNvPr id="7" name="object 7"/>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8" name="object 8"/>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5" name="object 3">
            <a:extLst>
              <a:ext uri="{FF2B5EF4-FFF2-40B4-BE49-F238E27FC236}">
                <a16:creationId xmlns:a16="http://schemas.microsoft.com/office/drawing/2014/main" id="{50EF2F0C-7CD5-4EBF-B096-A1BF676B7FE2}"/>
              </a:ext>
            </a:extLst>
          </p:cNvPr>
          <p:cNvSpPr txBox="1"/>
          <p:nvPr/>
        </p:nvSpPr>
        <p:spPr>
          <a:xfrm>
            <a:off x="2303995" y="-12374"/>
            <a:ext cx="2304200" cy="630942"/>
          </a:xfrm>
          <a:prstGeom prst="rect">
            <a:avLst/>
          </a:prstGeom>
          <a:solidFill>
            <a:srgbClr val="3333B2"/>
          </a:solidFill>
        </p:spPr>
        <p:txBody>
          <a:bodyPr vert="horz" wrap="square" lIns="0" tIns="0" rIns="0" bIns="0" rtlCol="0">
            <a:spAutoFit/>
          </a:bodyPr>
          <a:lstStyle/>
          <a:p>
            <a:pPr>
              <a:lnSpc>
                <a:spcPct val="100000"/>
              </a:lnSpc>
            </a:pPr>
            <a:endParaRPr sz="600" dirty="0">
              <a:latin typeface="Times New Roman"/>
              <a:cs typeface="Times New Roman"/>
            </a:endParaRPr>
          </a:p>
          <a:p>
            <a:pPr marL="107950" marR="1579245">
              <a:lnSpc>
                <a:spcPts val="670"/>
              </a:lnSpc>
            </a:pPr>
            <a:r>
              <a:rPr lang="en-US" sz="600" b="1" spc="-10" dirty="0">
                <a:solidFill>
                  <a:schemeClr val="bg1">
                    <a:lumMod val="65000"/>
                  </a:schemeClr>
                </a:solidFill>
                <a:latin typeface="Arial"/>
                <a:cs typeface="Arial"/>
              </a:rPr>
              <a:t>Motivation</a:t>
            </a:r>
            <a:endParaRPr lang="en-US" sz="600" dirty="0">
              <a:solidFill>
                <a:schemeClr val="bg1">
                  <a:lumMod val="65000"/>
                </a:schemeClr>
              </a:solidFill>
              <a:latin typeface="Times New Roman"/>
              <a:cs typeface="Times New Roman"/>
            </a:endParaRPr>
          </a:p>
          <a:p>
            <a:pPr marL="107950" marR="1579245">
              <a:lnSpc>
                <a:spcPts val="670"/>
              </a:lnSpc>
            </a:pPr>
            <a:r>
              <a:rPr lang="en-US" sz="600" b="1" spc="-10" dirty="0">
                <a:solidFill>
                  <a:srgbClr val="9898D8"/>
                </a:solidFill>
                <a:latin typeface="Arial"/>
                <a:cs typeface="Arial"/>
              </a:rPr>
              <a:t>Related</a:t>
            </a:r>
            <a:r>
              <a:rPr lang="en-US" sz="600" b="1" spc="10" dirty="0">
                <a:solidFill>
                  <a:srgbClr val="9898D8"/>
                </a:solidFill>
                <a:latin typeface="Arial"/>
                <a:cs typeface="Arial"/>
              </a:rPr>
              <a:t> </a:t>
            </a:r>
            <a:r>
              <a:rPr lang="en-US" sz="600" b="1" spc="-10" dirty="0">
                <a:solidFill>
                  <a:srgbClr val="9898D8"/>
                </a:solidFill>
                <a:latin typeface="Arial"/>
                <a:cs typeface="Arial"/>
              </a:rPr>
              <a:t>literature</a:t>
            </a:r>
            <a:endParaRPr lang="en-US" sz="600" b="1" spc="-10" dirty="0">
              <a:solidFill>
                <a:srgbClr val="FFFFFF"/>
              </a:solidFill>
              <a:latin typeface="Times New Roman"/>
              <a:cs typeface="Times New Roman"/>
            </a:endParaRPr>
          </a:p>
          <a:p>
            <a:pPr marL="107950" marR="1579245">
              <a:lnSpc>
                <a:spcPts val="670"/>
              </a:lnSpc>
            </a:pPr>
            <a:r>
              <a:rPr lang="en-US" sz="600" b="1" spc="-10" dirty="0">
                <a:solidFill>
                  <a:schemeClr val="bg1"/>
                </a:solidFill>
                <a:latin typeface="Arial"/>
                <a:cs typeface="Arial"/>
              </a:rPr>
              <a:t>Contribution</a:t>
            </a:r>
            <a:r>
              <a:rPr lang="en-US" sz="600" b="1" spc="500" dirty="0">
                <a:solidFill>
                  <a:schemeClr val="bg1"/>
                </a:solidFill>
                <a:latin typeface="Arial"/>
                <a:cs typeface="Arial"/>
              </a:rPr>
              <a:t> </a:t>
            </a: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a:p>
            <a:pPr marL="107950" marR="1579245">
              <a:lnSpc>
                <a:spcPts val="670"/>
              </a:lnSpc>
            </a:pPr>
            <a:endParaRPr lang="en-US" sz="600" b="1" spc="500" dirty="0">
              <a:solidFill>
                <a:srgbClr val="FFFFFF"/>
              </a:solidFill>
              <a:latin typeface="Arial"/>
              <a:cs typeface="Arial"/>
            </a:endParaRPr>
          </a:p>
        </p:txBody>
      </p:sp>
      <p:sp>
        <p:nvSpPr>
          <p:cNvPr id="14" name="object 13">
            <a:extLst>
              <a:ext uri="{FF2B5EF4-FFF2-40B4-BE49-F238E27FC236}">
                <a16:creationId xmlns:a16="http://schemas.microsoft.com/office/drawing/2014/main" id="{39B4E7C7-FEC8-4B2B-8741-9C013DB7AE52}"/>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6" name="object 14">
            <a:extLst>
              <a:ext uri="{FF2B5EF4-FFF2-40B4-BE49-F238E27FC236}">
                <a16:creationId xmlns:a16="http://schemas.microsoft.com/office/drawing/2014/main" id="{A25A3687-140F-4037-A4AB-9E75B4D4E547}"/>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7" name="object 2">
            <a:extLst>
              <a:ext uri="{FF2B5EF4-FFF2-40B4-BE49-F238E27FC236}">
                <a16:creationId xmlns:a16="http://schemas.microsoft.com/office/drawing/2014/main" id="{CDE37429-F97B-4A41-8E08-0D7610A68EE1}"/>
              </a:ext>
            </a:extLst>
          </p:cNvPr>
          <p:cNvSpPr txBox="1"/>
          <p:nvPr/>
        </p:nvSpPr>
        <p:spPr>
          <a:xfrm>
            <a:off x="373232" y="-23713"/>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chemeClr val="bg1"/>
                </a:solidFill>
                <a:latin typeface="Arial"/>
                <a:cs typeface="Arial"/>
              </a:rPr>
              <a:t>Introducti</a:t>
            </a:r>
            <a:r>
              <a:rPr lang="en-US" sz="600" b="1" spc="-20" dirty="0">
                <a:solidFill>
                  <a:schemeClr val="bg1"/>
                </a:solidFill>
                <a:latin typeface="Arial"/>
                <a:cs typeface="Arial"/>
              </a:rPr>
              <a:t>on</a:t>
            </a:r>
            <a:r>
              <a:rPr lang="en-US" sz="600" b="1" spc="500" dirty="0">
                <a:solidFill>
                  <a:schemeClr val="bg1"/>
                </a:solidFill>
                <a:latin typeface="Arial"/>
                <a:cs typeface="Arial"/>
              </a:rPr>
              <a:t> </a:t>
            </a:r>
            <a:endParaRPr lang="en-US" sz="600" dirty="0">
              <a:solidFill>
                <a:schemeClr val="bg1"/>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Tree>
    <p:extLst>
      <p:ext uri="{BB962C8B-B14F-4D97-AF65-F5344CB8AC3E}">
        <p14:creationId xmlns:p14="http://schemas.microsoft.com/office/powerpoint/2010/main" val="1671025251"/>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4" name="object 4"/>
          <p:cNvSpPr txBox="1"/>
          <p:nvPr/>
        </p:nvSpPr>
        <p:spPr>
          <a:xfrm>
            <a:off x="2399296" y="114324"/>
            <a:ext cx="1645654" cy="314830"/>
          </a:xfrm>
          <a:prstGeom prst="rect">
            <a:avLst/>
          </a:prstGeom>
        </p:spPr>
        <p:txBody>
          <a:bodyPr vert="horz" wrap="square" lIns="0" tIns="12065" rIns="0" bIns="0" rtlCol="0">
            <a:spAutoFit/>
          </a:bodyPr>
          <a:lstStyle/>
          <a:p>
            <a:pPr>
              <a:lnSpc>
                <a:spcPct val="100000"/>
              </a:lnSpc>
              <a:spcBef>
                <a:spcPts val="95"/>
              </a:spcBef>
            </a:pPr>
            <a:r>
              <a:rPr lang="en-US" sz="600" b="1" dirty="0">
                <a:solidFill>
                  <a:srgbClr val="FFFFFF"/>
                </a:solidFill>
                <a:latin typeface="Arial"/>
                <a:cs typeface="Arial"/>
              </a:rPr>
              <a:t>Descriptive Statistics</a:t>
            </a:r>
          </a:p>
          <a:p>
            <a:pPr>
              <a:lnSpc>
                <a:spcPct val="100000"/>
              </a:lnSpc>
              <a:spcBef>
                <a:spcPts val="95"/>
              </a:spcBef>
            </a:pPr>
            <a:r>
              <a:rPr lang="en-US" sz="600" b="1" dirty="0">
                <a:solidFill>
                  <a:schemeClr val="bg1">
                    <a:lumMod val="65000"/>
                  </a:schemeClr>
                </a:solidFill>
                <a:latin typeface="Arial"/>
                <a:cs typeface="Arial"/>
              </a:rPr>
              <a:t>Preliminary Analysis</a:t>
            </a:r>
          </a:p>
          <a:p>
            <a:pPr>
              <a:lnSpc>
                <a:spcPct val="100000"/>
              </a:lnSpc>
              <a:spcBef>
                <a:spcPts val="95"/>
              </a:spcBef>
            </a:pPr>
            <a:r>
              <a:rPr lang="en-US" sz="600" b="1" dirty="0">
                <a:solidFill>
                  <a:schemeClr val="bg1">
                    <a:lumMod val="65000"/>
                  </a:schemeClr>
                </a:solidFill>
                <a:latin typeface="Arial"/>
                <a:cs typeface="Arial"/>
              </a:rPr>
              <a:t>Unit root tests</a:t>
            </a:r>
            <a:endParaRPr sz="600" dirty="0">
              <a:solidFill>
                <a:schemeClr val="bg1">
                  <a:lumMod val="65000"/>
                </a:schemeClr>
              </a:solidFill>
              <a:latin typeface="Arial"/>
              <a:cs typeface="Arial"/>
            </a:endParaRPr>
          </a:p>
        </p:txBody>
      </p:sp>
      <p:sp>
        <p:nvSpPr>
          <p:cNvPr id="5" name="object 5"/>
          <p:cNvSpPr txBox="1"/>
          <p:nvPr/>
        </p:nvSpPr>
        <p:spPr>
          <a:xfrm>
            <a:off x="0" y="548005"/>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b="1" dirty="0">
                <a:solidFill>
                  <a:srgbClr val="FFFFFF"/>
                </a:solidFill>
                <a:latin typeface="Tahoma"/>
                <a:cs typeface="Tahoma"/>
              </a:rPr>
              <a:t>Data</a:t>
            </a:r>
            <a:r>
              <a:rPr lang="en-US" sz="1400" dirty="0">
                <a:solidFill>
                  <a:srgbClr val="FFFFFF"/>
                </a:solidFill>
                <a:latin typeface="Tahoma"/>
                <a:cs typeface="Tahoma"/>
              </a:rPr>
              <a:t>: Descriptive Statistics:</a:t>
            </a:r>
            <a:endParaRPr sz="1400" dirty="0">
              <a:latin typeface="Tahoma"/>
              <a:cs typeface="Tahoma"/>
            </a:endParaRPr>
          </a:p>
        </p:txBody>
      </p:sp>
      <p:sp>
        <p:nvSpPr>
          <p:cNvPr id="6" name="object 6"/>
          <p:cNvSpPr txBox="1"/>
          <p:nvPr/>
        </p:nvSpPr>
        <p:spPr>
          <a:xfrm>
            <a:off x="171450" y="1078736"/>
            <a:ext cx="4343400" cy="2199961"/>
          </a:xfrm>
          <a:prstGeom prst="rect">
            <a:avLst/>
          </a:prstGeom>
        </p:spPr>
        <p:txBody>
          <a:bodyPr vert="horz" wrap="square" lIns="0" tIns="6985" rIns="0" bIns="0" rtlCol="0">
            <a:spAutoFit/>
          </a:bodyPr>
          <a:lstStyle/>
          <a:p>
            <a:pPr marL="198755" marR="17780" indent="-148590">
              <a:lnSpc>
                <a:spcPct val="102600"/>
              </a:lnSpc>
              <a:spcBef>
                <a:spcPts val="55"/>
              </a:spcBef>
              <a:buClr>
                <a:srgbClr val="3333B2"/>
              </a:buClr>
              <a:buSzPct val="72727"/>
              <a:buFont typeface="Lucida Sans Unicode"/>
              <a:buChar char="►"/>
              <a:tabLst>
                <a:tab pos="199390" algn="l"/>
              </a:tabLst>
            </a:pPr>
            <a:r>
              <a:rPr lang="en-US" sz="1100" dirty="0">
                <a:latin typeface="Tahoma"/>
                <a:cs typeface="Tahoma"/>
              </a:rPr>
              <a:t>The study relies on time series data from Federal Reserve Economic Data (FRED)</a:t>
            </a:r>
          </a:p>
          <a:p>
            <a:pPr marL="198755" marR="17780" indent="-148590">
              <a:lnSpc>
                <a:spcPct val="102600"/>
              </a:lnSpc>
              <a:spcBef>
                <a:spcPts val="55"/>
              </a:spcBef>
              <a:buClr>
                <a:srgbClr val="3333B2"/>
              </a:buClr>
              <a:buSzPct val="72727"/>
              <a:buFont typeface="Lucida Sans Unicode"/>
              <a:buChar char="►"/>
              <a:tabLst>
                <a:tab pos="199390" algn="l"/>
              </a:tabLst>
            </a:pPr>
            <a:endParaRPr lang="en-US" sz="11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100" dirty="0">
                <a:latin typeface="Tahoma"/>
                <a:cs typeface="Tahoma"/>
              </a:rPr>
              <a:t>Data quarterly spans the period from 2005: Q1 to 2022: Q4; data adds up to 71 observations.</a:t>
            </a:r>
          </a:p>
          <a:p>
            <a:pPr marL="198755" marR="17780" indent="-148590">
              <a:lnSpc>
                <a:spcPct val="102600"/>
              </a:lnSpc>
              <a:spcBef>
                <a:spcPts val="55"/>
              </a:spcBef>
              <a:buClr>
                <a:srgbClr val="3333B2"/>
              </a:buClr>
              <a:buSzPct val="72727"/>
              <a:buFont typeface="Lucida Sans Unicode"/>
              <a:buChar char="►"/>
              <a:tabLst>
                <a:tab pos="199390" algn="l"/>
              </a:tabLst>
            </a:pPr>
            <a:endParaRPr lang="en-US" sz="11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100" dirty="0">
                <a:latin typeface="Tahoma"/>
                <a:cs typeface="Tahoma"/>
              </a:rPr>
              <a:t>Three variables are employed:</a:t>
            </a:r>
          </a:p>
          <a:p>
            <a:pPr marL="198755" marR="17780" indent="-148590">
              <a:lnSpc>
                <a:spcPct val="102600"/>
              </a:lnSpc>
              <a:spcBef>
                <a:spcPts val="55"/>
              </a:spcBef>
              <a:buClr>
                <a:srgbClr val="3333B2"/>
              </a:buClr>
              <a:buSzPct val="72727"/>
              <a:buFont typeface="Lucida Sans Unicode"/>
              <a:buChar char="►"/>
              <a:tabLst>
                <a:tab pos="199390" algn="l"/>
              </a:tabLst>
            </a:pPr>
            <a:r>
              <a:rPr lang="en-US" sz="1100" dirty="0">
                <a:latin typeface="Tahoma"/>
                <a:cs typeface="Tahoma"/>
              </a:rPr>
              <a:t>1. Real gross domestic product (proxy for deflated total output)</a:t>
            </a:r>
          </a:p>
          <a:p>
            <a:pPr marL="198755" marR="17780" indent="-148590">
              <a:lnSpc>
                <a:spcPct val="102600"/>
              </a:lnSpc>
              <a:spcBef>
                <a:spcPts val="55"/>
              </a:spcBef>
              <a:buClr>
                <a:srgbClr val="3333B2"/>
              </a:buClr>
              <a:buSzPct val="72727"/>
              <a:buFont typeface="Lucida Sans Unicode"/>
              <a:buChar char="►"/>
              <a:tabLst>
                <a:tab pos="199390" algn="l"/>
              </a:tabLst>
            </a:pPr>
            <a:r>
              <a:rPr lang="en-US" sz="1100" dirty="0">
                <a:latin typeface="Tahoma"/>
                <a:cs typeface="Tahoma"/>
              </a:rPr>
              <a:t>2. Brent crude oil price (benchmark for global oil price)</a:t>
            </a:r>
          </a:p>
          <a:p>
            <a:pPr marL="198755" marR="17780" indent="-148590">
              <a:lnSpc>
                <a:spcPct val="102600"/>
              </a:lnSpc>
              <a:spcBef>
                <a:spcPts val="55"/>
              </a:spcBef>
              <a:buClr>
                <a:srgbClr val="3333B2"/>
              </a:buClr>
              <a:buSzPct val="72727"/>
              <a:buFont typeface="Lucida Sans Unicode"/>
              <a:buChar char="►"/>
              <a:tabLst>
                <a:tab pos="199390" algn="l"/>
              </a:tabLst>
            </a:pPr>
            <a:r>
              <a:rPr lang="en-US" sz="1100" dirty="0">
                <a:latin typeface="Tahoma"/>
                <a:cs typeface="Tahoma"/>
              </a:rPr>
              <a:t>3. Consumer price index (proxy for inflation)</a:t>
            </a:r>
          </a:p>
          <a:p>
            <a:pPr marL="198755" marR="17780" indent="-148590">
              <a:lnSpc>
                <a:spcPct val="102600"/>
              </a:lnSpc>
              <a:spcBef>
                <a:spcPts val="55"/>
              </a:spcBef>
              <a:buClr>
                <a:srgbClr val="3333B2"/>
              </a:buClr>
              <a:buSzPct val="72727"/>
              <a:buFont typeface="Lucida Sans Unicode"/>
              <a:buChar char="►"/>
              <a:tabLst>
                <a:tab pos="199390" algn="l"/>
              </a:tabLst>
            </a:pPr>
            <a:endParaRPr lang="en-US" sz="11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endParaRPr lang="en-US" sz="1100" dirty="0">
              <a:latin typeface="Tahoma"/>
              <a:cs typeface="Tahoma"/>
            </a:endParaRP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21" name="object 2">
            <a:extLst>
              <a:ext uri="{FF2B5EF4-FFF2-40B4-BE49-F238E27FC236}">
                <a16:creationId xmlns:a16="http://schemas.microsoft.com/office/drawing/2014/main" id="{33E93D8B-A025-4D3F-90CD-CCA48F1EED49}"/>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chemeClr val="bg1">
                    <a:lumMod val="65000"/>
                  </a:schemeClr>
                </a:solidFill>
                <a:latin typeface="Arial"/>
                <a:cs typeface="Arial"/>
              </a:rPr>
              <a:t> </a:t>
            </a:r>
            <a:r>
              <a:rPr sz="600" b="1" spc="-20" dirty="0">
                <a:solidFill>
                  <a:schemeClr val="bg1">
                    <a:lumMod val="65000"/>
                  </a:schemeClr>
                </a:solidFill>
                <a:latin typeface="Arial"/>
                <a:cs typeface="Arial"/>
              </a:rPr>
              <a:t>Introducti</a:t>
            </a:r>
            <a:r>
              <a:rPr lang="en-US" sz="600" b="1" spc="-20" dirty="0">
                <a:solidFill>
                  <a:schemeClr val="bg1">
                    <a:lumMod val="65000"/>
                  </a:schemeClr>
                </a:solidFill>
                <a:latin typeface="Arial"/>
                <a:cs typeface="Arial"/>
              </a:rPr>
              <a:t>on</a:t>
            </a:r>
            <a:r>
              <a:rPr lang="en-US" sz="600" b="1" spc="500" dirty="0">
                <a:solidFill>
                  <a:schemeClr val="bg1">
                    <a:lumMod val="65000"/>
                  </a:schemeClr>
                </a:solidFill>
                <a:latin typeface="Arial"/>
                <a:cs typeface="Arial"/>
              </a:rPr>
              <a:t> </a:t>
            </a:r>
            <a:endParaRPr lang="en-US" sz="600" dirty="0">
              <a:solidFill>
                <a:schemeClr val="bg1">
                  <a:lumMod val="65000"/>
                </a:schemeClr>
              </a:solidFill>
              <a:latin typeface="Arial"/>
              <a:cs typeface="Arial"/>
            </a:endParaRPr>
          </a:p>
          <a:p>
            <a:pPr marR="5080" algn="r">
              <a:lnSpc>
                <a:spcPts val="625"/>
              </a:lnSpc>
            </a:pPr>
            <a:r>
              <a:rPr lang="en-US" sz="600" b="1" dirty="0">
                <a:solidFill>
                  <a:schemeClr val="bg1"/>
                </a:solidFill>
                <a:latin typeface="Arial"/>
                <a:cs typeface="Arial"/>
              </a:rPr>
              <a:t>Data</a:t>
            </a:r>
            <a:endParaRPr sz="600" dirty="0">
              <a:solidFill>
                <a:schemeClr val="bg1"/>
              </a:solidFill>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22" name="object 13">
            <a:extLst>
              <a:ext uri="{FF2B5EF4-FFF2-40B4-BE49-F238E27FC236}">
                <a16:creationId xmlns:a16="http://schemas.microsoft.com/office/drawing/2014/main" id="{C5EC842A-4A07-4756-AABA-288DA3B75A5A}"/>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23" name="object 14">
            <a:extLst>
              <a:ext uri="{FF2B5EF4-FFF2-40B4-BE49-F238E27FC236}">
                <a16:creationId xmlns:a16="http://schemas.microsoft.com/office/drawing/2014/main" id="{20990A34-7735-47F5-825E-2991A71BED1B}"/>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4" name="object 4"/>
          <p:cNvSpPr txBox="1"/>
          <p:nvPr/>
        </p:nvSpPr>
        <p:spPr>
          <a:xfrm>
            <a:off x="2399296" y="114324"/>
            <a:ext cx="1645654" cy="314830"/>
          </a:xfrm>
          <a:prstGeom prst="rect">
            <a:avLst/>
          </a:prstGeom>
        </p:spPr>
        <p:txBody>
          <a:bodyPr vert="horz" wrap="square" lIns="0" tIns="12065" rIns="0" bIns="0" rtlCol="0">
            <a:spAutoFit/>
          </a:bodyPr>
          <a:lstStyle/>
          <a:p>
            <a:pPr>
              <a:lnSpc>
                <a:spcPct val="100000"/>
              </a:lnSpc>
              <a:spcBef>
                <a:spcPts val="95"/>
              </a:spcBef>
            </a:pPr>
            <a:r>
              <a:rPr lang="en-US" sz="600" b="1" dirty="0">
                <a:solidFill>
                  <a:schemeClr val="bg1"/>
                </a:solidFill>
                <a:latin typeface="Arial"/>
                <a:cs typeface="Arial"/>
              </a:rPr>
              <a:t>Descriptive Statistics</a:t>
            </a:r>
          </a:p>
          <a:p>
            <a:pPr>
              <a:lnSpc>
                <a:spcPct val="100000"/>
              </a:lnSpc>
              <a:spcBef>
                <a:spcPts val="95"/>
              </a:spcBef>
            </a:pPr>
            <a:r>
              <a:rPr lang="en-US" sz="600" b="1" dirty="0">
                <a:solidFill>
                  <a:schemeClr val="bg1">
                    <a:lumMod val="65000"/>
                  </a:schemeClr>
                </a:solidFill>
                <a:latin typeface="Arial"/>
                <a:cs typeface="Arial"/>
              </a:rPr>
              <a:t>Preliminary Analysis</a:t>
            </a:r>
          </a:p>
          <a:p>
            <a:pPr>
              <a:lnSpc>
                <a:spcPct val="100000"/>
              </a:lnSpc>
              <a:spcBef>
                <a:spcPts val="95"/>
              </a:spcBef>
            </a:pPr>
            <a:r>
              <a:rPr lang="en-US" sz="600" b="1" dirty="0">
                <a:solidFill>
                  <a:schemeClr val="bg1">
                    <a:lumMod val="65000"/>
                  </a:schemeClr>
                </a:solidFill>
                <a:latin typeface="Arial"/>
                <a:cs typeface="Arial"/>
              </a:rPr>
              <a:t>Unit root tests</a:t>
            </a:r>
            <a:endParaRPr sz="600" dirty="0">
              <a:solidFill>
                <a:schemeClr val="bg1">
                  <a:lumMod val="65000"/>
                </a:schemeClr>
              </a:solidFill>
              <a:latin typeface="Arial"/>
              <a:cs typeface="Arial"/>
            </a:endParaRPr>
          </a:p>
        </p:txBody>
      </p:sp>
      <p:sp>
        <p:nvSpPr>
          <p:cNvPr id="6" name="object 6"/>
          <p:cNvSpPr txBox="1"/>
          <p:nvPr/>
        </p:nvSpPr>
        <p:spPr>
          <a:xfrm>
            <a:off x="171450" y="1078736"/>
            <a:ext cx="4343400" cy="353943"/>
          </a:xfrm>
          <a:prstGeom prst="rect">
            <a:avLst/>
          </a:prstGeom>
        </p:spPr>
        <p:txBody>
          <a:bodyPr vert="horz" wrap="square" lIns="0" tIns="6985" rIns="0" bIns="0" rtlCol="0">
            <a:spAutoFit/>
          </a:bodyPr>
          <a:lstStyle/>
          <a:p>
            <a:pPr marL="198755" marR="17780" indent="-148590">
              <a:lnSpc>
                <a:spcPct val="102600"/>
              </a:lnSpc>
              <a:spcBef>
                <a:spcPts val="55"/>
              </a:spcBef>
              <a:buClr>
                <a:srgbClr val="3333B2"/>
              </a:buClr>
              <a:buSzPct val="72727"/>
              <a:buFont typeface="Lucida Sans Unicode"/>
              <a:buChar char="►"/>
              <a:tabLst>
                <a:tab pos="199390" algn="l"/>
              </a:tabLst>
            </a:pPr>
            <a:endParaRPr lang="en-US" sz="11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endParaRPr lang="en-US" sz="1100" dirty="0">
              <a:latin typeface="Tahoma"/>
              <a:cs typeface="Tahoma"/>
            </a:endParaRP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21" name="object 2">
            <a:extLst>
              <a:ext uri="{FF2B5EF4-FFF2-40B4-BE49-F238E27FC236}">
                <a16:creationId xmlns:a16="http://schemas.microsoft.com/office/drawing/2014/main" id="{33E93D8B-A025-4D3F-90CD-CCA48F1EED49}"/>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chemeClr val="bg1">
                    <a:lumMod val="65000"/>
                  </a:schemeClr>
                </a:solidFill>
                <a:latin typeface="Arial"/>
                <a:cs typeface="Arial"/>
              </a:rPr>
              <a:t> </a:t>
            </a:r>
            <a:r>
              <a:rPr sz="600" b="1" spc="-20" dirty="0">
                <a:solidFill>
                  <a:schemeClr val="bg1">
                    <a:lumMod val="65000"/>
                  </a:schemeClr>
                </a:solidFill>
                <a:latin typeface="Arial"/>
                <a:cs typeface="Arial"/>
              </a:rPr>
              <a:t>Introducti</a:t>
            </a:r>
            <a:r>
              <a:rPr lang="en-US" sz="600" b="1" spc="-20" dirty="0">
                <a:solidFill>
                  <a:schemeClr val="bg1">
                    <a:lumMod val="65000"/>
                  </a:schemeClr>
                </a:solidFill>
                <a:latin typeface="Arial"/>
                <a:cs typeface="Arial"/>
              </a:rPr>
              <a:t>on</a:t>
            </a:r>
            <a:r>
              <a:rPr lang="en-US" sz="600" b="1" spc="500" dirty="0">
                <a:solidFill>
                  <a:schemeClr val="bg1">
                    <a:lumMod val="65000"/>
                  </a:schemeClr>
                </a:solidFill>
                <a:latin typeface="Arial"/>
                <a:cs typeface="Arial"/>
              </a:rPr>
              <a:t> </a:t>
            </a:r>
            <a:endParaRPr lang="en-US" sz="600" dirty="0">
              <a:solidFill>
                <a:schemeClr val="bg1">
                  <a:lumMod val="65000"/>
                </a:schemeClr>
              </a:solidFill>
              <a:latin typeface="Arial"/>
              <a:cs typeface="Arial"/>
            </a:endParaRPr>
          </a:p>
          <a:p>
            <a:pPr marR="5080" algn="r">
              <a:lnSpc>
                <a:spcPts val="625"/>
              </a:lnSpc>
            </a:pPr>
            <a:r>
              <a:rPr lang="en-US" sz="600" b="1" dirty="0">
                <a:solidFill>
                  <a:schemeClr val="bg1"/>
                </a:solidFill>
                <a:latin typeface="Arial"/>
                <a:cs typeface="Arial"/>
              </a:rPr>
              <a:t>Data</a:t>
            </a:r>
            <a:endParaRPr sz="600" dirty="0">
              <a:solidFill>
                <a:schemeClr val="bg1"/>
              </a:solidFill>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22" name="object 13">
            <a:extLst>
              <a:ext uri="{FF2B5EF4-FFF2-40B4-BE49-F238E27FC236}">
                <a16:creationId xmlns:a16="http://schemas.microsoft.com/office/drawing/2014/main" id="{C5EC842A-4A07-4756-AABA-288DA3B75A5A}"/>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23" name="object 14">
            <a:extLst>
              <a:ext uri="{FF2B5EF4-FFF2-40B4-BE49-F238E27FC236}">
                <a16:creationId xmlns:a16="http://schemas.microsoft.com/office/drawing/2014/main" id="{20990A34-7735-47F5-825E-2991A71BED1B}"/>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pic>
        <p:nvPicPr>
          <p:cNvPr id="12" name="Picture 11">
            <a:extLst>
              <a:ext uri="{FF2B5EF4-FFF2-40B4-BE49-F238E27FC236}">
                <a16:creationId xmlns:a16="http://schemas.microsoft.com/office/drawing/2014/main" id="{2EF9F47D-0ECF-4862-8F82-3CA67A70F19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 y="1109366"/>
            <a:ext cx="1543049" cy="1304063"/>
          </a:xfrm>
          <a:prstGeom prst="rect">
            <a:avLst/>
          </a:prstGeom>
        </p:spPr>
      </p:pic>
      <p:pic>
        <p:nvPicPr>
          <p:cNvPr id="13" name="Picture 12">
            <a:extLst>
              <a:ext uri="{FF2B5EF4-FFF2-40B4-BE49-F238E27FC236}">
                <a16:creationId xmlns:a16="http://schemas.microsoft.com/office/drawing/2014/main" id="{CADB60CA-8671-41AF-86EC-CE546707625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532255" y="1109366"/>
            <a:ext cx="1621790" cy="1334134"/>
          </a:xfrm>
          <a:prstGeom prst="rect">
            <a:avLst/>
          </a:prstGeom>
        </p:spPr>
      </p:pic>
      <p:pic>
        <p:nvPicPr>
          <p:cNvPr id="17" name="Picture 16">
            <a:extLst>
              <a:ext uri="{FF2B5EF4-FFF2-40B4-BE49-F238E27FC236}">
                <a16:creationId xmlns:a16="http://schemas.microsoft.com/office/drawing/2014/main" id="{8AE205F7-366B-4E4B-ACDB-AEC2AB37575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3124017" y="1109367"/>
            <a:ext cx="1502046" cy="1334134"/>
          </a:xfrm>
          <a:prstGeom prst="rect">
            <a:avLst/>
          </a:prstGeom>
        </p:spPr>
      </p:pic>
      <p:sp>
        <p:nvSpPr>
          <p:cNvPr id="2" name="TextBox 1">
            <a:extLst>
              <a:ext uri="{FF2B5EF4-FFF2-40B4-BE49-F238E27FC236}">
                <a16:creationId xmlns:a16="http://schemas.microsoft.com/office/drawing/2014/main" id="{9FE2C246-862C-46DE-A99B-CE0258441584}"/>
              </a:ext>
            </a:extLst>
          </p:cNvPr>
          <p:cNvSpPr txBox="1"/>
          <p:nvPr/>
        </p:nvSpPr>
        <p:spPr>
          <a:xfrm>
            <a:off x="353695" y="2533099"/>
            <a:ext cx="1543049" cy="338554"/>
          </a:xfrm>
          <a:prstGeom prst="rect">
            <a:avLst/>
          </a:prstGeom>
          <a:noFill/>
        </p:spPr>
        <p:txBody>
          <a:bodyPr wrap="square" rtlCol="0">
            <a:spAutoFit/>
          </a:bodyPr>
          <a:lstStyle/>
          <a:p>
            <a:r>
              <a:rPr lang="en-US" sz="800" dirty="0"/>
              <a:t>somehow volatile</a:t>
            </a:r>
          </a:p>
          <a:p>
            <a:r>
              <a:rPr lang="en-US" sz="800" dirty="0"/>
              <a:t>upward trend</a:t>
            </a:r>
          </a:p>
        </p:txBody>
      </p:sp>
      <p:sp>
        <p:nvSpPr>
          <p:cNvPr id="18" name="TextBox 17">
            <a:extLst>
              <a:ext uri="{FF2B5EF4-FFF2-40B4-BE49-F238E27FC236}">
                <a16:creationId xmlns:a16="http://schemas.microsoft.com/office/drawing/2014/main" id="{1E5C7050-A618-4A93-8436-0D6D688D789A}"/>
              </a:ext>
            </a:extLst>
          </p:cNvPr>
          <p:cNvSpPr txBox="1"/>
          <p:nvPr/>
        </p:nvSpPr>
        <p:spPr>
          <a:xfrm>
            <a:off x="1951303" y="2533099"/>
            <a:ext cx="1270820" cy="338554"/>
          </a:xfrm>
          <a:prstGeom prst="rect">
            <a:avLst/>
          </a:prstGeom>
          <a:noFill/>
        </p:spPr>
        <p:txBody>
          <a:bodyPr wrap="square" rtlCol="0">
            <a:spAutoFit/>
          </a:bodyPr>
          <a:lstStyle/>
          <a:p>
            <a:r>
              <a:rPr lang="en-US" sz="800" dirty="0"/>
              <a:t>more volatility during the period of study</a:t>
            </a:r>
          </a:p>
        </p:txBody>
      </p:sp>
      <p:sp>
        <p:nvSpPr>
          <p:cNvPr id="7" name="TextBox 6">
            <a:extLst>
              <a:ext uri="{FF2B5EF4-FFF2-40B4-BE49-F238E27FC236}">
                <a16:creationId xmlns:a16="http://schemas.microsoft.com/office/drawing/2014/main" id="{6C6EB3E1-CADF-4ACA-A7B1-B59A5A4CD330}"/>
              </a:ext>
            </a:extLst>
          </p:cNvPr>
          <p:cNvSpPr txBox="1"/>
          <p:nvPr/>
        </p:nvSpPr>
        <p:spPr>
          <a:xfrm>
            <a:off x="3515626" y="2606831"/>
            <a:ext cx="1058648" cy="215444"/>
          </a:xfrm>
          <a:prstGeom prst="rect">
            <a:avLst/>
          </a:prstGeom>
          <a:noFill/>
        </p:spPr>
        <p:txBody>
          <a:bodyPr wrap="square" rtlCol="0">
            <a:spAutoFit/>
          </a:bodyPr>
          <a:lstStyle/>
          <a:p>
            <a:r>
              <a:rPr lang="en-US" sz="800" dirty="0"/>
              <a:t>clear upward trend</a:t>
            </a:r>
          </a:p>
        </p:txBody>
      </p:sp>
      <p:sp>
        <p:nvSpPr>
          <p:cNvPr id="19" name="object 5">
            <a:extLst>
              <a:ext uri="{FF2B5EF4-FFF2-40B4-BE49-F238E27FC236}">
                <a16:creationId xmlns:a16="http://schemas.microsoft.com/office/drawing/2014/main" id="{7BF9A025-16F6-4E09-BF2B-0E63A1D0764B}"/>
              </a:ext>
            </a:extLst>
          </p:cNvPr>
          <p:cNvSpPr txBox="1"/>
          <p:nvPr/>
        </p:nvSpPr>
        <p:spPr>
          <a:xfrm>
            <a:off x="0" y="548005"/>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b="1" dirty="0">
                <a:solidFill>
                  <a:srgbClr val="FFFFFF"/>
                </a:solidFill>
                <a:latin typeface="Tahoma"/>
                <a:cs typeface="Tahoma"/>
              </a:rPr>
              <a:t>Data</a:t>
            </a:r>
            <a:r>
              <a:rPr lang="en-US" sz="1400" dirty="0">
                <a:solidFill>
                  <a:srgbClr val="FFFFFF"/>
                </a:solidFill>
                <a:latin typeface="Tahoma"/>
                <a:cs typeface="Tahoma"/>
              </a:rPr>
              <a:t>: Descriptive Statistics:</a:t>
            </a:r>
            <a:endParaRPr sz="1400" dirty="0">
              <a:latin typeface="Tahoma"/>
              <a:cs typeface="Tahoma"/>
            </a:endParaRPr>
          </a:p>
        </p:txBody>
      </p:sp>
    </p:spTree>
    <p:extLst>
      <p:ext uri="{BB962C8B-B14F-4D97-AF65-F5344CB8AC3E}">
        <p14:creationId xmlns:p14="http://schemas.microsoft.com/office/powerpoint/2010/main" val="3109814799"/>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dirty="0"/>
          </a:p>
        </p:txBody>
      </p:sp>
      <p:sp>
        <p:nvSpPr>
          <p:cNvPr id="5" name="object 5"/>
          <p:cNvSpPr txBox="1"/>
          <p:nvPr/>
        </p:nvSpPr>
        <p:spPr>
          <a:xfrm>
            <a:off x="0" y="505123"/>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b="1" dirty="0">
                <a:solidFill>
                  <a:srgbClr val="FFFFFF"/>
                </a:solidFill>
                <a:latin typeface="Tahoma"/>
                <a:cs typeface="Tahoma"/>
              </a:rPr>
              <a:t>Data: </a:t>
            </a:r>
            <a:r>
              <a:rPr lang="en-US" sz="1400" dirty="0">
                <a:solidFill>
                  <a:srgbClr val="FFFFFF"/>
                </a:solidFill>
                <a:latin typeface="Tahoma"/>
                <a:cs typeface="Tahoma"/>
              </a:rPr>
              <a:t>Preliminary Analysis</a:t>
            </a:r>
            <a:endParaRPr sz="1400" dirty="0">
              <a:latin typeface="Tahoma"/>
              <a:cs typeface="Tahoma"/>
            </a:endParaRPr>
          </a:p>
        </p:txBody>
      </p:sp>
      <p:sp>
        <p:nvSpPr>
          <p:cNvPr id="6" name="object 6"/>
          <p:cNvSpPr txBox="1"/>
          <p:nvPr/>
        </p:nvSpPr>
        <p:spPr>
          <a:xfrm>
            <a:off x="241028" y="2195539"/>
            <a:ext cx="1473073" cy="706797"/>
          </a:xfrm>
          <a:prstGeom prst="rect">
            <a:avLst/>
          </a:prstGeom>
        </p:spPr>
        <p:txBody>
          <a:bodyPr vert="horz" wrap="square" lIns="0" tIns="6985" rIns="0" bIns="0" rtlCol="0">
            <a:spAutoFit/>
          </a:bodyPr>
          <a:lstStyle/>
          <a:p>
            <a:pPr marL="198755" marR="17780" indent="-148590">
              <a:lnSpc>
                <a:spcPct val="102600"/>
              </a:lnSpc>
              <a:spcBef>
                <a:spcPts val="55"/>
              </a:spcBef>
              <a:buClr>
                <a:srgbClr val="3333B2"/>
              </a:buClr>
              <a:buSzPct val="72727"/>
              <a:buFont typeface="Lucida Sans Unicode"/>
              <a:buChar char="►"/>
              <a:tabLst>
                <a:tab pos="199390" algn="l"/>
              </a:tabLst>
            </a:pPr>
            <a:endParaRPr lang="en-US" sz="1100" dirty="0">
              <a:latin typeface="Times New Roman" panose="02020603050405020304" pitchFamily="18" charset="0"/>
              <a:cs typeface="Times New Roman" panose="02020603050405020304" pitchFamily="18" charset="0"/>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050" dirty="0">
                <a:latin typeface="Times New Roman" panose="02020603050405020304" pitchFamily="18" charset="0"/>
                <a:cs typeface="Times New Roman" panose="02020603050405020304" pitchFamily="18" charset="0"/>
              </a:rPr>
              <a:t> It is evident how the two variables follow a similar pattern</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21" name="object 2">
            <a:extLst>
              <a:ext uri="{FF2B5EF4-FFF2-40B4-BE49-F238E27FC236}">
                <a16:creationId xmlns:a16="http://schemas.microsoft.com/office/drawing/2014/main" id="{33E93D8B-A025-4D3F-90CD-CCA48F1EED49}"/>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chemeClr val="bg1"/>
                </a:solidFill>
                <a:latin typeface="Arial"/>
                <a:cs typeface="Arial"/>
              </a:rPr>
              <a:t>Data</a:t>
            </a:r>
            <a:endParaRPr sz="600" dirty="0">
              <a:solidFill>
                <a:schemeClr val="bg1"/>
              </a:solidFill>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pic>
        <p:nvPicPr>
          <p:cNvPr id="22" name="Picture 21">
            <a:extLst>
              <a:ext uri="{FF2B5EF4-FFF2-40B4-BE49-F238E27FC236}">
                <a16:creationId xmlns:a16="http://schemas.microsoft.com/office/drawing/2014/main" id="{3B7D7A3E-85BB-4085-A3B2-D826DCB46FE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45646" y="1050003"/>
            <a:ext cx="1663839" cy="1181818"/>
          </a:xfrm>
          <a:prstGeom prst="rect">
            <a:avLst/>
          </a:prstGeom>
        </p:spPr>
      </p:pic>
      <p:sp>
        <p:nvSpPr>
          <p:cNvPr id="23" name="TextBox 22">
            <a:extLst>
              <a:ext uri="{FF2B5EF4-FFF2-40B4-BE49-F238E27FC236}">
                <a16:creationId xmlns:a16="http://schemas.microsoft.com/office/drawing/2014/main" id="{F7EA0B73-B18C-4ED1-ADD0-00EAF53A8334}"/>
              </a:ext>
            </a:extLst>
          </p:cNvPr>
          <p:cNvSpPr txBox="1"/>
          <p:nvPr/>
        </p:nvSpPr>
        <p:spPr>
          <a:xfrm>
            <a:off x="300256" y="858089"/>
            <a:ext cx="1473073" cy="230832"/>
          </a:xfrm>
          <a:prstGeom prst="rect">
            <a:avLst/>
          </a:prstGeom>
          <a:noFill/>
        </p:spPr>
        <p:txBody>
          <a:bodyPr wrap="square" rtlCol="0">
            <a:spAutoFit/>
          </a:bodyPr>
          <a:lstStyle/>
          <a:p>
            <a:r>
              <a:rPr lang="en-US" sz="900" dirty="0"/>
              <a:t> Real GDP and oil price</a:t>
            </a:r>
          </a:p>
        </p:txBody>
      </p:sp>
      <p:sp>
        <p:nvSpPr>
          <p:cNvPr id="24" name="object 14">
            <a:extLst>
              <a:ext uri="{FF2B5EF4-FFF2-40B4-BE49-F238E27FC236}">
                <a16:creationId xmlns:a16="http://schemas.microsoft.com/office/drawing/2014/main" id="{C0567C22-2FFA-474E-923A-600094ED5B7B}"/>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26" name="object 4">
            <a:extLst>
              <a:ext uri="{FF2B5EF4-FFF2-40B4-BE49-F238E27FC236}">
                <a16:creationId xmlns:a16="http://schemas.microsoft.com/office/drawing/2014/main" id="{3B41986D-3022-4A66-A4D9-DFBA2D94B1F6}"/>
              </a:ext>
            </a:extLst>
          </p:cNvPr>
          <p:cNvSpPr txBox="1"/>
          <p:nvPr/>
        </p:nvSpPr>
        <p:spPr>
          <a:xfrm>
            <a:off x="2399296" y="114324"/>
            <a:ext cx="1645654" cy="314830"/>
          </a:xfrm>
          <a:prstGeom prst="rect">
            <a:avLst/>
          </a:prstGeom>
        </p:spPr>
        <p:txBody>
          <a:bodyPr vert="horz" wrap="square" lIns="0" tIns="12065" rIns="0" bIns="0" rtlCol="0">
            <a:spAutoFit/>
          </a:bodyPr>
          <a:lstStyle/>
          <a:p>
            <a:pPr>
              <a:lnSpc>
                <a:spcPct val="100000"/>
              </a:lnSpc>
              <a:spcBef>
                <a:spcPts val="95"/>
              </a:spcBef>
            </a:pPr>
            <a:r>
              <a:rPr lang="en-US" sz="600" b="1" dirty="0">
                <a:solidFill>
                  <a:schemeClr val="bg1">
                    <a:lumMod val="65000"/>
                  </a:schemeClr>
                </a:solidFill>
                <a:latin typeface="Arial"/>
                <a:cs typeface="Arial"/>
              </a:rPr>
              <a:t>Descriptive Statistics</a:t>
            </a:r>
          </a:p>
          <a:p>
            <a:pPr>
              <a:lnSpc>
                <a:spcPct val="100000"/>
              </a:lnSpc>
              <a:spcBef>
                <a:spcPts val="95"/>
              </a:spcBef>
            </a:pPr>
            <a:r>
              <a:rPr lang="en-US" sz="600" b="1" dirty="0">
                <a:solidFill>
                  <a:schemeClr val="bg1"/>
                </a:solidFill>
                <a:latin typeface="Arial"/>
                <a:cs typeface="Arial"/>
              </a:rPr>
              <a:t>Preliminary Analysis</a:t>
            </a:r>
          </a:p>
          <a:p>
            <a:pPr>
              <a:lnSpc>
                <a:spcPct val="100000"/>
              </a:lnSpc>
              <a:spcBef>
                <a:spcPts val="95"/>
              </a:spcBef>
            </a:pPr>
            <a:r>
              <a:rPr lang="en-US" sz="600" b="1" dirty="0">
                <a:solidFill>
                  <a:schemeClr val="bg1">
                    <a:lumMod val="65000"/>
                  </a:schemeClr>
                </a:solidFill>
                <a:latin typeface="Arial"/>
                <a:cs typeface="Arial"/>
              </a:rPr>
              <a:t>Unit root tests</a:t>
            </a:r>
            <a:endParaRPr sz="600" dirty="0">
              <a:solidFill>
                <a:schemeClr val="bg1">
                  <a:lumMod val="65000"/>
                </a:schemeClr>
              </a:solidFill>
              <a:latin typeface="Arial"/>
              <a:cs typeface="Arial"/>
            </a:endParaRPr>
          </a:p>
        </p:txBody>
      </p:sp>
      <p:pic>
        <p:nvPicPr>
          <p:cNvPr id="13" name="Picture 12">
            <a:extLst>
              <a:ext uri="{FF2B5EF4-FFF2-40B4-BE49-F238E27FC236}">
                <a16:creationId xmlns:a16="http://schemas.microsoft.com/office/drawing/2014/main" id="{42BB95FD-4A6D-41E5-BC0D-B73E0DBE5E8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298540" y="1055749"/>
            <a:ext cx="1782548" cy="1161953"/>
          </a:xfrm>
          <a:prstGeom prst="rect">
            <a:avLst/>
          </a:prstGeom>
        </p:spPr>
      </p:pic>
      <p:sp>
        <p:nvSpPr>
          <p:cNvPr id="18" name="TextBox 17">
            <a:extLst>
              <a:ext uri="{FF2B5EF4-FFF2-40B4-BE49-F238E27FC236}">
                <a16:creationId xmlns:a16="http://schemas.microsoft.com/office/drawing/2014/main" id="{FDE298BC-0276-4FC4-8628-A27AE6CEB403}"/>
              </a:ext>
            </a:extLst>
          </p:cNvPr>
          <p:cNvSpPr txBox="1"/>
          <p:nvPr/>
        </p:nvSpPr>
        <p:spPr>
          <a:xfrm>
            <a:off x="2571877" y="872009"/>
            <a:ext cx="1473073" cy="230832"/>
          </a:xfrm>
          <a:prstGeom prst="rect">
            <a:avLst/>
          </a:prstGeom>
          <a:noFill/>
        </p:spPr>
        <p:txBody>
          <a:bodyPr wrap="square" rtlCol="0">
            <a:spAutoFit/>
          </a:bodyPr>
          <a:lstStyle/>
          <a:p>
            <a:r>
              <a:rPr lang="en-US" sz="900" dirty="0"/>
              <a:t> Real GDP and CPI</a:t>
            </a:r>
          </a:p>
        </p:txBody>
      </p:sp>
      <p:sp>
        <p:nvSpPr>
          <p:cNvPr id="19" name="object 6">
            <a:extLst>
              <a:ext uri="{FF2B5EF4-FFF2-40B4-BE49-F238E27FC236}">
                <a16:creationId xmlns:a16="http://schemas.microsoft.com/office/drawing/2014/main" id="{2FDE4C16-7E0E-4DC0-8891-EABE83B7ADB1}"/>
              </a:ext>
            </a:extLst>
          </p:cNvPr>
          <p:cNvSpPr txBox="1"/>
          <p:nvPr/>
        </p:nvSpPr>
        <p:spPr>
          <a:xfrm>
            <a:off x="2390148" y="2195539"/>
            <a:ext cx="1663949" cy="802848"/>
          </a:xfrm>
          <a:prstGeom prst="rect">
            <a:avLst/>
          </a:prstGeom>
        </p:spPr>
        <p:txBody>
          <a:bodyPr vert="horz" wrap="square" lIns="0" tIns="6985" rIns="0" bIns="0" rtlCol="0">
            <a:spAutoFit/>
          </a:bodyPr>
          <a:lstStyle/>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imes New Roman" panose="02020603050405020304" pitchFamily="18" charset="0"/>
              <a:cs typeface="Times New Roman" panose="02020603050405020304" pitchFamily="18" charset="0"/>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000" dirty="0">
                <a:latin typeface="Times New Roman" panose="02020603050405020304" pitchFamily="18" charset="0"/>
                <a:cs typeface="Times New Roman" panose="02020603050405020304" pitchFamily="18" charset="0"/>
              </a:rPr>
              <a:t> It is evident how the upward-trend in real GDP is accompanied with an upward-trend  in CPI</a:t>
            </a:r>
          </a:p>
        </p:txBody>
      </p:sp>
    </p:spTree>
    <p:extLst>
      <p:ext uri="{BB962C8B-B14F-4D97-AF65-F5344CB8AC3E}">
        <p14:creationId xmlns:p14="http://schemas.microsoft.com/office/powerpoint/2010/main" val="2591158672"/>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0" y="548005"/>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b="1" dirty="0">
                <a:solidFill>
                  <a:srgbClr val="FFFFFF"/>
                </a:solidFill>
                <a:latin typeface="Tahoma"/>
                <a:cs typeface="Tahoma"/>
              </a:rPr>
              <a:t>Data</a:t>
            </a:r>
            <a:r>
              <a:rPr lang="en-US" sz="1400" dirty="0">
                <a:solidFill>
                  <a:srgbClr val="FFFFFF"/>
                </a:solidFill>
                <a:latin typeface="Tahoma"/>
                <a:cs typeface="Tahoma"/>
              </a:rPr>
              <a:t>: Unit Root Tests</a:t>
            </a:r>
            <a:endParaRPr sz="1400" dirty="0">
              <a:latin typeface="Tahoma"/>
              <a:cs typeface="Tahoma"/>
            </a:endParaRPr>
          </a:p>
        </p:txBody>
      </p:sp>
      <p:sp>
        <p:nvSpPr>
          <p:cNvPr id="6" name="object 6"/>
          <p:cNvSpPr txBox="1"/>
          <p:nvPr/>
        </p:nvSpPr>
        <p:spPr>
          <a:xfrm>
            <a:off x="81231" y="1164720"/>
            <a:ext cx="4526964" cy="2024080"/>
          </a:xfrm>
          <a:prstGeom prst="rect">
            <a:avLst/>
          </a:prstGeom>
        </p:spPr>
        <p:txBody>
          <a:bodyPr vert="horz" wrap="square" lIns="0" tIns="6985" rIns="0" bIns="0" rtlCol="0">
            <a:spAutoFit/>
          </a:bodyPr>
          <a:lstStyle/>
          <a:p>
            <a:pPr marL="198755" marR="17780" indent="-148590">
              <a:lnSpc>
                <a:spcPct val="102600"/>
              </a:lnSpc>
              <a:spcBef>
                <a:spcPts val="55"/>
              </a:spcBef>
              <a:buClr>
                <a:srgbClr val="3333B2"/>
              </a:buClr>
              <a:buSzPct val="72727"/>
              <a:buFont typeface="Lucida Sans Unicode"/>
              <a:buChar char="►"/>
              <a:tabLst>
                <a:tab pos="199390" algn="l"/>
              </a:tabLst>
            </a:pPr>
            <a:r>
              <a:rPr lang="en-US" sz="1000" dirty="0">
                <a:latin typeface="Tahoma"/>
                <a:cs typeface="Tahoma"/>
              </a:rPr>
              <a:t>Prior to decide on the model, some tests are employed</a:t>
            </a: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a:p>
            <a:pPr marL="278765" marR="17780" indent="-228600">
              <a:lnSpc>
                <a:spcPct val="102600"/>
              </a:lnSpc>
              <a:spcBef>
                <a:spcPts val="55"/>
              </a:spcBef>
              <a:buClr>
                <a:srgbClr val="3333B2"/>
              </a:buClr>
              <a:buSzPct val="72727"/>
              <a:buFont typeface="+mj-lt"/>
              <a:buAutoNum type="arabicPeriod"/>
              <a:tabLst>
                <a:tab pos="199390" algn="l"/>
              </a:tabLst>
            </a:pPr>
            <a:r>
              <a:rPr lang="en-US" sz="1000" dirty="0">
                <a:latin typeface="Tahoma"/>
                <a:cs typeface="Tahoma"/>
              </a:rPr>
              <a:t>The Lagrange Multiplier (LM) test is first used to test for serial correlation.</a:t>
            </a:r>
          </a:p>
          <a:p>
            <a:pPr marL="278765" marR="17780" indent="-228600">
              <a:lnSpc>
                <a:spcPct val="102600"/>
              </a:lnSpc>
              <a:spcBef>
                <a:spcPts val="55"/>
              </a:spcBef>
              <a:buClr>
                <a:srgbClr val="3333B2"/>
              </a:buClr>
              <a:buSzPct val="72727"/>
              <a:buFont typeface="+mj-lt"/>
              <a:buAutoNum type="arabicPeriod"/>
              <a:tabLst>
                <a:tab pos="199390" algn="l"/>
              </a:tabLst>
            </a:pPr>
            <a:endParaRPr lang="en-US" sz="1000" dirty="0">
              <a:latin typeface="Tahoma"/>
              <a:cs typeface="Tahoma"/>
            </a:endParaRPr>
          </a:p>
          <a:p>
            <a:pPr marL="278765" marR="17780" indent="-228600">
              <a:lnSpc>
                <a:spcPct val="102600"/>
              </a:lnSpc>
              <a:spcBef>
                <a:spcPts val="55"/>
              </a:spcBef>
              <a:buClr>
                <a:srgbClr val="3333B2"/>
              </a:buClr>
              <a:buSzPct val="72727"/>
              <a:buFont typeface="+mj-lt"/>
              <a:buAutoNum type="arabicPeriod"/>
              <a:tabLst>
                <a:tab pos="199390" algn="l"/>
              </a:tabLst>
            </a:pPr>
            <a:r>
              <a:rPr lang="en-US" sz="1000" dirty="0">
                <a:latin typeface="Tahoma"/>
                <a:cs typeface="Tahoma"/>
              </a:rPr>
              <a:t>Augmented Dickey-Fuller (ADF) test is next used to check for stationarity.</a:t>
            </a:r>
          </a:p>
          <a:p>
            <a:pPr marL="278765" marR="17780" indent="-228600">
              <a:lnSpc>
                <a:spcPct val="102600"/>
              </a:lnSpc>
              <a:spcBef>
                <a:spcPts val="55"/>
              </a:spcBef>
              <a:buClr>
                <a:srgbClr val="3333B2"/>
              </a:buClr>
              <a:buSzPct val="72727"/>
              <a:buFont typeface="+mj-lt"/>
              <a:buAutoNum type="arabicPeriod"/>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000" dirty="0">
                <a:latin typeface="Tahoma"/>
                <a:cs typeface="Tahoma"/>
              </a:rPr>
              <a:t>The variables became stationary after taking the log difference, representing growth rates of the variables:</a:t>
            </a: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a:p>
            <a:pPr marL="50165" marR="17780">
              <a:lnSpc>
                <a:spcPct val="102600"/>
              </a:lnSpc>
              <a:spcBef>
                <a:spcPts val="55"/>
              </a:spcBef>
              <a:buClr>
                <a:srgbClr val="3333B2"/>
              </a:buClr>
              <a:buSzPct val="72727"/>
              <a:tabLst>
                <a:tab pos="199390" algn="l"/>
              </a:tabLst>
            </a:pPr>
            <a:endParaRPr lang="en-US" sz="1000" dirty="0">
              <a:latin typeface="Tahoma"/>
              <a:cs typeface="Tahoma"/>
            </a:endParaRPr>
          </a:p>
          <a:p>
            <a:pPr marL="50165" marR="17780">
              <a:lnSpc>
                <a:spcPct val="102600"/>
              </a:lnSpc>
              <a:spcBef>
                <a:spcPts val="55"/>
              </a:spcBef>
              <a:buClr>
                <a:srgbClr val="3333B2"/>
              </a:buClr>
              <a:buSzPct val="72727"/>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21" name="object 2">
            <a:extLst>
              <a:ext uri="{FF2B5EF4-FFF2-40B4-BE49-F238E27FC236}">
                <a16:creationId xmlns:a16="http://schemas.microsoft.com/office/drawing/2014/main" id="{33E93D8B-A025-4D3F-90CD-CCA48F1EED49}"/>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chemeClr val="bg1">
                    <a:lumMod val="65000"/>
                  </a:schemeClr>
                </a:solidFill>
                <a:latin typeface="Arial"/>
                <a:cs typeface="Arial"/>
              </a:rPr>
              <a:t> </a:t>
            </a:r>
            <a:r>
              <a:rPr sz="600" b="1" spc="-20" dirty="0">
                <a:solidFill>
                  <a:schemeClr val="bg1">
                    <a:lumMod val="65000"/>
                  </a:schemeClr>
                </a:solidFill>
                <a:latin typeface="Arial"/>
                <a:cs typeface="Arial"/>
              </a:rPr>
              <a:t>Introducti</a:t>
            </a:r>
            <a:r>
              <a:rPr lang="en-US" sz="600" b="1" spc="-20" dirty="0">
                <a:solidFill>
                  <a:schemeClr val="bg1">
                    <a:lumMod val="65000"/>
                  </a:schemeClr>
                </a:solidFill>
                <a:latin typeface="Arial"/>
                <a:cs typeface="Arial"/>
              </a:rPr>
              <a:t>on</a:t>
            </a:r>
            <a:r>
              <a:rPr lang="en-US" sz="600" b="1" spc="500" dirty="0">
                <a:solidFill>
                  <a:schemeClr val="bg1">
                    <a:lumMod val="65000"/>
                  </a:schemeClr>
                </a:solidFill>
                <a:latin typeface="Arial"/>
                <a:cs typeface="Arial"/>
              </a:rPr>
              <a:t> </a:t>
            </a:r>
            <a:endParaRPr lang="en-US" sz="600" dirty="0">
              <a:solidFill>
                <a:schemeClr val="bg1">
                  <a:lumMod val="65000"/>
                </a:schemeClr>
              </a:solidFill>
              <a:latin typeface="Arial"/>
              <a:cs typeface="Arial"/>
            </a:endParaRPr>
          </a:p>
          <a:p>
            <a:pPr marR="5080" algn="r">
              <a:lnSpc>
                <a:spcPts val="625"/>
              </a:lnSpc>
            </a:pPr>
            <a:r>
              <a:rPr lang="en-US" sz="600" b="1" dirty="0">
                <a:solidFill>
                  <a:schemeClr val="bg1"/>
                </a:solidFill>
                <a:latin typeface="Arial"/>
                <a:cs typeface="Arial"/>
              </a:rPr>
              <a:t>Data</a:t>
            </a:r>
            <a:endParaRPr sz="600" dirty="0">
              <a:solidFill>
                <a:schemeClr val="bg1"/>
              </a:solidFill>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pic>
        <p:nvPicPr>
          <p:cNvPr id="2" name="Picture 1">
            <a:extLst>
              <a:ext uri="{FF2B5EF4-FFF2-40B4-BE49-F238E27FC236}">
                <a16:creationId xmlns:a16="http://schemas.microsoft.com/office/drawing/2014/main" id="{89EB9234-CA41-4347-8395-7CBDB744BE4C}"/>
              </a:ext>
            </a:extLst>
          </p:cNvPr>
          <p:cNvPicPr>
            <a:picLocks noChangeAspect="1"/>
          </p:cNvPicPr>
          <p:nvPr/>
        </p:nvPicPr>
        <p:blipFill>
          <a:blip r:embed="rId2"/>
          <a:stretch>
            <a:fillRect/>
          </a:stretch>
        </p:blipFill>
        <p:spPr>
          <a:xfrm>
            <a:off x="1350747" y="2686736"/>
            <a:ext cx="1716163" cy="241275"/>
          </a:xfrm>
          <a:prstGeom prst="rect">
            <a:avLst/>
          </a:prstGeom>
        </p:spPr>
      </p:pic>
      <p:sp>
        <p:nvSpPr>
          <p:cNvPr id="22" name="object 13">
            <a:extLst>
              <a:ext uri="{FF2B5EF4-FFF2-40B4-BE49-F238E27FC236}">
                <a16:creationId xmlns:a16="http://schemas.microsoft.com/office/drawing/2014/main" id="{74C4DAB7-8D36-49F5-A11F-CF1889147130}"/>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23" name="object 14">
            <a:extLst>
              <a:ext uri="{FF2B5EF4-FFF2-40B4-BE49-F238E27FC236}">
                <a16:creationId xmlns:a16="http://schemas.microsoft.com/office/drawing/2014/main" id="{A0D86D7C-5724-4A2B-81C5-CC1B986492D2}"/>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24" name="object 4">
            <a:extLst>
              <a:ext uri="{FF2B5EF4-FFF2-40B4-BE49-F238E27FC236}">
                <a16:creationId xmlns:a16="http://schemas.microsoft.com/office/drawing/2014/main" id="{B1B84AB0-5445-4EF4-9D0E-C8A1C477303B}"/>
              </a:ext>
            </a:extLst>
          </p:cNvPr>
          <p:cNvSpPr txBox="1"/>
          <p:nvPr/>
        </p:nvSpPr>
        <p:spPr>
          <a:xfrm>
            <a:off x="2399296" y="114324"/>
            <a:ext cx="1645654" cy="314830"/>
          </a:xfrm>
          <a:prstGeom prst="rect">
            <a:avLst/>
          </a:prstGeom>
        </p:spPr>
        <p:txBody>
          <a:bodyPr vert="horz" wrap="square" lIns="0" tIns="12065" rIns="0" bIns="0" rtlCol="0">
            <a:spAutoFit/>
          </a:bodyPr>
          <a:lstStyle/>
          <a:p>
            <a:pPr>
              <a:lnSpc>
                <a:spcPct val="100000"/>
              </a:lnSpc>
              <a:spcBef>
                <a:spcPts val="95"/>
              </a:spcBef>
            </a:pPr>
            <a:r>
              <a:rPr lang="en-US" sz="600" b="1" dirty="0">
                <a:solidFill>
                  <a:schemeClr val="bg1">
                    <a:lumMod val="65000"/>
                  </a:schemeClr>
                </a:solidFill>
                <a:latin typeface="Arial"/>
                <a:cs typeface="Arial"/>
              </a:rPr>
              <a:t>Descriptive Statistics</a:t>
            </a:r>
          </a:p>
          <a:p>
            <a:pPr>
              <a:lnSpc>
                <a:spcPct val="100000"/>
              </a:lnSpc>
              <a:spcBef>
                <a:spcPts val="95"/>
              </a:spcBef>
            </a:pPr>
            <a:r>
              <a:rPr lang="en-US" sz="600" b="1" dirty="0">
                <a:solidFill>
                  <a:schemeClr val="bg1">
                    <a:lumMod val="65000"/>
                  </a:schemeClr>
                </a:solidFill>
                <a:latin typeface="Arial"/>
                <a:cs typeface="Arial"/>
              </a:rPr>
              <a:t>Preliminary Analysis</a:t>
            </a:r>
          </a:p>
          <a:p>
            <a:pPr>
              <a:lnSpc>
                <a:spcPct val="100000"/>
              </a:lnSpc>
              <a:spcBef>
                <a:spcPts val="95"/>
              </a:spcBef>
            </a:pPr>
            <a:r>
              <a:rPr lang="en-US" sz="600" b="1" dirty="0">
                <a:solidFill>
                  <a:schemeClr val="bg1"/>
                </a:solidFill>
                <a:latin typeface="Arial"/>
                <a:cs typeface="Arial"/>
              </a:rPr>
              <a:t>Unit root tests</a:t>
            </a:r>
            <a:endParaRPr sz="600" dirty="0">
              <a:solidFill>
                <a:schemeClr val="bg1"/>
              </a:solidFill>
              <a:latin typeface="Arial"/>
              <a:cs typeface="Arial"/>
            </a:endParaRPr>
          </a:p>
        </p:txBody>
      </p:sp>
    </p:spTree>
    <p:extLst>
      <p:ext uri="{BB962C8B-B14F-4D97-AF65-F5344CB8AC3E}">
        <p14:creationId xmlns:p14="http://schemas.microsoft.com/office/powerpoint/2010/main" val="688826427"/>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4" name="object 4"/>
          <p:cNvSpPr txBox="1"/>
          <p:nvPr/>
        </p:nvSpPr>
        <p:spPr>
          <a:xfrm>
            <a:off x="2411996" y="201693"/>
            <a:ext cx="578854" cy="104516"/>
          </a:xfrm>
          <a:prstGeom prst="rect">
            <a:avLst/>
          </a:prstGeom>
        </p:spPr>
        <p:txBody>
          <a:bodyPr vert="horz" wrap="square" lIns="0" tIns="12065" rIns="0" bIns="0" rtlCol="0">
            <a:spAutoFit/>
          </a:bodyPr>
          <a:lstStyle/>
          <a:p>
            <a:pPr>
              <a:lnSpc>
                <a:spcPct val="100000"/>
              </a:lnSpc>
              <a:spcBef>
                <a:spcPts val="95"/>
              </a:spcBef>
            </a:pPr>
            <a:r>
              <a:rPr lang="en-US" sz="600" b="1" spc="-20" dirty="0">
                <a:solidFill>
                  <a:srgbClr val="FFFFFF"/>
                </a:solidFill>
                <a:latin typeface="Arial"/>
                <a:cs typeface="Arial"/>
              </a:rPr>
              <a:t>SVAR </a:t>
            </a:r>
            <a:r>
              <a:rPr sz="600" b="1" spc="-20" dirty="0">
                <a:solidFill>
                  <a:srgbClr val="FFFFFF"/>
                </a:solidFill>
                <a:latin typeface="Arial"/>
                <a:cs typeface="Arial"/>
              </a:rPr>
              <a:t>model</a:t>
            </a:r>
            <a:endParaRPr sz="600" dirty="0">
              <a:latin typeface="Arial"/>
              <a:cs typeface="Arial"/>
            </a:endParaRPr>
          </a:p>
        </p:txBody>
      </p:sp>
      <p:sp>
        <p:nvSpPr>
          <p:cNvPr id="5" name="object 5"/>
          <p:cNvSpPr txBox="1"/>
          <p:nvPr/>
        </p:nvSpPr>
        <p:spPr>
          <a:xfrm>
            <a:off x="0" y="548005"/>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b="1" dirty="0">
                <a:solidFill>
                  <a:srgbClr val="FFFFFF"/>
                </a:solidFill>
                <a:latin typeface="Tahoma"/>
                <a:cs typeface="Tahoma"/>
              </a:rPr>
              <a:t>Empirical model</a:t>
            </a:r>
            <a:endParaRPr sz="1400" b="1" dirty="0">
              <a:latin typeface="Tahoma"/>
              <a:cs typeface="Tahoma"/>
            </a:endParaRPr>
          </a:p>
        </p:txBody>
      </p:sp>
      <p:sp>
        <p:nvSpPr>
          <p:cNvPr id="6" name="object 6"/>
          <p:cNvSpPr txBox="1"/>
          <p:nvPr/>
        </p:nvSpPr>
        <p:spPr>
          <a:xfrm>
            <a:off x="0" y="901922"/>
            <a:ext cx="4608195" cy="2341090"/>
          </a:xfrm>
          <a:prstGeom prst="rect">
            <a:avLst/>
          </a:prstGeom>
        </p:spPr>
        <p:txBody>
          <a:bodyPr vert="horz" wrap="square" lIns="0" tIns="6985" rIns="0" bIns="0" rtlCol="0">
            <a:spAutoFit/>
          </a:bodyPr>
          <a:lstStyle/>
          <a:p>
            <a:pPr marL="50165" marR="17780">
              <a:lnSpc>
                <a:spcPct val="102600"/>
              </a:lnSpc>
              <a:spcBef>
                <a:spcPts val="55"/>
              </a:spcBef>
              <a:buClr>
                <a:srgbClr val="3333B2"/>
              </a:buClr>
              <a:buSzPct val="72727"/>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000" dirty="0">
                <a:latin typeface="Tahoma"/>
                <a:cs typeface="Tahoma"/>
              </a:rPr>
              <a:t>The implementation of Engle-Granger test shows no co-integration, making the VECM model inappropriate</a:t>
            </a: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000" dirty="0">
                <a:latin typeface="Tahoma"/>
                <a:cs typeface="Tahoma"/>
              </a:rPr>
              <a:t>Following, a </a:t>
            </a:r>
            <a:r>
              <a:rPr lang="en-US" sz="1000" b="1" dirty="0">
                <a:latin typeface="Tahoma"/>
                <a:cs typeface="Tahoma"/>
              </a:rPr>
              <a:t>structural VAR </a:t>
            </a:r>
            <a:r>
              <a:rPr lang="en-US" sz="1000" dirty="0">
                <a:latin typeface="Tahoma"/>
                <a:cs typeface="Tahoma"/>
              </a:rPr>
              <a:t>is employed to analyze the </a:t>
            </a:r>
            <a:r>
              <a:rPr lang="en-US" sz="1000" b="1" dirty="0">
                <a:latin typeface="Tahoma"/>
                <a:cs typeface="Tahoma"/>
              </a:rPr>
              <a:t>contemporaneous effect</a:t>
            </a:r>
            <a:r>
              <a:rPr lang="en-US" sz="1000" dirty="0">
                <a:latin typeface="Tahoma"/>
                <a:cs typeface="Tahoma"/>
              </a:rPr>
              <a:t> of oil price shocks on Saudi Arabia, and the dynamic effects over time.</a:t>
            </a: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000" dirty="0">
                <a:latin typeface="Tahoma"/>
                <a:cs typeface="Tahoma"/>
              </a:rPr>
              <a:t>It allows us to impose restrictions and visualize probable patterns of IRF and FEVD for policy implications (Kilian et al., 2017)</a:t>
            </a: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r>
              <a:rPr lang="en-US" sz="1000" dirty="0">
                <a:latin typeface="Tahoma"/>
                <a:cs typeface="Tahoma"/>
              </a:rPr>
              <a:t>The model identification revealed an optimal lag length of 15.</a:t>
            </a:r>
          </a:p>
          <a:p>
            <a:pPr marL="198755" marR="17780" indent="-148590">
              <a:lnSpc>
                <a:spcPct val="102600"/>
              </a:lnSpc>
              <a:spcBef>
                <a:spcPts val="55"/>
              </a:spcBef>
              <a:buClr>
                <a:srgbClr val="3333B2"/>
              </a:buClr>
              <a:buSzPct val="72727"/>
              <a:buFont typeface="Lucida Sans Unicode"/>
              <a:buChar char="►"/>
              <a:tabLst>
                <a:tab pos="199390" algn="l"/>
              </a:tabLst>
            </a:pPr>
            <a:r>
              <a:rPr lang="en-US" sz="1000" dirty="0">
                <a:latin typeface="Tahoma"/>
                <a:cs typeface="Tahoma"/>
              </a:rPr>
              <a:t>AIC is minimized and no evidence for serial correlation</a:t>
            </a: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21" name="object 2">
            <a:extLst>
              <a:ext uri="{FF2B5EF4-FFF2-40B4-BE49-F238E27FC236}">
                <a16:creationId xmlns:a16="http://schemas.microsoft.com/office/drawing/2014/main" id="{33E93D8B-A025-4D3F-90CD-CCA48F1EED49}"/>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22" name="object 14">
            <a:extLst>
              <a:ext uri="{FF2B5EF4-FFF2-40B4-BE49-F238E27FC236}">
                <a16:creationId xmlns:a16="http://schemas.microsoft.com/office/drawing/2014/main" id="{5ADD5880-0B3F-4260-8752-61592A7A8DE0}"/>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23" name="object 13">
            <a:extLst>
              <a:ext uri="{FF2B5EF4-FFF2-40B4-BE49-F238E27FC236}">
                <a16:creationId xmlns:a16="http://schemas.microsoft.com/office/drawing/2014/main" id="{3D0615BF-F20D-4DA7-9587-01DC3B878B9F}"/>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Tree>
    <p:extLst>
      <p:ext uri="{BB962C8B-B14F-4D97-AF65-F5344CB8AC3E}">
        <p14:creationId xmlns:p14="http://schemas.microsoft.com/office/powerpoint/2010/main" val="993459077"/>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0" y="548005"/>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b="1" dirty="0">
                <a:solidFill>
                  <a:srgbClr val="FFFFFF"/>
                </a:solidFill>
                <a:latin typeface="Tahoma"/>
                <a:cs typeface="Tahoma"/>
              </a:rPr>
              <a:t>Empirical model: </a:t>
            </a:r>
            <a:r>
              <a:rPr lang="en-US" sz="1400" dirty="0">
                <a:solidFill>
                  <a:srgbClr val="FFFFFF"/>
                </a:solidFill>
                <a:latin typeface="Tahoma"/>
                <a:cs typeface="Tahoma"/>
              </a:rPr>
              <a:t>SVAR model</a:t>
            </a:r>
            <a:endParaRPr sz="1400" dirty="0">
              <a:latin typeface="Tahoma"/>
              <a:cs typeface="Tahoma"/>
            </a:endParaRPr>
          </a:p>
        </p:txBody>
      </p:sp>
      <p:sp>
        <p:nvSpPr>
          <p:cNvPr id="6" name="object 6"/>
          <p:cNvSpPr txBox="1"/>
          <p:nvPr/>
        </p:nvSpPr>
        <p:spPr>
          <a:xfrm>
            <a:off x="81231" y="901922"/>
            <a:ext cx="4526964" cy="674224"/>
          </a:xfrm>
          <a:prstGeom prst="rect">
            <a:avLst/>
          </a:prstGeom>
        </p:spPr>
        <p:txBody>
          <a:bodyPr vert="horz" wrap="square" lIns="0" tIns="6985" rIns="0" bIns="0" rtlCol="0">
            <a:spAutoFit/>
          </a:bodyPr>
          <a:lstStyle/>
          <a:p>
            <a:pPr marL="198755" marR="17780" indent="-148590">
              <a:lnSpc>
                <a:spcPct val="102600"/>
              </a:lnSpc>
              <a:spcBef>
                <a:spcPts val="55"/>
              </a:spcBef>
              <a:buClr>
                <a:srgbClr val="3333B2"/>
              </a:buClr>
              <a:buSzPct val="72727"/>
              <a:buFont typeface="Lucida Sans Unicode"/>
              <a:buChar char="►"/>
              <a:tabLst>
                <a:tab pos="199390" algn="l"/>
              </a:tabLst>
            </a:pPr>
            <a:r>
              <a:rPr lang="en-US" sz="1050" dirty="0">
                <a:latin typeface="Tahoma"/>
                <a:cs typeface="Tahoma"/>
              </a:rPr>
              <a:t>Estimating an SVAR(15):</a:t>
            </a: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a:p>
            <a:pPr marL="198755" marR="17780" indent="-148590">
              <a:lnSpc>
                <a:spcPct val="102600"/>
              </a:lnSpc>
              <a:spcBef>
                <a:spcPts val="55"/>
              </a:spcBef>
              <a:buClr>
                <a:srgbClr val="3333B2"/>
              </a:buClr>
              <a:buSzPct val="72727"/>
              <a:buFont typeface="Lucida Sans Unicode"/>
              <a:buChar char="►"/>
              <a:tabLst>
                <a:tab pos="199390" algn="l"/>
              </a:tabLst>
            </a:pPr>
            <a:endParaRPr lang="en-US" sz="1000" dirty="0">
              <a:latin typeface="Tahoma"/>
              <a:cs typeface="Tahoma"/>
            </a:endParaRP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pic>
        <p:nvPicPr>
          <p:cNvPr id="2" name="Picture 1">
            <a:extLst>
              <a:ext uri="{FF2B5EF4-FFF2-40B4-BE49-F238E27FC236}">
                <a16:creationId xmlns:a16="http://schemas.microsoft.com/office/drawing/2014/main" id="{D567F420-E882-4F39-B8CE-376A80D9539B}"/>
              </a:ext>
            </a:extLst>
          </p:cNvPr>
          <p:cNvPicPr>
            <a:picLocks noChangeAspect="1"/>
          </p:cNvPicPr>
          <p:nvPr/>
        </p:nvPicPr>
        <p:blipFill>
          <a:blip r:embed="rId2"/>
          <a:stretch>
            <a:fillRect/>
          </a:stretch>
        </p:blipFill>
        <p:spPr>
          <a:xfrm>
            <a:off x="67624" y="1108517"/>
            <a:ext cx="3752850" cy="572289"/>
          </a:xfrm>
          <a:prstGeom prst="rect">
            <a:avLst/>
          </a:prstGeom>
        </p:spPr>
      </p:pic>
      <p:sp>
        <p:nvSpPr>
          <p:cNvPr id="10" name="Rectangle 9">
            <a:extLst>
              <a:ext uri="{FF2B5EF4-FFF2-40B4-BE49-F238E27FC236}">
                <a16:creationId xmlns:a16="http://schemas.microsoft.com/office/drawing/2014/main" id="{A2E61B6A-9722-4CCE-9499-2A35CA5EBDAF}"/>
              </a:ext>
            </a:extLst>
          </p:cNvPr>
          <p:cNvSpPr/>
          <p:nvPr/>
        </p:nvSpPr>
        <p:spPr>
          <a:xfrm>
            <a:off x="-26060" y="2146753"/>
            <a:ext cx="4741545" cy="244811"/>
          </a:xfrm>
          <a:prstGeom prst="rect">
            <a:avLst/>
          </a:prstGeom>
        </p:spPr>
        <p:txBody>
          <a:bodyPr wrap="square">
            <a:spAutoFit/>
          </a:bodyPr>
          <a:lstStyle/>
          <a:p>
            <a:pPr marL="198755" marR="17780" indent="-148590">
              <a:lnSpc>
                <a:spcPct val="102600"/>
              </a:lnSpc>
              <a:spcBef>
                <a:spcPts val="55"/>
              </a:spcBef>
              <a:buClr>
                <a:srgbClr val="3333B2"/>
              </a:buClr>
              <a:buSzPct val="72727"/>
              <a:buFont typeface="Lucida Sans Unicode"/>
              <a:buChar char="►"/>
              <a:tabLst>
                <a:tab pos="199390" algn="l"/>
              </a:tabLst>
            </a:pPr>
            <a:r>
              <a:rPr lang="en-US" sz="1050" dirty="0">
                <a:latin typeface="Tahoma"/>
                <a:cs typeface="Tahoma"/>
              </a:rPr>
              <a:t> To obtain the reduced-form parameters, the reduced system will be:</a:t>
            </a:r>
          </a:p>
        </p:txBody>
      </p:sp>
      <p:pic>
        <p:nvPicPr>
          <p:cNvPr id="22" name="Picture 21">
            <a:extLst>
              <a:ext uri="{FF2B5EF4-FFF2-40B4-BE49-F238E27FC236}">
                <a16:creationId xmlns:a16="http://schemas.microsoft.com/office/drawing/2014/main" id="{3CA35DC7-3F88-4F95-BA04-860068CF2D45}"/>
              </a:ext>
            </a:extLst>
          </p:cNvPr>
          <p:cNvPicPr>
            <a:picLocks noChangeAspect="1"/>
          </p:cNvPicPr>
          <p:nvPr/>
        </p:nvPicPr>
        <p:blipFill>
          <a:blip r:embed="rId3"/>
          <a:stretch>
            <a:fillRect/>
          </a:stretch>
        </p:blipFill>
        <p:spPr>
          <a:xfrm>
            <a:off x="857250" y="2424230"/>
            <a:ext cx="4554564" cy="323615"/>
          </a:xfrm>
          <a:prstGeom prst="rect">
            <a:avLst/>
          </a:prstGeom>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3D003B3-9479-48F7-9006-C1F5ED42588C}"/>
                  </a:ext>
                </a:extLst>
              </p:cNvPr>
              <p:cNvSpPr/>
              <p:nvPr/>
            </p:nvSpPr>
            <p:spPr>
              <a:xfrm>
                <a:off x="303377" y="2767922"/>
                <a:ext cx="4741545" cy="461665"/>
              </a:xfrm>
              <a:prstGeom prst="rect">
                <a:avLst/>
              </a:prstGeom>
            </p:spPr>
            <p:txBody>
              <a:bodyPr wrap="square">
                <a:spAutoFit/>
              </a:bodyPr>
              <a:lstStyle/>
              <a:p>
                <a:r>
                  <a:rPr lang="en-US" sz="800" dirty="0"/>
                  <a:t>Where:</a:t>
                </a:r>
              </a:p>
              <a:p>
                <a:pPr marL="171450" indent="-171450">
                  <a:buFont typeface="Arial" panose="020B0604020202020204" pitchFamily="34" charset="0"/>
                  <a:buChar char="•"/>
                </a:pPr>
                <a:r>
                  <a:rPr lang="en-US" sz="800" dirty="0"/>
                  <a:t> </a:t>
                </a:r>
                <a14:m>
                  <m:oMath xmlns:m="http://schemas.openxmlformats.org/officeDocument/2006/math">
                    <m:sSub>
                      <m:sSubPr>
                        <m:ctrlPr>
                          <a:rPr lang="en-US" sz="800" i="1">
                            <a:latin typeface="Cambria Math" panose="02040503050406030204" pitchFamily="18" charset="0"/>
                          </a:rPr>
                        </m:ctrlPr>
                      </m:sSubPr>
                      <m:e>
                        <m:r>
                          <a:rPr lang="en-US" sz="800" i="1">
                            <a:latin typeface="Cambria Math" panose="02040503050406030204" pitchFamily="18" charset="0"/>
                          </a:rPr>
                          <m:t>𝐴</m:t>
                        </m:r>
                      </m:e>
                      <m:sub>
                        <m:r>
                          <a:rPr lang="en-US" sz="800" i="1">
                            <a:latin typeface="Cambria Math" panose="02040503050406030204" pitchFamily="18" charset="0"/>
                          </a:rPr>
                          <m:t>𝑖</m:t>
                        </m:r>
                      </m:sub>
                    </m:sSub>
                  </m:oMath>
                </a14:m>
                <a:r>
                  <a:rPr lang="en-US" sz="800" dirty="0"/>
                  <a:t> is a  </a:t>
                </a:r>
                <a14:m>
                  <m:oMath xmlns:m="http://schemas.openxmlformats.org/officeDocument/2006/math">
                    <m:r>
                      <a:rPr lang="en-US" sz="800" i="1">
                        <a:latin typeface="Cambria Math" panose="02040503050406030204" pitchFamily="18" charset="0"/>
                      </a:rPr>
                      <m:t>3×3</m:t>
                    </m:r>
                  </m:oMath>
                </a14:m>
                <a:r>
                  <a:rPr lang="en-US" sz="800" dirty="0"/>
                  <a:t> matrix of reduced-form parameters</a:t>
                </a:r>
              </a:p>
              <a:p>
                <a:pPr marL="171450" indent="-171450">
                  <a:buFont typeface="Arial" panose="020B0604020202020204" pitchFamily="34" charset="0"/>
                  <a:buChar char="•"/>
                </a:pPr>
                <a:r>
                  <a:rPr lang="en-US" sz="800" dirty="0"/>
                  <a:t> </a:t>
                </a:r>
                <a14:m>
                  <m:oMath xmlns:m="http://schemas.openxmlformats.org/officeDocument/2006/math">
                    <m:sSub>
                      <m:sSubPr>
                        <m:ctrlPr>
                          <a:rPr lang="en-US" sz="800" i="1">
                            <a:latin typeface="Cambria Math" panose="02040503050406030204" pitchFamily="18" charset="0"/>
                          </a:rPr>
                        </m:ctrlPr>
                      </m:sSubPr>
                      <m:e>
                        <m:r>
                          <a:rPr lang="en-US" sz="800" i="1">
                            <a:latin typeface="Cambria Math" panose="02040503050406030204" pitchFamily="18" charset="0"/>
                          </a:rPr>
                          <m:t>𝑒</m:t>
                        </m:r>
                      </m:e>
                      <m:sub>
                        <m:r>
                          <a:rPr lang="en-US" sz="800" i="1">
                            <a:latin typeface="Cambria Math" panose="02040503050406030204" pitchFamily="18" charset="0"/>
                          </a:rPr>
                          <m:t>𝑡</m:t>
                        </m:r>
                      </m:sub>
                    </m:sSub>
                  </m:oMath>
                </a14:m>
                <a:r>
                  <a:rPr lang="en-US" sz="800" dirty="0"/>
                  <a:t> is a </a:t>
                </a:r>
                <a14:m>
                  <m:oMath xmlns:m="http://schemas.openxmlformats.org/officeDocument/2006/math">
                    <m:r>
                      <a:rPr lang="en-US" sz="800" i="1">
                        <a:latin typeface="Cambria Math" panose="02040503050406030204" pitchFamily="18" charset="0"/>
                      </a:rPr>
                      <m:t>3×1</m:t>
                    </m:r>
                  </m:oMath>
                </a14:m>
                <a:r>
                  <a:rPr lang="en-US" sz="800" dirty="0"/>
                  <a:t> vector of reduced-form shocks. </a:t>
                </a:r>
              </a:p>
            </p:txBody>
          </p:sp>
        </mc:Choice>
        <mc:Fallback xmlns="">
          <p:sp>
            <p:nvSpPr>
              <p:cNvPr id="11" name="Rectangle 10">
                <a:extLst>
                  <a:ext uri="{FF2B5EF4-FFF2-40B4-BE49-F238E27FC236}">
                    <a16:creationId xmlns:a16="http://schemas.microsoft.com/office/drawing/2014/main" id="{E3D003B3-9479-48F7-9006-C1F5ED42588C}"/>
                  </a:ext>
                </a:extLst>
              </p:cNvPr>
              <p:cNvSpPr>
                <a:spLocks noRot="1" noChangeAspect="1" noMove="1" noResize="1" noEditPoints="1" noAdjustHandles="1" noChangeArrowheads="1" noChangeShapeType="1" noTextEdit="1"/>
              </p:cNvSpPr>
              <p:nvPr/>
            </p:nvSpPr>
            <p:spPr>
              <a:xfrm>
                <a:off x="303377" y="2767922"/>
                <a:ext cx="4741545" cy="461665"/>
              </a:xfrm>
              <a:prstGeom prst="rect">
                <a:avLst/>
              </a:prstGeom>
              <a:blipFill>
                <a:blip r:embed="rId4"/>
                <a:stretch>
                  <a:fillRect b="-2632"/>
                </a:stretch>
              </a:blipFill>
            </p:spPr>
            <p:txBody>
              <a:bodyPr/>
              <a:lstStyle/>
              <a:p>
                <a:r>
                  <a:rPr lang="en-US">
                    <a:noFill/>
                  </a:rPr>
                  <a:t> </a:t>
                </a:r>
              </a:p>
            </p:txBody>
          </p:sp>
        </mc:Fallback>
      </mc:AlternateContent>
      <p:sp>
        <p:nvSpPr>
          <p:cNvPr id="23" name="object 13">
            <a:extLst>
              <a:ext uri="{FF2B5EF4-FFF2-40B4-BE49-F238E27FC236}">
                <a16:creationId xmlns:a16="http://schemas.microsoft.com/office/drawing/2014/main" id="{3C38F016-88F1-4E98-8F47-A4131077D957}"/>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24" name="object 14">
            <a:extLst>
              <a:ext uri="{FF2B5EF4-FFF2-40B4-BE49-F238E27FC236}">
                <a16:creationId xmlns:a16="http://schemas.microsoft.com/office/drawing/2014/main" id="{E1DBEA33-0AB8-40A0-959D-3EFCB3BC723E}"/>
              </a:ext>
            </a:extLst>
          </p:cNvPr>
          <p:cNvSpPr txBox="1">
            <a:spLocks noGrp="1"/>
          </p:cNvSpPr>
          <p:nvPr>
            <p:ph type="ftr" sz="quarter" idx="5"/>
          </p:nvPr>
        </p:nvSpPr>
        <p:spPr>
          <a:xfrm>
            <a:off x="2376617" y="3351406"/>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25" name="object 4">
            <a:extLst>
              <a:ext uri="{FF2B5EF4-FFF2-40B4-BE49-F238E27FC236}">
                <a16:creationId xmlns:a16="http://schemas.microsoft.com/office/drawing/2014/main" id="{EE59E33A-BF06-43D9-951E-F1E28E2C19AF}"/>
              </a:ext>
            </a:extLst>
          </p:cNvPr>
          <p:cNvSpPr txBox="1"/>
          <p:nvPr/>
        </p:nvSpPr>
        <p:spPr>
          <a:xfrm>
            <a:off x="2411996" y="201693"/>
            <a:ext cx="578854" cy="104516"/>
          </a:xfrm>
          <a:prstGeom prst="rect">
            <a:avLst/>
          </a:prstGeom>
        </p:spPr>
        <p:txBody>
          <a:bodyPr vert="horz" wrap="square" lIns="0" tIns="12065" rIns="0" bIns="0" rtlCol="0">
            <a:spAutoFit/>
          </a:bodyPr>
          <a:lstStyle/>
          <a:p>
            <a:pPr>
              <a:lnSpc>
                <a:spcPct val="100000"/>
              </a:lnSpc>
              <a:spcBef>
                <a:spcPts val="95"/>
              </a:spcBef>
            </a:pPr>
            <a:r>
              <a:rPr lang="en-US" sz="600" b="1" spc="-20" dirty="0">
                <a:solidFill>
                  <a:srgbClr val="FFFFFF"/>
                </a:solidFill>
                <a:latin typeface="Arial"/>
                <a:cs typeface="Arial"/>
              </a:rPr>
              <a:t>SVAR </a:t>
            </a:r>
            <a:r>
              <a:rPr sz="600" b="1" spc="-20" dirty="0">
                <a:solidFill>
                  <a:srgbClr val="FFFFFF"/>
                </a:solidFill>
                <a:latin typeface="Arial"/>
                <a:cs typeface="Arial"/>
              </a:rPr>
              <a:t>model</a:t>
            </a:r>
            <a:endParaRPr sz="600" dirty="0">
              <a:latin typeface="Arial"/>
              <a:cs typeface="Arial"/>
            </a:endParaRPr>
          </a:p>
        </p:txBody>
      </p:sp>
      <p:sp>
        <p:nvSpPr>
          <p:cNvPr id="7" name="TextBox 6">
            <a:extLst>
              <a:ext uri="{FF2B5EF4-FFF2-40B4-BE49-F238E27FC236}">
                <a16:creationId xmlns:a16="http://schemas.microsoft.com/office/drawing/2014/main" id="{CDD711AF-B14D-4F33-BB72-C69F5A540E28}"/>
              </a:ext>
            </a:extLst>
          </p:cNvPr>
          <p:cNvSpPr txBox="1"/>
          <p:nvPr/>
        </p:nvSpPr>
        <p:spPr>
          <a:xfrm>
            <a:off x="3905250" y="1334156"/>
            <a:ext cx="536436" cy="246221"/>
          </a:xfrm>
          <a:prstGeom prst="rect">
            <a:avLst/>
          </a:prstGeom>
          <a:noFill/>
        </p:spPr>
        <p:txBody>
          <a:bodyPr wrap="square" rtlCol="0">
            <a:spAutoFit/>
          </a:bodyPr>
          <a:lstStyle/>
          <a:p>
            <a:r>
              <a:rPr lang="en-US" sz="1000" dirty="0"/>
              <a:t>(1)</a:t>
            </a:r>
          </a:p>
        </p:txBody>
      </p:sp>
      <p:sp>
        <p:nvSpPr>
          <p:cNvPr id="26" name="TextBox 25">
            <a:extLst>
              <a:ext uri="{FF2B5EF4-FFF2-40B4-BE49-F238E27FC236}">
                <a16:creationId xmlns:a16="http://schemas.microsoft.com/office/drawing/2014/main" id="{EAFD7630-E1D7-4BB4-A1E1-E6C3A1F6BB2B}"/>
              </a:ext>
            </a:extLst>
          </p:cNvPr>
          <p:cNvSpPr txBox="1"/>
          <p:nvPr/>
        </p:nvSpPr>
        <p:spPr>
          <a:xfrm>
            <a:off x="3905250" y="2430937"/>
            <a:ext cx="536436" cy="246221"/>
          </a:xfrm>
          <a:prstGeom prst="rect">
            <a:avLst/>
          </a:prstGeom>
          <a:noFill/>
        </p:spPr>
        <p:txBody>
          <a:bodyPr wrap="square" rtlCol="0">
            <a:spAutoFit/>
          </a:bodyPr>
          <a:lstStyle/>
          <a:p>
            <a:r>
              <a:rPr lang="en-US" sz="1000" dirty="0"/>
              <a:t>(2)</a:t>
            </a:r>
          </a:p>
        </p:txBody>
      </p:sp>
      <p:sp>
        <p:nvSpPr>
          <p:cNvPr id="27" name="object 2">
            <a:extLst>
              <a:ext uri="{FF2B5EF4-FFF2-40B4-BE49-F238E27FC236}">
                <a16:creationId xmlns:a16="http://schemas.microsoft.com/office/drawing/2014/main" id="{9B49A7A9-4C4B-4E5A-95CA-E1E58C3A307A}"/>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5146EF2-FE2F-4ACA-89A2-499CB07E3809}"/>
                  </a:ext>
                </a:extLst>
              </p:cNvPr>
              <p:cNvSpPr/>
              <p:nvPr/>
            </p:nvSpPr>
            <p:spPr>
              <a:xfrm>
                <a:off x="313096" y="1560744"/>
                <a:ext cx="4741545" cy="584775"/>
              </a:xfrm>
              <a:prstGeom prst="rect">
                <a:avLst/>
              </a:prstGeom>
            </p:spPr>
            <p:txBody>
              <a:bodyPr wrap="square">
                <a:spAutoFit/>
              </a:bodyPr>
              <a:lstStyle/>
              <a:p>
                <a:r>
                  <a:rPr lang="en-US" sz="800" dirty="0"/>
                  <a:t>Where:</a:t>
                </a:r>
              </a:p>
              <a:p>
                <a:pPr marL="171450" indent="-171450">
                  <a:buFont typeface="Arial" panose="020B0604020202020204" pitchFamily="34" charset="0"/>
                  <a:buChar char="•"/>
                </a:pPr>
                <a14:m>
                  <m:oMath xmlns:m="http://schemas.openxmlformats.org/officeDocument/2006/math">
                    <m:sSub>
                      <m:sSubPr>
                        <m:ctrlPr>
                          <a:rPr lang="en-US" sz="800" i="1" dirty="0" smtClean="0">
                            <a:latin typeface="Cambria Math" panose="02040503050406030204" pitchFamily="18" charset="0"/>
                          </a:rPr>
                        </m:ctrlPr>
                      </m:sSubPr>
                      <m:e>
                        <m:r>
                          <a:rPr lang="en-US" sz="800" i="1" dirty="0" smtClean="0">
                            <a:latin typeface="Cambria Math" panose="02040503050406030204" pitchFamily="18" charset="0"/>
                          </a:rPr>
                          <m:t>𝐵</m:t>
                        </m:r>
                      </m:e>
                      <m:sub>
                        <m:r>
                          <a:rPr lang="en-US" sz="800" i="1" dirty="0" smtClean="0">
                            <a:latin typeface="Cambria Math" panose="02040503050406030204" pitchFamily="18" charset="0"/>
                          </a:rPr>
                          <m:t>𝑜</m:t>
                        </m:r>
                      </m:sub>
                    </m:sSub>
                    <m:r>
                      <a:rPr lang="en-US" sz="800" i="1" dirty="0" smtClean="0">
                        <a:latin typeface="Cambria Math" panose="02040503050406030204" pitchFamily="18" charset="0"/>
                      </a:rPr>
                      <m:t>  </m:t>
                    </m:r>
                  </m:oMath>
                </a14:m>
                <a:r>
                  <a:rPr lang="en-US" sz="800" dirty="0"/>
                  <a:t> is a </a:t>
                </a:r>
                <a14:m>
                  <m:oMath xmlns:m="http://schemas.openxmlformats.org/officeDocument/2006/math">
                    <m:r>
                      <a:rPr lang="en-US" sz="800" i="1" smtClean="0">
                        <a:latin typeface="Cambria Math" panose="02040503050406030204" pitchFamily="18" charset="0"/>
                      </a:rPr>
                      <m:t>3×3</m:t>
                    </m:r>
                  </m:oMath>
                </a14:m>
                <a:r>
                  <a:rPr lang="en-US" sz="800" dirty="0"/>
                  <a:t> matrix capturing the contemporaneous effects</a:t>
                </a:r>
              </a:p>
              <a:p>
                <a:pPr marL="171450" indent="-171450">
                  <a:buFont typeface="Arial" panose="020B0604020202020204" pitchFamily="34" charset="0"/>
                  <a:buChar char="•"/>
                </a:pPr>
                <a14:m>
                  <m:oMath xmlns:m="http://schemas.openxmlformats.org/officeDocument/2006/math">
                    <m:sSub>
                      <m:sSubPr>
                        <m:ctrlPr>
                          <a:rPr lang="en-US" sz="800" i="1">
                            <a:latin typeface="Cambria Math" panose="02040503050406030204" pitchFamily="18" charset="0"/>
                          </a:rPr>
                        </m:ctrlPr>
                      </m:sSubPr>
                      <m:e>
                        <m:r>
                          <a:rPr lang="en-US" sz="800" b="0" i="1" smtClean="0">
                            <a:latin typeface="Cambria Math" panose="02040503050406030204" pitchFamily="18" charset="0"/>
                          </a:rPr>
                          <m:t>𝑇</m:t>
                        </m:r>
                      </m:e>
                      <m:sub>
                        <m:r>
                          <a:rPr lang="en-US" sz="800" i="1">
                            <a:latin typeface="Cambria Math" panose="02040503050406030204" pitchFamily="18" charset="0"/>
                          </a:rPr>
                          <m:t>𝑖</m:t>
                        </m:r>
                      </m:sub>
                    </m:sSub>
                  </m:oMath>
                </a14:m>
                <a:r>
                  <a:rPr lang="en-US" sz="800" dirty="0"/>
                  <a:t> is a  </a:t>
                </a:r>
                <a14:m>
                  <m:oMath xmlns:m="http://schemas.openxmlformats.org/officeDocument/2006/math">
                    <m:r>
                      <a:rPr lang="en-US" sz="800" i="1">
                        <a:latin typeface="Cambria Math" panose="02040503050406030204" pitchFamily="18" charset="0"/>
                      </a:rPr>
                      <m:t>3×3</m:t>
                    </m:r>
                  </m:oMath>
                </a14:m>
                <a:r>
                  <a:rPr lang="en-US" sz="800" dirty="0"/>
                  <a:t> matrix of structural-form parameters</a:t>
                </a:r>
              </a:p>
              <a:p>
                <a:pPr marL="171450" indent="-171450">
                  <a:buFont typeface="Arial" panose="020B0604020202020204" pitchFamily="34" charset="0"/>
                  <a:buChar char="•"/>
                </a:pPr>
                <a:r>
                  <a:rPr lang="en-US" sz="800" dirty="0"/>
                  <a:t> </a:t>
                </a:r>
                <a14:m>
                  <m:oMath xmlns:m="http://schemas.openxmlformats.org/officeDocument/2006/math">
                    <m:sSub>
                      <m:sSubPr>
                        <m:ctrlPr>
                          <a:rPr lang="en-US" sz="800" i="1">
                            <a:latin typeface="Cambria Math" panose="02040503050406030204" pitchFamily="18" charset="0"/>
                          </a:rPr>
                        </m:ctrlPr>
                      </m:sSubPr>
                      <m:e>
                        <m:r>
                          <a:rPr lang="en-US" sz="800" i="1" smtClean="0">
                            <a:latin typeface="Cambria Math" panose="02040503050406030204" pitchFamily="18" charset="0"/>
                          </a:rPr>
                          <m:t>ɛ</m:t>
                        </m:r>
                      </m:e>
                      <m:sub>
                        <m:r>
                          <a:rPr lang="en-US" sz="800" i="1">
                            <a:latin typeface="Cambria Math" panose="02040503050406030204" pitchFamily="18" charset="0"/>
                          </a:rPr>
                          <m:t>𝑡</m:t>
                        </m:r>
                      </m:sub>
                    </m:sSub>
                  </m:oMath>
                </a14:m>
                <a:r>
                  <a:rPr lang="en-US" sz="800" dirty="0"/>
                  <a:t> is a </a:t>
                </a:r>
                <a14:m>
                  <m:oMath xmlns:m="http://schemas.openxmlformats.org/officeDocument/2006/math">
                    <m:r>
                      <a:rPr lang="en-US" sz="800" i="1">
                        <a:latin typeface="Cambria Math" panose="02040503050406030204" pitchFamily="18" charset="0"/>
                      </a:rPr>
                      <m:t>3×1</m:t>
                    </m:r>
                  </m:oMath>
                </a14:m>
                <a:r>
                  <a:rPr lang="en-US" sz="800" dirty="0"/>
                  <a:t> vector of structural-form shocks. </a:t>
                </a:r>
              </a:p>
            </p:txBody>
          </p:sp>
        </mc:Choice>
        <mc:Fallback xmlns="">
          <p:sp>
            <p:nvSpPr>
              <p:cNvPr id="18" name="Rectangle 17">
                <a:extLst>
                  <a:ext uri="{FF2B5EF4-FFF2-40B4-BE49-F238E27FC236}">
                    <a16:creationId xmlns:a16="http://schemas.microsoft.com/office/drawing/2014/main" id="{E5146EF2-FE2F-4ACA-89A2-499CB07E3809}"/>
                  </a:ext>
                </a:extLst>
              </p:cNvPr>
              <p:cNvSpPr>
                <a:spLocks noRot="1" noChangeAspect="1" noMove="1" noResize="1" noEditPoints="1" noAdjustHandles="1" noChangeArrowheads="1" noChangeShapeType="1" noTextEdit="1"/>
              </p:cNvSpPr>
              <p:nvPr/>
            </p:nvSpPr>
            <p:spPr>
              <a:xfrm>
                <a:off x="313096" y="1560744"/>
                <a:ext cx="4741545" cy="584775"/>
              </a:xfrm>
              <a:prstGeom prst="rect">
                <a:avLst/>
              </a:prstGeom>
              <a:blipFill>
                <a:blip r:embed="rId5"/>
                <a:stretch>
                  <a:fillRect b="-2083"/>
                </a:stretch>
              </a:blipFill>
            </p:spPr>
            <p:txBody>
              <a:bodyPr/>
              <a:lstStyle/>
              <a:p>
                <a:r>
                  <a:rPr lang="en-US">
                    <a:noFill/>
                  </a:rPr>
                  <a:t> </a:t>
                </a:r>
              </a:p>
            </p:txBody>
          </p:sp>
        </mc:Fallback>
      </mc:AlternateContent>
    </p:spTree>
    <p:extLst>
      <p:ext uri="{BB962C8B-B14F-4D97-AF65-F5344CB8AC3E}">
        <p14:creationId xmlns:p14="http://schemas.microsoft.com/office/powerpoint/2010/main" val="1569379370"/>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0" y="548005"/>
            <a:ext cx="4608195" cy="293029"/>
          </a:xfrm>
          <a:prstGeom prst="rect">
            <a:avLst/>
          </a:prstGeom>
          <a:solidFill>
            <a:srgbClr val="3333B2"/>
          </a:solidFill>
        </p:spPr>
        <p:txBody>
          <a:bodyPr vert="horz" wrap="square" lIns="0" tIns="76835" rIns="0" bIns="0" rtlCol="0">
            <a:spAutoFit/>
          </a:bodyPr>
          <a:lstStyle/>
          <a:p>
            <a:pPr marL="107950">
              <a:lnSpc>
                <a:spcPct val="100000"/>
              </a:lnSpc>
              <a:spcBef>
                <a:spcPts val="605"/>
              </a:spcBef>
            </a:pPr>
            <a:r>
              <a:rPr lang="en-US" sz="1400" b="1" dirty="0">
                <a:solidFill>
                  <a:srgbClr val="FFFFFF"/>
                </a:solidFill>
                <a:latin typeface="Tahoma"/>
                <a:cs typeface="Tahoma"/>
              </a:rPr>
              <a:t>Empirical model: </a:t>
            </a:r>
            <a:r>
              <a:rPr lang="en-US" sz="1400" dirty="0">
                <a:solidFill>
                  <a:srgbClr val="FFFFFF"/>
                </a:solidFill>
                <a:latin typeface="Tahoma"/>
                <a:cs typeface="Tahoma"/>
              </a:rPr>
              <a:t>SVAR model</a:t>
            </a:r>
            <a:endParaRPr sz="1400" b="1" dirty="0">
              <a:latin typeface="Tahoma"/>
              <a:cs typeface="Tahoma"/>
            </a:endParaRP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C1A00F2-5F3B-4162-A74C-231785BFD841}"/>
                  </a:ext>
                </a:extLst>
              </p:cNvPr>
              <p:cNvSpPr txBox="1"/>
              <p:nvPr/>
            </p:nvSpPr>
            <p:spPr>
              <a:xfrm>
                <a:off x="31183" y="854214"/>
                <a:ext cx="4357817" cy="2800767"/>
              </a:xfrm>
              <a:prstGeom prst="rect">
                <a:avLst/>
              </a:prstGeom>
              <a:noFill/>
            </p:spPr>
            <p:txBody>
              <a:bodyPr wrap="square" rtlCol="0">
                <a:spAutoFit/>
              </a:bodyPr>
              <a:lstStyle/>
              <a:p>
                <a:pPr marL="171450" indent="-171450">
                  <a:buClr>
                    <a:schemeClr val="tx2"/>
                  </a:buClr>
                  <a:buFont typeface="Wingdings" panose="05000000000000000000" pitchFamily="2" charset="2"/>
                  <a:buChar char="Ø"/>
                </a:pPr>
                <a:r>
                  <a:rPr lang="en-US" sz="900" dirty="0"/>
                  <a:t>Following Sims (1980), 3 restrictions should be imposed</a:t>
                </a:r>
              </a:p>
              <a:p>
                <a:pPr>
                  <a:buClr>
                    <a:schemeClr val="tx2"/>
                  </a:buClr>
                </a:pPr>
                <a:endParaRPr lang="en-US" sz="900" dirty="0"/>
              </a:p>
              <a:p>
                <a:pPr marL="171450" indent="-171450">
                  <a:buClr>
                    <a:schemeClr val="tx2"/>
                  </a:buClr>
                  <a:buFont typeface="Wingdings" panose="05000000000000000000" pitchFamily="2" charset="2"/>
                  <a:buChar char="Ø"/>
                </a:pPr>
                <a:r>
                  <a:rPr lang="en-US" sz="900" dirty="0"/>
                  <a:t>Following Cholesky decomposition in imposing restrictions, the matrix </a:t>
                </a:r>
                <a14:m>
                  <m:oMath xmlns:m="http://schemas.openxmlformats.org/officeDocument/2006/math">
                    <m:sSub>
                      <m:sSubPr>
                        <m:ctrlPr>
                          <a:rPr lang="en-US" sz="900" i="1" dirty="0" smtClean="0">
                            <a:latin typeface="Cambria Math" panose="02040503050406030204" pitchFamily="18" charset="0"/>
                          </a:rPr>
                        </m:ctrlPr>
                      </m:sSubPr>
                      <m:e>
                        <m:r>
                          <a:rPr lang="en-US" sz="900" i="1" dirty="0" smtClean="0">
                            <a:latin typeface="Cambria Math" panose="02040503050406030204" pitchFamily="18" charset="0"/>
                          </a:rPr>
                          <m:t>𝐵</m:t>
                        </m:r>
                      </m:e>
                      <m:sub>
                        <m:r>
                          <a:rPr lang="en-US" sz="900" i="1" dirty="0" smtClean="0">
                            <a:latin typeface="Cambria Math" panose="02040503050406030204" pitchFamily="18" charset="0"/>
                          </a:rPr>
                          <m:t>0</m:t>
                        </m:r>
                      </m:sub>
                    </m:sSub>
                    <m:r>
                      <a:rPr lang="en-US" sz="900" i="1" dirty="0" smtClean="0">
                        <a:latin typeface="Cambria Math" panose="02040503050406030204" pitchFamily="18" charset="0"/>
                      </a:rPr>
                      <m:t> </m:t>
                    </m:r>
                  </m:oMath>
                </a14:m>
                <a:r>
                  <a:rPr lang="en-US" sz="900" dirty="0"/>
                  <a:t>will be recursive</a:t>
                </a:r>
              </a:p>
              <a:p>
                <a:pPr marL="171450" indent="-171450">
                  <a:buClr>
                    <a:schemeClr val="tx2"/>
                  </a:buClr>
                  <a:buFont typeface="Wingdings" panose="05000000000000000000" pitchFamily="2" charset="2"/>
                  <a:buChar char="Ø"/>
                </a:pPr>
                <a:endParaRPr lang="en-US" sz="900" dirty="0"/>
              </a:p>
              <a:p>
                <a:pPr marL="171450" indent="-171450">
                  <a:buClr>
                    <a:schemeClr val="tx2"/>
                  </a:buClr>
                  <a:buFont typeface="Wingdings" panose="05000000000000000000" pitchFamily="2" charset="2"/>
                  <a:buChar char="Ø"/>
                </a:pPr>
                <a:r>
                  <a:rPr lang="en-US" sz="900" dirty="0"/>
                  <a:t>The relationship between the reduced – form errors and the structural errors: </a:t>
                </a:r>
              </a:p>
              <a:p>
                <a:endParaRPr lang="en-US" sz="1000" dirty="0"/>
              </a:p>
              <a:p>
                <a:endParaRPr lang="en-US" sz="1000" dirty="0"/>
              </a:p>
              <a:p>
                <a:endParaRPr lang="en-US" sz="1000" dirty="0"/>
              </a:p>
              <a:p>
                <a:endParaRPr lang="en-US" sz="900" dirty="0"/>
              </a:p>
              <a:p>
                <a:pPr marL="171450" indent="-171450">
                  <a:buClr>
                    <a:schemeClr val="tx2"/>
                  </a:buClr>
                  <a:buFont typeface="Wingdings" panose="05000000000000000000" pitchFamily="2" charset="2"/>
                  <a:buChar char="Ø"/>
                </a:pPr>
                <a:endParaRPr lang="en-US" sz="900" dirty="0"/>
              </a:p>
              <a:p>
                <a:pPr marL="171450" indent="-171450">
                  <a:buClr>
                    <a:schemeClr val="tx2"/>
                  </a:buClr>
                  <a:buFont typeface="Wingdings" panose="05000000000000000000" pitchFamily="2" charset="2"/>
                  <a:buChar char="Ø"/>
                </a:pPr>
                <a:r>
                  <a:rPr lang="en-US" sz="900" dirty="0"/>
                  <a:t>This scheme adheres to a sequence that progresses from exogeneous to endogenous (Lee and Ni, 2002)</a:t>
                </a:r>
              </a:p>
              <a:p>
                <a:pPr marL="171450" indent="-171450">
                  <a:buClr>
                    <a:schemeClr val="tx2"/>
                  </a:buClr>
                  <a:buFont typeface="Wingdings" panose="05000000000000000000" pitchFamily="2" charset="2"/>
                  <a:buChar char="Ø"/>
                </a:pPr>
                <a:endParaRPr lang="en-US" sz="900" dirty="0"/>
              </a:p>
              <a:p>
                <a:pPr marL="171450" indent="-171450">
                  <a:buClr>
                    <a:schemeClr val="tx2"/>
                  </a:buClr>
                  <a:buFont typeface="Wingdings" panose="05000000000000000000" pitchFamily="2" charset="2"/>
                  <a:buChar char="Ø"/>
                </a:pPr>
                <a:r>
                  <a:rPr lang="en-US" sz="900" dirty="0"/>
                  <a:t>Oil prices can have contemporaneous effects on the other variables.</a:t>
                </a:r>
              </a:p>
              <a:p>
                <a:pPr marL="171450" indent="-171450">
                  <a:buClr>
                    <a:schemeClr val="tx2"/>
                  </a:buClr>
                  <a:buFont typeface="Wingdings" panose="05000000000000000000" pitchFamily="2" charset="2"/>
                  <a:buChar char="Ø"/>
                </a:pPr>
                <a:endParaRPr lang="en-US" sz="900" dirty="0"/>
              </a:p>
              <a:p>
                <a:pPr marL="171450" indent="-171450">
                  <a:buClr>
                    <a:schemeClr val="tx2"/>
                  </a:buClr>
                  <a:buFont typeface="Wingdings" panose="05000000000000000000" pitchFamily="2" charset="2"/>
                  <a:buChar char="Ø"/>
                </a:pPr>
                <a:r>
                  <a:rPr lang="en-US" sz="900" dirty="0"/>
                  <a:t>Real GDP growth can have an instantaneous effect on inflation</a:t>
                </a:r>
              </a:p>
              <a:p>
                <a:endParaRPr lang="en-US" sz="1000" dirty="0"/>
              </a:p>
              <a:p>
                <a:r>
                  <a:rPr lang="en-US" sz="1000" dirty="0"/>
                  <a:t> </a:t>
                </a:r>
              </a:p>
            </p:txBody>
          </p:sp>
        </mc:Choice>
        <mc:Fallback xmlns="">
          <p:sp>
            <p:nvSpPr>
              <p:cNvPr id="22" name="TextBox 21">
                <a:extLst>
                  <a:ext uri="{FF2B5EF4-FFF2-40B4-BE49-F238E27FC236}">
                    <a16:creationId xmlns:a16="http://schemas.microsoft.com/office/drawing/2014/main" id="{6C1A00F2-5F3B-4162-A74C-231785BFD841}"/>
                  </a:ext>
                </a:extLst>
              </p:cNvPr>
              <p:cNvSpPr txBox="1">
                <a:spLocks noRot="1" noChangeAspect="1" noMove="1" noResize="1" noEditPoints="1" noAdjustHandles="1" noChangeArrowheads="1" noChangeShapeType="1" noTextEdit="1"/>
              </p:cNvSpPr>
              <p:nvPr/>
            </p:nvSpPr>
            <p:spPr>
              <a:xfrm>
                <a:off x="31183" y="854214"/>
                <a:ext cx="4357817" cy="2800767"/>
              </a:xfrm>
              <a:prstGeom prst="rect">
                <a:avLst/>
              </a:prstGeom>
              <a:blipFill>
                <a:blip r:embed="rId2"/>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C2B937FA-9866-4D22-9DE8-07BF9752D5F0}"/>
              </a:ext>
            </a:extLst>
          </p:cNvPr>
          <p:cNvPicPr>
            <a:picLocks noChangeAspect="1"/>
          </p:cNvPicPr>
          <p:nvPr/>
        </p:nvPicPr>
        <p:blipFill>
          <a:blip r:embed="rId3"/>
          <a:stretch>
            <a:fillRect/>
          </a:stretch>
        </p:blipFill>
        <p:spPr>
          <a:xfrm>
            <a:off x="213713" y="1882775"/>
            <a:ext cx="4153871" cy="644097"/>
          </a:xfrm>
          <a:prstGeom prst="rect">
            <a:avLst/>
          </a:prstGeom>
        </p:spPr>
      </p:pic>
      <p:sp>
        <p:nvSpPr>
          <p:cNvPr id="23" name="object 13">
            <a:extLst>
              <a:ext uri="{FF2B5EF4-FFF2-40B4-BE49-F238E27FC236}">
                <a16:creationId xmlns:a16="http://schemas.microsoft.com/office/drawing/2014/main" id="{14F5A575-97F7-42D5-A3C5-D17FFA68D4E7}"/>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24" name="object 14">
            <a:extLst>
              <a:ext uri="{FF2B5EF4-FFF2-40B4-BE49-F238E27FC236}">
                <a16:creationId xmlns:a16="http://schemas.microsoft.com/office/drawing/2014/main" id="{FF299EA7-00B7-4129-8F0B-4BA7E6FFFB7C}"/>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25" name="object 4">
            <a:extLst>
              <a:ext uri="{FF2B5EF4-FFF2-40B4-BE49-F238E27FC236}">
                <a16:creationId xmlns:a16="http://schemas.microsoft.com/office/drawing/2014/main" id="{8339A3BD-7AEE-4F23-BE8F-3E05B1CE06AD}"/>
              </a:ext>
            </a:extLst>
          </p:cNvPr>
          <p:cNvSpPr txBox="1"/>
          <p:nvPr/>
        </p:nvSpPr>
        <p:spPr>
          <a:xfrm>
            <a:off x="2411996" y="201693"/>
            <a:ext cx="578854" cy="104516"/>
          </a:xfrm>
          <a:prstGeom prst="rect">
            <a:avLst/>
          </a:prstGeom>
        </p:spPr>
        <p:txBody>
          <a:bodyPr vert="horz" wrap="square" lIns="0" tIns="12065" rIns="0" bIns="0" rtlCol="0">
            <a:spAutoFit/>
          </a:bodyPr>
          <a:lstStyle/>
          <a:p>
            <a:pPr>
              <a:lnSpc>
                <a:spcPct val="100000"/>
              </a:lnSpc>
              <a:spcBef>
                <a:spcPts val="95"/>
              </a:spcBef>
            </a:pPr>
            <a:r>
              <a:rPr lang="en-US" sz="600" b="1" spc="-20" dirty="0">
                <a:solidFill>
                  <a:srgbClr val="FFFFFF"/>
                </a:solidFill>
                <a:latin typeface="Arial"/>
                <a:cs typeface="Arial"/>
              </a:rPr>
              <a:t>SVAR </a:t>
            </a:r>
            <a:r>
              <a:rPr sz="600" b="1" spc="-20" dirty="0">
                <a:solidFill>
                  <a:srgbClr val="FFFFFF"/>
                </a:solidFill>
                <a:latin typeface="Arial"/>
                <a:cs typeface="Arial"/>
              </a:rPr>
              <a:t>model</a:t>
            </a:r>
            <a:endParaRPr sz="600" dirty="0">
              <a:latin typeface="Arial"/>
              <a:cs typeface="Arial"/>
            </a:endParaRPr>
          </a:p>
        </p:txBody>
      </p:sp>
      <p:sp>
        <p:nvSpPr>
          <p:cNvPr id="26" name="object 2">
            <a:extLst>
              <a:ext uri="{FF2B5EF4-FFF2-40B4-BE49-F238E27FC236}">
                <a16:creationId xmlns:a16="http://schemas.microsoft.com/office/drawing/2014/main" id="{68616FB9-7CC7-444C-82C6-7E96BA79EB68}"/>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Tree>
    <p:extLst>
      <p:ext uri="{BB962C8B-B14F-4D97-AF65-F5344CB8AC3E}">
        <p14:creationId xmlns:p14="http://schemas.microsoft.com/office/powerpoint/2010/main" val="2001787909"/>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568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dirty="0"/>
          </a:p>
        </p:txBody>
      </p:sp>
      <p:sp>
        <p:nvSpPr>
          <p:cNvPr id="4" name="object 4"/>
          <p:cNvSpPr txBox="1"/>
          <p:nvPr/>
        </p:nvSpPr>
        <p:spPr>
          <a:xfrm>
            <a:off x="2399296" y="151401"/>
            <a:ext cx="1721854" cy="209673"/>
          </a:xfrm>
          <a:prstGeom prst="rect">
            <a:avLst/>
          </a:prstGeom>
        </p:spPr>
        <p:txBody>
          <a:bodyPr vert="horz" wrap="square" lIns="0" tIns="12065" rIns="0" bIns="0" rtlCol="0">
            <a:spAutoFit/>
          </a:bodyPr>
          <a:lstStyle/>
          <a:p>
            <a:pPr>
              <a:lnSpc>
                <a:spcPct val="100000"/>
              </a:lnSpc>
              <a:spcBef>
                <a:spcPts val="95"/>
              </a:spcBef>
            </a:pPr>
            <a:r>
              <a:rPr lang="en-US" sz="600" b="1" spc="-20" dirty="0">
                <a:solidFill>
                  <a:srgbClr val="FFFFFF"/>
                </a:solidFill>
                <a:latin typeface="Arial"/>
                <a:cs typeface="Arial"/>
              </a:rPr>
              <a:t>Impulse Response Analysis</a:t>
            </a:r>
          </a:p>
          <a:p>
            <a:pPr>
              <a:lnSpc>
                <a:spcPct val="100000"/>
              </a:lnSpc>
              <a:spcBef>
                <a:spcPts val="95"/>
              </a:spcBef>
            </a:pPr>
            <a:r>
              <a:rPr lang="en-US" sz="600" b="1" spc="-20" dirty="0">
                <a:solidFill>
                  <a:schemeClr val="bg1">
                    <a:lumMod val="65000"/>
                  </a:schemeClr>
                </a:solidFill>
                <a:latin typeface="Arial"/>
                <a:cs typeface="Arial"/>
              </a:rPr>
              <a:t>Forecast Error Variance Decomposition</a:t>
            </a:r>
            <a:endParaRPr sz="600" dirty="0">
              <a:solidFill>
                <a:schemeClr val="bg1">
                  <a:lumMod val="65000"/>
                </a:schemeClr>
              </a:solidFill>
              <a:latin typeface="Arial"/>
              <a:cs typeface="Arial"/>
            </a:endParaRPr>
          </a:p>
        </p:txBody>
      </p:sp>
      <p:sp>
        <p:nvSpPr>
          <p:cNvPr id="5" name="object 5"/>
          <p:cNvSpPr txBox="1"/>
          <p:nvPr/>
        </p:nvSpPr>
        <p:spPr>
          <a:xfrm>
            <a:off x="-103" y="537161"/>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rgbClr val="FFFFFF"/>
                </a:solidFill>
                <a:latin typeface="Times New Roman" panose="02020603050405020304" pitchFamily="18" charset="0"/>
                <a:cs typeface="Times New Roman" panose="02020603050405020304" pitchFamily="18" charset="0"/>
              </a:rPr>
              <a:t> Empirical Results: </a:t>
            </a:r>
            <a:r>
              <a:rPr lang="en-US" sz="1200" dirty="0">
                <a:solidFill>
                  <a:schemeClr val="bg1"/>
                </a:solidFill>
                <a:latin typeface="Times New Roman" panose="02020603050405020304" pitchFamily="18" charset="0"/>
                <a:cs typeface="Times New Roman" panose="02020603050405020304" pitchFamily="18" charset="0"/>
              </a:rPr>
              <a:t>Impulse Response Analysis</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pic>
        <p:nvPicPr>
          <p:cNvPr id="23" name="Picture 22">
            <a:extLst>
              <a:ext uri="{FF2B5EF4-FFF2-40B4-BE49-F238E27FC236}">
                <a16:creationId xmlns:a16="http://schemas.microsoft.com/office/drawing/2014/main" id="{E3887349-D58A-44B3-8A6E-8B0A47996DC2}"/>
              </a:ext>
            </a:extLst>
          </p:cNvPr>
          <p:cNvPicPr/>
          <p:nvPr/>
        </p:nvPicPr>
        <p:blipFill rotWithShape="1">
          <a:blip r:embed="rId2" cstate="print">
            <a:extLst>
              <a:ext uri="{28A0092B-C50C-407E-A947-70E740481C1C}">
                <a14:useLocalDpi xmlns:a14="http://schemas.microsoft.com/office/drawing/2010/main" val="0"/>
              </a:ext>
            </a:extLst>
          </a:blip>
          <a:srcRect r="48854"/>
          <a:stretch/>
        </p:blipFill>
        <p:spPr>
          <a:xfrm>
            <a:off x="166358" y="1543848"/>
            <a:ext cx="1742702" cy="1291772"/>
          </a:xfrm>
          <a:prstGeom prst="rect">
            <a:avLst/>
          </a:prstGeom>
        </p:spPr>
      </p:pic>
      <p:pic>
        <p:nvPicPr>
          <p:cNvPr id="22" name="Picture 21">
            <a:extLst>
              <a:ext uri="{FF2B5EF4-FFF2-40B4-BE49-F238E27FC236}">
                <a16:creationId xmlns:a16="http://schemas.microsoft.com/office/drawing/2014/main" id="{63977F6D-7145-490D-BB37-93AA06171A07}"/>
              </a:ext>
            </a:extLst>
          </p:cNvPr>
          <p:cNvPicPr/>
          <p:nvPr/>
        </p:nvPicPr>
        <p:blipFill rotWithShape="1">
          <a:blip r:embed="rId3" cstate="print">
            <a:extLst>
              <a:ext uri="{28A0092B-C50C-407E-A947-70E740481C1C}">
                <a14:useLocalDpi xmlns:a14="http://schemas.microsoft.com/office/drawing/2010/main" val="0"/>
              </a:ext>
            </a:extLst>
          </a:blip>
          <a:srcRect r="49940"/>
          <a:stretch/>
        </p:blipFill>
        <p:spPr>
          <a:xfrm>
            <a:off x="2406294" y="1552176"/>
            <a:ext cx="1565650" cy="1273918"/>
          </a:xfrm>
          <a:prstGeom prst="rect">
            <a:avLst/>
          </a:prstGeom>
        </p:spPr>
      </p:pic>
      <p:sp>
        <p:nvSpPr>
          <p:cNvPr id="24" name="TextBox 23">
            <a:extLst>
              <a:ext uri="{FF2B5EF4-FFF2-40B4-BE49-F238E27FC236}">
                <a16:creationId xmlns:a16="http://schemas.microsoft.com/office/drawing/2014/main" id="{B7844AE5-85B9-4FAC-930E-F8015964D6B0}"/>
              </a:ext>
            </a:extLst>
          </p:cNvPr>
          <p:cNvSpPr txBox="1"/>
          <p:nvPr/>
        </p:nvSpPr>
        <p:spPr>
          <a:xfrm>
            <a:off x="121742" y="1350520"/>
            <a:ext cx="1866924" cy="215444"/>
          </a:xfrm>
          <a:prstGeom prst="rect">
            <a:avLst/>
          </a:prstGeom>
          <a:noFill/>
        </p:spPr>
        <p:txBody>
          <a:bodyPr wrap="square" rtlCol="0">
            <a:spAutoFit/>
          </a:bodyPr>
          <a:lstStyle/>
          <a:p>
            <a:r>
              <a:rPr lang="en-US" sz="800" dirty="0">
                <a:solidFill>
                  <a:schemeClr val="tx2">
                    <a:lumMod val="10000"/>
                  </a:schemeClr>
                </a:solidFill>
                <a:latin typeface="Times New Roman" panose="02020603050405020304" pitchFamily="18" charset="0"/>
                <a:cs typeface="Times New Roman" panose="02020603050405020304" pitchFamily="18" charset="0"/>
              </a:rPr>
              <a:t>Orthogonalized Impulse Response Graph</a:t>
            </a:r>
          </a:p>
        </p:txBody>
      </p:sp>
      <p:sp>
        <p:nvSpPr>
          <p:cNvPr id="25" name="TextBox 24">
            <a:extLst>
              <a:ext uri="{FF2B5EF4-FFF2-40B4-BE49-F238E27FC236}">
                <a16:creationId xmlns:a16="http://schemas.microsoft.com/office/drawing/2014/main" id="{51D77C78-AAFA-4D64-98C9-D41E034AE2B0}"/>
              </a:ext>
            </a:extLst>
          </p:cNvPr>
          <p:cNvSpPr txBox="1"/>
          <p:nvPr/>
        </p:nvSpPr>
        <p:spPr>
          <a:xfrm>
            <a:off x="2342404" y="1350520"/>
            <a:ext cx="1742702" cy="215444"/>
          </a:xfrm>
          <a:prstGeom prst="rect">
            <a:avLst/>
          </a:prstGeom>
          <a:noFill/>
        </p:spPr>
        <p:txBody>
          <a:bodyPr wrap="square">
            <a:spAutoFit/>
          </a:bodyPr>
          <a:lstStyle/>
          <a:p>
            <a:r>
              <a:rPr lang="en-US" sz="800" dirty="0">
                <a:solidFill>
                  <a:schemeClr val="tx2">
                    <a:lumMod val="10000"/>
                  </a:schemeClr>
                </a:solidFill>
                <a:latin typeface="Times New Roman" panose="02020603050405020304" pitchFamily="18" charset="0"/>
                <a:cs typeface="Times New Roman" panose="02020603050405020304" pitchFamily="18" charset="0"/>
              </a:rPr>
              <a:t>Cumulative Impulse Response Graph </a:t>
            </a:r>
          </a:p>
        </p:txBody>
      </p:sp>
      <p:sp>
        <p:nvSpPr>
          <p:cNvPr id="17" name="object 13">
            <a:extLst>
              <a:ext uri="{FF2B5EF4-FFF2-40B4-BE49-F238E27FC236}">
                <a16:creationId xmlns:a16="http://schemas.microsoft.com/office/drawing/2014/main" id="{09FB5300-00A1-4E31-BE56-9B344747AD4E}"/>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8" name="object 14">
            <a:extLst>
              <a:ext uri="{FF2B5EF4-FFF2-40B4-BE49-F238E27FC236}">
                <a16:creationId xmlns:a16="http://schemas.microsoft.com/office/drawing/2014/main" id="{6D27B8E0-7C80-404B-B012-2913BCCB70E6}"/>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9" name="object 2">
            <a:extLst>
              <a:ext uri="{FF2B5EF4-FFF2-40B4-BE49-F238E27FC236}">
                <a16:creationId xmlns:a16="http://schemas.microsoft.com/office/drawing/2014/main" id="{2E761831-358C-4B01-8034-3396766201EB}"/>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lumMod val="65000"/>
                  </a:schemeClr>
                </a:solidFill>
                <a:latin typeface="Arial"/>
                <a:cs typeface="Arial"/>
              </a:rPr>
              <a:t>Empirical model</a:t>
            </a:r>
          </a:p>
          <a:p>
            <a:pPr marR="5715" algn="r">
              <a:lnSpc>
                <a:spcPts val="670"/>
              </a:lnSpc>
            </a:pPr>
            <a:r>
              <a:rPr lang="en-US" sz="600" b="1" spc="-30" dirty="0">
                <a:solidFill>
                  <a:schemeClr val="bg1"/>
                </a:solidFill>
                <a:latin typeface="Arial"/>
                <a:cs typeface="Arial"/>
              </a:rPr>
              <a:t>Empirical results</a:t>
            </a:r>
            <a:endParaRPr sz="600" dirty="0">
              <a:solidFill>
                <a:schemeClr val="bg1"/>
              </a:solidFill>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2" name="TextBox 1">
            <a:extLst>
              <a:ext uri="{FF2B5EF4-FFF2-40B4-BE49-F238E27FC236}">
                <a16:creationId xmlns:a16="http://schemas.microsoft.com/office/drawing/2014/main" id="{ECB772F1-3CB1-413F-830E-6C1BAFC80C62}"/>
              </a:ext>
            </a:extLst>
          </p:cNvPr>
          <p:cNvSpPr txBox="1"/>
          <p:nvPr/>
        </p:nvSpPr>
        <p:spPr>
          <a:xfrm>
            <a:off x="1848173" y="1274735"/>
            <a:ext cx="914400" cy="914400"/>
          </a:xfrm>
          <a:prstGeom prst="rect">
            <a:avLst/>
          </a:prstGeom>
          <a:noFill/>
        </p:spPr>
        <p:txBody>
          <a:bodyPr wrap="square" rtlCol="0">
            <a:spAutoFit/>
          </a:bodyPr>
          <a:lstStyle/>
          <a:p>
            <a:endParaRPr lang="en-US" dirty="0"/>
          </a:p>
        </p:txBody>
      </p:sp>
      <p:sp>
        <p:nvSpPr>
          <p:cNvPr id="8" name="TextBox 7">
            <a:extLst>
              <a:ext uri="{FF2B5EF4-FFF2-40B4-BE49-F238E27FC236}">
                <a16:creationId xmlns:a16="http://schemas.microsoft.com/office/drawing/2014/main" id="{8C2E44ED-0176-4C47-8B52-F4F8CE826934}"/>
              </a:ext>
            </a:extLst>
          </p:cNvPr>
          <p:cNvSpPr txBox="1"/>
          <p:nvPr/>
        </p:nvSpPr>
        <p:spPr>
          <a:xfrm>
            <a:off x="121742" y="2847965"/>
            <a:ext cx="2095919" cy="369332"/>
          </a:xfrm>
          <a:prstGeom prst="rect">
            <a:avLst/>
          </a:prstGeom>
          <a:noFill/>
        </p:spPr>
        <p:txBody>
          <a:bodyPr wrap="square" rtlCol="0">
            <a:spAutoFit/>
          </a:bodyPr>
          <a:lstStyle/>
          <a:p>
            <a:r>
              <a:rPr lang="en-US" sz="600" dirty="0"/>
              <a:t>Period 1: statistically significant and positive increase</a:t>
            </a:r>
          </a:p>
          <a:p>
            <a:r>
              <a:rPr lang="en-US" sz="600" dirty="0"/>
              <a:t>Periods 3,4: a slow down in the increase</a:t>
            </a:r>
          </a:p>
          <a:p>
            <a:r>
              <a:rPr lang="en-US" sz="600" dirty="0"/>
              <a:t>Period 7+: insignificant effect</a:t>
            </a:r>
          </a:p>
        </p:txBody>
      </p:sp>
      <p:sp>
        <p:nvSpPr>
          <p:cNvPr id="20" name="TextBox 19">
            <a:extLst>
              <a:ext uri="{FF2B5EF4-FFF2-40B4-BE49-F238E27FC236}">
                <a16:creationId xmlns:a16="http://schemas.microsoft.com/office/drawing/2014/main" id="{500FD0BF-DF8A-40DC-B2D9-5497C7AD8730}"/>
              </a:ext>
            </a:extLst>
          </p:cNvPr>
          <p:cNvSpPr txBox="1"/>
          <p:nvPr/>
        </p:nvSpPr>
        <p:spPr>
          <a:xfrm>
            <a:off x="2430787" y="2886806"/>
            <a:ext cx="1866924" cy="276999"/>
          </a:xfrm>
          <a:prstGeom prst="rect">
            <a:avLst/>
          </a:prstGeom>
          <a:noFill/>
        </p:spPr>
        <p:txBody>
          <a:bodyPr wrap="square" rtlCol="0">
            <a:spAutoFit/>
          </a:bodyPr>
          <a:lstStyle/>
          <a:p>
            <a:r>
              <a:rPr lang="en-US" sz="600" dirty="0"/>
              <a:t>For the overall effect the plot reveals a clear positive upward trend</a:t>
            </a:r>
          </a:p>
        </p:txBody>
      </p:sp>
      <p:sp>
        <p:nvSpPr>
          <p:cNvPr id="6" name="TextBox 5">
            <a:extLst>
              <a:ext uri="{FF2B5EF4-FFF2-40B4-BE49-F238E27FC236}">
                <a16:creationId xmlns:a16="http://schemas.microsoft.com/office/drawing/2014/main" id="{483156A6-7377-47D5-A68A-D850E3ED1DF3}"/>
              </a:ext>
            </a:extLst>
          </p:cNvPr>
          <p:cNvSpPr txBox="1"/>
          <p:nvPr/>
        </p:nvSpPr>
        <p:spPr>
          <a:xfrm>
            <a:off x="235208" y="997736"/>
            <a:ext cx="3829050" cy="276999"/>
          </a:xfrm>
          <a:prstGeom prst="rect">
            <a:avLst/>
          </a:prstGeom>
          <a:noFill/>
        </p:spPr>
        <p:txBody>
          <a:bodyPr wrap="square" rtlCol="0">
            <a:spAutoFit/>
          </a:bodyPr>
          <a:lstStyle/>
          <a:p>
            <a:r>
              <a:rPr lang="en-US" sz="1200" b="1" dirty="0"/>
              <a:t>Impact of oil price shock on real GDP growth rate</a:t>
            </a:r>
          </a:p>
        </p:txBody>
      </p:sp>
    </p:spTree>
    <p:extLst>
      <p:ext uri="{BB962C8B-B14F-4D97-AF65-F5344CB8AC3E}">
        <p14:creationId xmlns:p14="http://schemas.microsoft.com/office/powerpoint/2010/main" val="3834706288"/>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568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dirty="0"/>
          </a:p>
        </p:txBody>
      </p:sp>
      <p:sp>
        <p:nvSpPr>
          <p:cNvPr id="4" name="object 4"/>
          <p:cNvSpPr txBox="1"/>
          <p:nvPr/>
        </p:nvSpPr>
        <p:spPr>
          <a:xfrm>
            <a:off x="2399296" y="157976"/>
            <a:ext cx="1721854" cy="209673"/>
          </a:xfrm>
          <a:prstGeom prst="rect">
            <a:avLst/>
          </a:prstGeom>
        </p:spPr>
        <p:txBody>
          <a:bodyPr vert="horz" wrap="square" lIns="0" tIns="12065" rIns="0" bIns="0" rtlCol="0">
            <a:spAutoFit/>
          </a:bodyPr>
          <a:lstStyle/>
          <a:p>
            <a:pPr>
              <a:lnSpc>
                <a:spcPct val="100000"/>
              </a:lnSpc>
              <a:spcBef>
                <a:spcPts val="95"/>
              </a:spcBef>
            </a:pPr>
            <a:r>
              <a:rPr lang="en-US" sz="600" b="1" spc="-20" dirty="0">
                <a:solidFill>
                  <a:srgbClr val="FFFFFF"/>
                </a:solidFill>
                <a:latin typeface="Arial"/>
                <a:cs typeface="Arial"/>
              </a:rPr>
              <a:t>Impulse Response Analysis</a:t>
            </a:r>
          </a:p>
          <a:p>
            <a:pPr>
              <a:lnSpc>
                <a:spcPct val="100000"/>
              </a:lnSpc>
              <a:spcBef>
                <a:spcPts val="95"/>
              </a:spcBef>
            </a:pPr>
            <a:r>
              <a:rPr lang="en-US" sz="600" b="1" spc="-20" dirty="0">
                <a:solidFill>
                  <a:schemeClr val="bg1">
                    <a:lumMod val="65000"/>
                  </a:schemeClr>
                </a:solidFill>
                <a:latin typeface="Arial"/>
                <a:cs typeface="Arial"/>
              </a:rPr>
              <a:t>Forecast Error Variance Decomposition</a:t>
            </a:r>
            <a:endParaRPr sz="600" dirty="0">
              <a:solidFill>
                <a:schemeClr val="bg1">
                  <a:lumMod val="65000"/>
                </a:schemeClr>
              </a:solidFill>
              <a:latin typeface="Arial"/>
              <a:cs typeface="Arial"/>
            </a:endParaRPr>
          </a:p>
        </p:txBody>
      </p:sp>
      <p:sp>
        <p:nvSpPr>
          <p:cNvPr id="5" name="object 5"/>
          <p:cNvSpPr txBox="1"/>
          <p:nvPr/>
        </p:nvSpPr>
        <p:spPr>
          <a:xfrm>
            <a:off x="-103" y="537161"/>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rgbClr val="FFFFFF"/>
                </a:solidFill>
                <a:latin typeface="Times New Roman" panose="02020603050405020304" pitchFamily="18" charset="0"/>
                <a:cs typeface="Times New Roman" panose="02020603050405020304" pitchFamily="18" charset="0"/>
              </a:rPr>
              <a:t> Empirical Results: </a:t>
            </a:r>
            <a:r>
              <a:rPr lang="en-US" sz="1200" dirty="0">
                <a:solidFill>
                  <a:schemeClr val="bg1"/>
                </a:solidFill>
                <a:latin typeface="Times New Roman" panose="02020603050405020304" pitchFamily="18" charset="0"/>
                <a:cs typeface="Times New Roman" panose="02020603050405020304" pitchFamily="18" charset="0"/>
              </a:rPr>
              <a:t>Impulse Response Analysis</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7" name="object 13">
            <a:extLst>
              <a:ext uri="{FF2B5EF4-FFF2-40B4-BE49-F238E27FC236}">
                <a16:creationId xmlns:a16="http://schemas.microsoft.com/office/drawing/2014/main" id="{09FB5300-00A1-4E31-BE56-9B344747AD4E}"/>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8" name="object 14">
            <a:extLst>
              <a:ext uri="{FF2B5EF4-FFF2-40B4-BE49-F238E27FC236}">
                <a16:creationId xmlns:a16="http://schemas.microsoft.com/office/drawing/2014/main" id="{6D27B8E0-7C80-404B-B012-2913BCCB70E6}"/>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9" name="object 2">
            <a:extLst>
              <a:ext uri="{FF2B5EF4-FFF2-40B4-BE49-F238E27FC236}">
                <a16:creationId xmlns:a16="http://schemas.microsoft.com/office/drawing/2014/main" id="{2E761831-358C-4B01-8034-3396766201EB}"/>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lumMod val="65000"/>
                  </a:schemeClr>
                </a:solidFill>
                <a:latin typeface="Arial"/>
                <a:cs typeface="Arial"/>
              </a:rPr>
              <a:t>Empirical model</a:t>
            </a:r>
          </a:p>
          <a:p>
            <a:pPr marR="5715" algn="r">
              <a:lnSpc>
                <a:spcPts val="670"/>
              </a:lnSpc>
            </a:pPr>
            <a:r>
              <a:rPr lang="en-US" sz="600" b="1" spc="-30" dirty="0">
                <a:solidFill>
                  <a:schemeClr val="bg1"/>
                </a:solidFill>
                <a:latin typeface="Arial"/>
                <a:cs typeface="Arial"/>
              </a:rPr>
              <a:t>Empirical results</a:t>
            </a:r>
            <a:endParaRPr sz="600" dirty="0">
              <a:solidFill>
                <a:schemeClr val="bg1"/>
              </a:solidFill>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2" name="TextBox 1">
            <a:extLst>
              <a:ext uri="{FF2B5EF4-FFF2-40B4-BE49-F238E27FC236}">
                <a16:creationId xmlns:a16="http://schemas.microsoft.com/office/drawing/2014/main" id="{ECB772F1-3CB1-413F-830E-6C1BAFC80C62}"/>
              </a:ext>
            </a:extLst>
          </p:cNvPr>
          <p:cNvSpPr txBox="1"/>
          <p:nvPr/>
        </p:nvSpPr>
        <p:spPr>
          <a:xfrm>
            <a:off x="1848173" y="1274735"/>
            <a:ext cx="914400" cy="914400"/>
          </a:xfrm>
          <a:prstGeom prst="rect">
            <a:avLst/>
          </a:prstGeom>
          <a:noFill/>
        </p:spPr>
        <p:txBody>
          <a:bodyPr wrap="square" rtlCol="0">
            <a:spAutoFit/>
          </a:bodyPr>
          <a:lstStyle/>
          <a:p>
            <a:endParaRPr lang="en-US" dirty="0"/>
          </a:p>
        </p:txBody>
      </p:sp>
      <p:sp>
        <p:nvSpPr>
          <p:cNvPr id="21" name="TextBox 20">
            <a:extLst>
              <a:ext uri="{FF2B5EF4-FFF2-40B4-BE49-F238E27FC236}">
                <a16:creationId xmlns:a16="http://schemas.microsoft.com/office/drawing/2014/main" id="{AB25D7F5-5ACB-4137-B5EC-78D46765949F}"/>
              </a:ext>
            </a:extLst>
          </p:cNvPr>
          <p:cNvSpPr txBox="1"/>
          <p:nvPr/>
        </p:nvSpPr>
        <p:spPr>
          <a:xfrm>
            <a:off x="107510" y="989219"/>
            <a:ext cx="4392968" cy="1815882"/>
          </a:xfrm>
          <a:prstGeom prst="rect">
            <a:avLst/>
          </a:prstGeom>
          <a:noFill/>
        </p:spPr>
        <p:txBody>
          <a:bodyPr wrap="square" rtlCol="0">
            <a:spAutoFit/>
          </a:bodyPr>
          <a:lstStyle/>
          <a:p>
            <a:r>
              <a:rPr lang="en-US" sz="800" dirty="0"/>
              <a:t>This result is consistent with:</a:t>
            </a:r>
          </a:p>
          <a:p>
            <a:endParaRPr lang="en-US" sz="800" b="1" dirty="0"/>
          </a:p>
          <a:p>
            <a:r>
              <a:rPr lang="en-US" sz="800" b="1" dirty="0"/>
              <a:t>Ghalayini (2011) :</a:t>
            </a:r>
          </a:p>
          <a:p>
            <a:pPr marL="171450" indent="-171450">
              <a:buFontTx/>
              <a:buChar char="-"/>
            </a:pPr>
            <a:r>
              <a:rPr lang="en-US" sz="800" dirty="0"/>
              <a:t>a rise in oil prices will have a direct impact on the national income </a:t>
            </a:r>
          </a:p>
          <a:p>
            <a:pPr marL="171450" indent="-171450">
              <a:buFontTx/>
              <a:buChar char="-"/>
            </a:pPr>
            <a:r>
              <a:rPr lang="en-US" sz="800" dirty="0"/>
              <a:t>there is a trade-off between this gain and the losses incurred from reduced                           export demand due to economic stagnation among trading partners</a:t>
            </a:r>
          </a:p>
          <a:p>
            <a:pPr marL="171450" indent="-171450">
              <a:buFontTx/>
              <a:buChar char="-"/>
            </a:pPr>
            <a:endParaRPr lang="en-US" sz="800" dirty="0"/>
          </a:p>
          <a:p>
            <a:r>
              <a:rPr lang="en-US" sz="800" b="1" dirty="0"/>
              <a:t>Mendoza and Vera (2010):</a:t>
            </a:r>
          </a:p>
          <a:p>
            <a:pPr marL="171450" indent="-171450">
              <a:buFontTx/>
              <a:buChar char="-"/>
            </a:pPr>
            <a:r>
              <a:rPr lang="en-US" sz="800" dirty="0"/>
              <a:t>showed a significant positive impact of oil price shocks on economic growth in the case of Venezuela</a:t>
            </a:r>
          </a:p>
          <a:p>
            <a:pPr marL="171450" indent="-171450">
              <a:buFontTx/>
              <a:buChar char="-"/>
            </a:pPr>
            <a:endParaRPr lang="en-US" sz="800" dirty="0"/>
          </a:p>
          <a:p>
            <a:r>
              <a:rPr lang="en-US" sz="800" b="1" dirty="0"/>
              <a:t>Nazir and Hamed (2015):</a:t>
            </a:r>
          </a:p>
          <a:p>
            <a:pPr marL="171450" indent="-171450">
              <a:buFontTx/>
              <a:buChar char="-"/>
            </a:pPr>
            <a:r>
              <a:rPr lang="en-US" sz="800" dirty="0"/>
              <a:t>oil prices impact real GDP positively</a:t>
            </a:r>
          </a:p>
          <a:p>
            <a:pPr marL="171450" indent="-171450">
              <a:buFontTx/>
              <a:buChar char="-"/>
            </a:pPr>
            <a:endParaRPr lang="en-US" sz="800" dirty="0"/>
          </a:p>
        </p:txBody>
      </p:sp>
    </p:spTree>
    <p:extLst>
      <p:ext uri="{BB962C8B-B14F-4D97-AF65-F5344CB8AC3E}">
        <p14:creationId xmlns:p14="http://schemas.microsoft.com/office/powerpoint/2010/main" val="463477719"/>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1905" y="538540"/>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rgbClr val="FFFFFF"/>
                </a:solidFill>
                <a:latin typeface="Times New Roman" panose="02020603050405020304" pitchFamily="18" charset="0"/>
                <a:cs typeface="Times New Roman" panose="02020603050405020304" pitchFamily="18" charset="0"/>
              </a:rPr>
              <a:t> Empirical Results: </a:t>
            </a:r>
            <a:r>
              <a:rPr lang="en-US" sz="1200" dirty="0">
                <a:solidFill>
                  <a:schemeClr val="bg1"/>
                </a:solidFill>
                <a:latin typeface="Times New Roman" panose="02020603050405020304" pitchFamily="18" charset="0"/>
                <a:cs typeface="Times New Roman" panose="02020603050405020304" pitchFamily="18" charset="0"/>
              </a:rPr>
              <a:t>Impulse Response Analysis</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24" name="TextBox 23">
            <a:extLst>
              <a:ext uri="{FF2B5EF4-FFF2-40B4-BE49-F238E27FC236}">
                <a16:creationId xmlns:a16="http://schemas.microsoft.com/office/drawing/2014/main" id="{B7844AE5-85B9-4FAC-930E-F8015964D6B0}"/>
              </a:ext>
            </a:extLst>
          </p:cNvPr>
          <p:cNvSpPr txBox="1"/>
          <p:nvPr/>
        </p:nvSpPr>
        <p:spPr>
          <a:xfrm>
            <a:off x="191757" y="1356433"/>
            <a:ext cx="1866924" cy="215444"/>
          </a:xfrm>
          <a:prstGeom prst="rect">
            <a:avLst/>
          </a:prstGeom>
          <a:noFill/>
        </p:spPr>
        <p:txBody>
          <a:bodyPr wrap="square" rtlCol="0">
            <a:spAutoFit/>
          </a:bodyPr>
          <a:lstStyle/>
          <a:p>
            <a:r>
              <a:rPr lang="en-US" sz="800" dirty="0">
                <a:solidFill>
                  <a:schemeClr val="tx2">
                    <a:lumMod val="10000"/>
                  </a:schemeClr>
                </a:solidFill>
                <a:latin typeface="Times New Roman" panose="02020603050405020304" pitchFamily="18" charset="0"/>
                <a:cs typeface="Times New Roman" panose="02020603050405020304" pitchFamily="18" charset="0"/>
              </a:rPr>
              <a:t>Orthogonalized Impulse Response Graph</a:t>
            </a:r>
          </a:p>
        </p:txBody>
      </p:sp>
      <p:sp>
        <p:nvSpPr>
          <p:cNvPr id="25" name="TextBox 24">
            <a:extLst>
              <a:ext uri="{FF2B5EF4-FFF2-40B4-BE49-F238E27FC236}">
                <a16:creationId xmlns:a16="http://schemas.microsoft.com/office/drawing/2014/main" id="{51D77C78-AAFA-4D64-98C9-D41E034AE2B0}"/>
              </a:ext>
            </a:extLst>
          </p:cNvPr>
          <p:cNvSpPr txBox="1"/>
          <p:nvPr/>
        </p:nvSpPr>
        <p:spPr>
          <a:xfrm>
            <a:off x="2493627" y="1359234"/>
            <a:ext cx="1742702" cy="215444"/>
          </a:xfrm>
          <a:prstGeom prst="rect">
            <a:avLst/>
          </a:prstGeom>
          <a:noFill/>
        </p:spPr>
        <p:txBody>
          <a:bodyPr wrap="square">
            <a:spAutoFit/>
          </a:bodyPr>
          <a:lstStyle/>
          <a:p>
            <a:r>
              <a:rPr lang="en-US" sz="800" dirty="0">
                <a:solidFill>
                  <a:schemeClr val="tx2">
                    <a:lumMod val="10000"/>
                  </a:schemeClr>
                </a:solidFill>
                <a:latin typeface="Times New Roman" panose="02020603050405020304" pitchFamily="18" charset="0"/>
                <a:cs typeface="Times New Roman" panose="02020603050405020304" pitchFamily="18" charset="0"/>
              </a:rPr>
              <a:t>Cumulative Impulse Response Graph </a:t>
            </a:r>
          </a:p>
        </p:txBody>
      </p:sp>
      <p:pic>
        <p:nvPicPr>
          <p:cNvPr id="17" name="Picture 16">
            <a:extLst>
              <a:ext uri="{FF2B5EF4-FFF2-40B4-BE49-F238E27FC236}">
                <a16:creationId xmlns:a16="http://schemas.microsoft.com/office/drawing/2014/main" id="{DCD12273-B978-4595-964F-1B0FD59D6A87}"/>
              </a:ext>
            </a:extLst>
          </p:cNvPr>
          <p:cNvPicPr/>
          <p:nvPr/>
        </p:nvPicPr>
        <p:blipFill rotWithShape="1">
          <a:blip r:embed="rId2" cstate="print">
            <a:extLst>
              <a:ext uri="{28A0092B-C50C-407E-A947-70E740481C1C}">
                <a14:useLocalDpi xmlns:a14="http://schemas.microsoft.com/office/drawing/2010/main" val="0"/>
              </a:ext>
            </a:extLst>
          </a:blip>
          <a:srcRect l="49603"/>
          <a:stretch/>
        </p:blipFill>
        <p:spPr>
          <a:xfrm>
            <a:off x="68021" y="1557576"/>
            <a:ext cx="2114397" cy="1297860"/>
          </a:xfrm>
          <a:prstGeom prst="rect">
            <a:avLst/>
          </a:prstGeom>
        </p:spPr>
      </p:pic>
      <p:pic>
        <p:nvPicPr>
          <p:cNvPr id="18" name="Picture 17">
            <a:extLst>
              <a:ext uri="{FF2B5EF4-FFF2-40B4-BE49-F238E27FC236}">
                <a16:creationId xmlns:a16="http://schemas.microsoft.com/office/drawing/2014/main" id="{410C9E5E-D2A5-4EAC-B4F6-90E03F708C36}"/>
              </a:ext>
            </a:extLst>
          </p:cNvPr>
          <p:cNvPicPr/>
          <p:nvPr/>
        </p:nvPicPr>
        <p:blipFill rotWithShape="1">
          <a:blip r:embed="rId3">
            <a:extLst>
              <a:ext uri="{28A0092B-C50C-407E-A947-70E740481C1C}">
                <a14:useLocalDpi xmlns:a14="http://schemas.microsoft.com/office/drawing/2010/main" val="0"/>
              </a:ext>
            </a:extLst>
          </a:blip>
          <a:srcRect l="49008"/>
          <a:stretch/>
        </p:blipFill>
        <p:spPr>
          <a:xfrm>
            <a:off x="2382579" y="1557576"/>
            <a:ext cx="1939095" cy="1297860"/>
          </a:xfrm>
          <a:prstGeom prst="rect">
            <a:avLst/>
          </a:prstGeom>
        </p:spPr>
      </p:pic>
      <p:sp>
        <p:nvSpPr>
          <p:cNvPr id="19" name="object 13">
            <a:extLst>
              <a:ext uri="{FF2B5EF4-FFF2-40B4-BE49-F238E27FC236}">
                <a16:creationId xmlns:a16="http://schemas.microsoft.com/office/drawing/2014/main" id="{4F6C6875-BA97-45FD-BA15-7043ADC96A20}"/>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20" name="object 14">
            <a:extLst>
              <a:ext uri="{FF2B5EF4-FFF2-40B4-BE49-F238E27FC236}">
                <a16:creationId xmlns:a16="http://schemas.microsoft.com/office/drawing/2014/main" id="{2A6644F2-0F18-401B-8FDB-432055BF68E5}"/>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22" name="TextBox 21">
            <a:extLst>
              <a:ext uri="{FF2B5EF4-FFF2-40B4-BE49-F238E27FC236}">
                <a16:creationId xmlns:a16="http://schemas.microsoft.com/office/drawing/2014/main" id="{84BBBAEA-57BF-4EC4-A838-029FC91CAC26}"/>
              </a:ext>
            </a:extLst>
          </p:cNvPr>
          <p:cNvSpPr txBox="1"/>
          <p:nvPr/>
        </p:nvSpPr>
        <p:spPr>
          <a:xfrm>
            <a:off x="113728" y="2890472"/>
            <a:ext cx="2095919" cy="369332"/>
          </a:xfrm>
          <a:prstGeom prst="rect">
            <a:avLst/>
          </a:prstGeom>
          <a:noFill/>
        </p:spPr>
        <p:txBody>
          <a:bodyPr wrap="square" rtlCol="0">
            <a:spAutoFit/>
          </a:bodyPr>
          <a:lstStyle/>
          <a:p>
            <a:r>
              <a:rPr lang="en-US" sz="600" dirty="0"/>
              <a:t>Period 1: statistically significant and positive increase</a:t>
            </a:r>
          </a:p>
          <a:p>
            <a:r>
              <a:rPr lang="en-US" sz="600" dirty="0"/>
              <a:t>Periods 2: a slow down in the increase</a:t>
            </a:r>
          </a:p>
          <a:p>
            <a:r>
              <a:rPr lang="en-US" sz="600" dirty="0"/>
              <a:t>Period 3+: insignificant effect</a:t>
            </a:r>
          </a:p>
        </p:txBody>
      </p:sp>
      <p:sp>
        <p:nvSpPr>
          <p:cNvPr id="23" name="TextBox 22">
            <a:extLst>
              <a:ext uri="{FF2B5EF4-FFF2-40B4-BE49-F238E27FC236}">
                <a16:creationId xmlns:a16="http://schemas.microsoft.com/office/drawing/2014/main" id="{0F056C2C-8017-4E1F-894D-B6E8116F51B8}"/>
              </a:ext>
            </a:extLst>
          </p:cNvPr>
          <p:cNvSpPr txBox="1"/>
          <p:nvPr/>
        </p:nvSpPr>
        <p:spPr>
          <a:xfrm>
            <a:off x="2493627" y="2921912"/>
            <a:ext cx="1866924" cy="276999"/>
          </a:xfrm>
          <a:prstGeom prst="rect">
            <a:avLst/>
          </a:prstGeom>
          <a:noFill/>
        </p:spPr>
        <p:txBody>
          <a:bodyPr wrap="square" rtlCol="0">
            <a:spAutoFit/>
          </a:bodyPr>
          <a:lstStyle/>
          <a:p>
            <a:r>
              <a:rPr lang="en-US" sz="600" dirty="0"/>
              <a:t>For the overall effect the plot reveals a clear positive upward trend</a:t>
            </a:r>
          </a:p>
        </p:txBody>
      </p:sp>
      <p:sp>
        <p:nvSpPr>
          <p:cNvPr id="26" name="object 4">
            <a:extLst>
              <a:ext uri="{FF2B5EF4-FFF2-40B4-BE49-F238E27FC236}">
                <a16:creationId xmlns:a16="http://schemas.microsoft.com/office/drawing/2014/main" id="{2228EFA1-214A-4D5A-9EB7-9E1548D5B55B}"/>
              </a:ext>
            </a:extLst>
          </p:cNvPr>
          <p:cNvSpPr txBox="1"/>
          <p:nvPr/>
        </p:nvSpPr>
        <p:spPr>
          <a:xfrm>
            <a:off x="2399296" y="164434"/>
            <a:ext cx="1721854" cy="209673"/>
          </a:xfrm>
          <a:prstGeom prst="rect">
            <a:avLst/>
          </a:prstGeom>
        </p:spPr>
        <p:txBody>
          <a:bodyPr vert="horz" wrap="square" lIns="0" tIns="12065" rIns="0" bIns="0" rtlCol="0">
            <a:spAutoFit/>
          </a:bodyPr>
          <a:lstStyle/>
          <a:p>
            <a:pPr>
              <a:lnSpc>
                <a:spcPct val="100000"/>
              </a:lnSpc>
              <a:spcBef>
                <a:spcPts val="95"/>
              </a:spcBef>
            </a:pPr>
            <a:r>
              <a:rPr lang="en-US" sz="600" b="1" spc="-20" dirty="0">
                <a:solidFill>
                  <a:srgbClr val="FFFFFF"/>
                </a:solidFill>
                <a:latin typeface="Arial"/>
                <a:cs typeface="Arial"/>
              </a:rPr>
              <a:t>Impulse Response Analysis</a:t>
            </a:r>
          </a:p>
          <a:p>
            <a:pPr>
              <a:lnSpc>
                <a:spcPct val="100000"/>
              </a:lnSpc>
              <a:spcBef>
                <a:spcPts val="95"/>
              </a:spcBef>
            </a:pPr>
            <a:r>
              <a:rPr lang="en-US" sz="600" b="1" spc="-20" dirty="0">
                <a:solidFill>
                  <a:schemeClr val="bg1">
                    <a:lumMod val="65000"/>
                  </a:schemeClr>
                </a:solidFill>
                <a:latin typeface="Arial"/>
                <a:cs typeface="Arial"/>
              </a:rPr>
              <a:t>Forecast Error Variance Decomposition</a:t>
            </a:r>
            <a:endParaRPr sz="600" dirty="0">
              <a:solidFill>
                <a:schemeClr val="bg1">
                  <a:lumMod val="65000"/>
                </a:schemeClr>
              </a:solidFill>
              <a:latin typeface="Arial"/>
              <a:cs typeface="Arial"/>
            </a:endParaRPr>
          </a:p>
        </p:txBody>
      </p:sp>
      <p:sp>
        <p:nvSpPr>
          <p:cNvPr id="27" name="object 2">
            <a:extLst>
              <a:ext uri="{FF2B5EF4-FFF2-40B4-BE49-F238E27FC236}">
                <a16:creationId xmlns:a16="http://schemas.microsoft.com/office/drawing/2014/main" id="{B1D124F4-7836-4752-A243-ADBD8EE760B7}"/>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lumMod val="65000"/>
                  </a:schemeClr>
                </a:solidFill>
                <a:latin typeface="Arial"/>
                <a:cs typeface="Arial"/>
              </a:rPr>
              <a:t>Empirical model</a:t>
            </a:r>
          </a:p>
          <a:p>
            <a:pPr marR="5715" algn="r">
              <a:lnSpc>
                <a:spcPts val="670"/>
              </a:lnSpc>
            </a:pPr>
            <a:r>
              <a:rPr lang="en-US" sz="600" b="1" spc="-30" dirty="0">
                <a:solidFill>
                  <a:schemeClr val="bg1"/>
                </a:solidFill>
                <a:latin typeface="Arial"/>
                <a:cs typeface="Arial"/>
              </a:rPr>
              <a:t>Empirical results</a:t>
            </a:r>
            <a:endParaRPr sz="600" dirty="0">
              <a:solidFill>
                <a:schemeClr val="bg1"/>
              </a:solidFill>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21" name="TextBox 20">
            <a:extLst>
              <a:ext uri="{FF2B5EF4-FFF2-40B4-BE49-F238E27FC236}">
                <a16:creationId xmlns:a16="http://schemas.microsoft.com/office/drawing/2014/main" id="{7200F7C6-3E64-4FEF-B27C-2FA8CAF89DAD}"/>
              </a:ext>
            </a:extLst>
          </p:cNvPr>
          <p:cNvSpPr txBox="1"/>
          <p:nvPr/>
        </p:nvSpPr>
        <p:spPr>
          <a:xfrm>
            <a:off x="468054" y="1009362"/>
            <a:ext cx="3829050" cy="276999"/>
          </a:xfrm>
          <a:prstGeom prst="rect">
            <a:avLst/>
          </a:prstGeom>
          <a:noFill/>
        </p:spPr>
        <p:txBody>
          <a:bodyPr wrap="square" rtlCol="0">
            <a:spAutoFit/>
          </a:bodyPr>
          <a:lstStyle/>
          <a:p>
            <a:r>
              <a:rPr lang="en-US" sz="1200" b="1" dirty="0"/>
              <a:t>Impact of oil price shock on Inflation rate</a:t>
            </a:r>
          </a:p>
        </p:txBody>
      </p:sp>
    </p:spTree>
    <p:extLst>
      <p:ext uri="{BB962C8B-B14F-4D97-AF65-F5344CB8AC3E}">
        <p14:creationId xmlns:p14="http://schemas.microsoft.com/office/powerpoint/2010/main" val="831810565"/>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dirty="0"/>
          </a:p>
        </p:txBody>
      </p:sp>
      <p:sp>
        <p:nvSpPr>
          <p:cNvPr id="4" name="object 4"/>
          <p:cNvSpPr txBox="1"/>
          <p:nvPr/>
        </p:nvSpPr>
        <p:spPr>
          <a:xfrm>
            <a:off x="2396033" y="163580"/>
            <a:ext cx="1721854" cy="209673"/>
          </a:xfrm>
          <a:prstGeom prst="rect">
            <a:avLst/>
          </a:prstGeom>
        </p:spPr>
        <p:txBody>
          <a:bodyPr vert="horz" wrap="square" lIns="0" tIns="12065" rIns="0" bIns="0" rtlCol="0">
            <a:spAutoFit/>
          </a:bodyPr>
          <a:lstStyle/>
          <a:p>
            <a:pPr>
              <a:lnSpc>
                <a:spcPct val="100000"/>
              </a:lnSpc>
              <a:spcBef>
                <a:spcPts val="95"/>
              </a:spcBef>
            </a:pPr>
            <a:r>
              <a:rPr lang="en-US" sz="600" b="1" spc="-20" dirty="0">
                <a:solidFill>
                  <a:srgbClr val="FFFFFF"/>
                </a:solidFill>
                <a:latin typeface="Arial"/>
                <a:cs typeface="Arial"/>
              </a:rPr>
              <a:t>Impulse Response Analysis</a:t>
            </a:r>
          </a:p>
          <a:p>
            <a:pPr>
              <a:lnSpc>
                <a:spcPct val="100000"/>
              </a:lnSpc>
              <a:spcBef>
                <a:spcPts val="95"/>
              </a:spcBef>
            </a:pPr>
            <a:r>
              <a:rPr lang="en-US" sz="600" b="1" spc="-20" dirty="0">
                <a:solidFill>
                  <a:schemeClr val="bg1">
                    <a:lumMod val="65000"/>
                  </a:schemeClr>
                </a:solidFill>
                <a:latin typeface="Arial"/>
                <a:cs typeface="Arial"/>
              </a:rPr>
              <a:t>Forecast Error Variance Decomposition</a:t>
            </a:r>
            <a:endParaRPr sz="600" dirty="0">
              <a:solidFill>
                <a:schemeClr val="bg1">
                  <a:lumMod val="65000"/>
                </a:schemeClr>
              </a:solidFill>
              <a:latin typeface="Arial"/>
              <a:cs typeface="Arial"/>
            </a:endParaRPr>
          </a:p>
        </p:txBody>
      </p:sp>
      <p:sp>
        <p:nvSpPr>
          <p:cNvPr id="5" name="object 5"/>
          <p:cNvSpPr txBox="1"/>
          <p:nvPr/>
        </p:nvSpPr>
        <p:spPr>
          <a:xfrm>
            <a:off x="-103" y="537161"/>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rgbClr val="FFFFFF"/>
                </a:solidFill>
                <a:latin typeface="Times New Roman" panose="02020603050405020304" pitchFamily="18" charset="0"/>
                <a:cs typeface="Times New Roman" panose="02020603050405020304" pitchFamily="18" charset="0"/>
              </a:rPr>
              <a:t> Empirical Results: </a:t>
            </a:r>
            <a:r>
              <a:rPr lang="en-US" sz="1200" dirty="0">
                <a:solidFill>
                  <a:schemeClr val="bg1"/>
                </a:solidFill>
                <a:latin typeface="Times New Roman" panose="02020603050405020304" pitchFamily="18" charset="0"/>
                <a:cs typeface="Times New Roman" panose="02020603050405020304" pitchFamily="18" charset="0"/>
              </a:rPr>
              <a:t>Impulse Response Analysis</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7" name="object 13">
            <a:extLst>
              <a:ext uri="{FF2B5EF4-FFF2-40B4-BE49-F238E27FC236}">
                <a16:creationId xmlns:a16="http://schemas.microsoft.com/office/drawing/2014/main" id="{09FB5300-00A1-4E31-BE56-9B344747AD4E}"/>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8" name="object 14">
            <a:extLst>
              <a:ext uri="{FF2B5EF4-FFF2-40B4-BE49-F238E27FC236}">
                <a16:creationId xmlns:a16="http://schemas.microsoft.com/office/drawing/2014/main" id="{6D27B8E0-7C80-404B-B012-2913BCCB70E6}"/>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9" name="object 2">
            <a:extLst>
              <a:ext uri="{FF2B5EF4-FFF2-40B4-BE49-F238E27FC236}">
                <a16:creationId xmlns:a16="http://schemas.microsoft.com/office/drawing/2014/main" id="{2E761831-358C-4B01-8034-3396766201EB}"/>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lumMod val="65000"/>
                  </a:schemeClr>
                </a:solidFill>
                <a:latin typeface="Arial"/>
                <a:cs typeface="Arial"/>
              </a:rPr>
              <a:t>Empirical model</a:t>
            </a:r>
          </a:p>
          <a:p>
            <a:pPr marR="5715" algn="r">
              <a:lnSpc>
                <a:spcPts val="670"/>
              </a:lnSpc>
            </a:pPr>
            <a:r>
              <a:rPr lang="en-US" sz="600" b="1" spc="-30" dirty="0">
                <a:solidFill>
                  <a:schemeClr val="bg1"/>
                </a:solidFill>
                <a:latin typeface="Arial"/>
                <a:cs typeface="Arial"/>
              </a:rPr>
              <a:t>Empirical results</a:t>
            </a:r>
            <a:endParaRPr sz="600" dirty="0">
              <a:solidFill>
                <a:schemeClr val="bg1"/>
              </a:solidFill>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2" name="TextBox 1">
            <a:extLst>
              <a:ext uri="{FF2B5EF4-FFF2-40B4-BE49-F238E27FC236}">
                <a16:creationId xmlns:a16="http://schemas.microsoft.com/office/drawing/2014/main" id="{ECB772F1-3CB1-413F-830E-6C1BAFC80C62}"/>
              </a:ext>
            </a:extLst>
          </p:cNvPr>
          <p:cNvSpPr txBox="1"/>
          <p:nvPr/>
        </p:nvSpPr>
        <p:spPr>
          <a:xfrm>
            <a:off x="1848173" y="1274735"/>
            <a:ext cx="914400" cy="914400"/>
          </a:xfrm>
          <a:prstGeom prst="rect">
            <a:avLst/>
          </a:prstGeom>
          <a:noFill/>
        </p:spPr>
        <p:txBody>
          <a:bodyPr wrap="square" rtlCol="0">
            <a:spAutoFit/>
          </a:bodyPr>
          <a:lstStyle/>
          <a:p>
            <a:endParaRPr lang="en-US" dirty="0"/>
          </a:p>
        </p:txBody>
      </p:sp>
      <p:sp>
        <p:nvSpPr>
          <p:cNvPr id="21" name="TextBox 20">
            <a:extLst>
              <a:ext uri="{FF2B5EF4-FFF2-40B4-BE49-F238E27FC236}">
                <a16:creationId xmlns:a16="http://schemas.microsoft.com/office/drawing/2014/main" id="{AB25D7F5-5ACB-4137-B5EC-78D46765949F}"/>
              </a:ext>
            </a:extLst>
          </p:cNvPr>
          <p:cNvSpPr txBox="1"/>
          <p:nvPr/>
        </p:nvSpPr>
        <p:spPr>
          <a:xfrm>
            <a:off x="107510" y="989219"/>
            <a:ext cx="4392968" cy="1815882"/>
          </a:xfrm>
          <a:prstGeom prst="rect">
            <a:avLst/>
          </a:prstGeom>
          <a:noFill/>
        </p:spPr>
        <p:txBody>
          <a:bodyPr wrap="square" rtlCol="0">
            <a:spAutoFit/>
          </a:bodyPr>
          <a:lstStyle/>
          <a:p>
            <a:r>
              <a:rPr lang="en-US" sz="800" dirty="0"/>
              <a:t>This result is consistent with:</a:t>
            </a:r>
          </a:p>
          <a:p>
            <a:endParaRPr lang="en-US" sz="800" b="1" dirty="0"/>
          </a:p>
          <a:p>
            <a:r>
              <a:rPr lang="en-US" sz="800" b="1" dirty="0"/>
              <a:t>Brini et al. (2016):</a:t>
            </a:r>
          </a:p>
          <a:p>
            <a:r>
              <a:rPr lang="en-US" sz="800" dirty="0"/>
              <a:t>- the reaction of Saudi Arabia inflation to the shock in oil price is positive during the first period</a:t>
            </a:r>
          </a:p>
          <a:p>
            <a:endParaRPr lang="en-US" sz="800" b="1" dirty="0"/>
          </a:p>
          <a:p>
            <a:endParaRPr lang="en-US" sz="800" b="1" dirty="0"/>
          </a:p>
          <a:p>
            <a:r>
              <a:rPr lang="en-US" sz="800" b="1" dirty="0"/>
              <a:t>Tang et al., (2010) :</a:t>
            </a:r>
          </a:p>
          <a:p>
            <a:pPr marL="171450" indent="-171450">
              <a:buFontTx/>
              <a:buChar char="-"/>
            </a:pPr>
            <a:r>
              <a:rPr lang="en-US" sz="800" dirty="0"/>
              <a:t>a rise in oil prices induces an increase in production costs, that are translated to higher consumer price index</a:t>
            </a:r>
          </a:p>
          <a:p>
            <a:pPr marL="171450" indent="-171450">
              <a:buFontTx/>
              <a:buChar char="-"/>
            </a:pPr>
            <a:endParaRPr lang="en-US" sz="800" dirty="0"/>
          </a:p>
          <a:p>
            <a:r>
              <a:rPr lang="en-US" sz="800" b="1" dirty="0"/>
              <a:t>Zulfigarov and Neuenkirch (2020) </a:t>
            </a:r>
          </a:p>
          <a:p>
            <a:pPr marL="171450" indent="-171450">
              <a:buFontTx/>
              <a:buChar char="-"/>
            </a:pPr>
            <a:r>
              <a:rPr lang="en-US" sz="800" dirty="0"/>
              <a:t>an increase in oil prices induce higher inflation rates in the short run.</a:t>
            </a:r>
          </a:p>
          <a:p>
            <a:pPr marL="171450" indent="-171450">
              <a:buFontTx/>
              <a:buChar char="-"/>
            </a:pPr>
            <a:endParaRPr lang="en-US" sz="800" dirty="0"/>
          </a:p>
        </p:txBody>
      </p:sp>
    </p:spTree>
    <p:extLst>
      <p:ext uri="{BB962C8B-B14F-4D97-AF65-F5344CB8AC3E}">
        <p14:creationId xmlns:p14="http://schemas.microsoft.com/office/powerpoint/2010/main" val="1144901845"/>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1905" y="546303"/>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rgbClr val="FFFFFF"/>
                </a:solidFill>
                <a:latin typeface="Times New Roman" panose="02020603050405020304" pitchFamily="18" charset="0"/>
                <a:cs typeface="Times New Roman" panose="02020603050405020304" pitchFamily="18" charset="0"/>
              </a:rPr>
              <a:t>Empirical Results: </a:t>
            </a:r>
            <a:r>
              <a:rPr lang="en-US" sz="1200" dirty="0">
                <a:solidFill>
                  <a:schemeClr val="bg1"/>
                </a:solidFill>
                <a:latin typeface="Times New Roman" panose="02020603050405020304" pitchFamily="18" charset="0"/>
                <a:cs typeface="Times New Roman" panose="02020603050405020304" pitchFamily="18" charset="0"/>
              </a:rPr>
              <a:t>Forecast Error Variance Decomposition</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graphicFrame>
        <p:nvGraphicFramePr>
          <p:cNvPr id="6" name="Table 5">
            <a:extLst>
              <a:ext uri="{FF2B5EF4-FFF2-40B4-BE49-F238E27FC236}">
                <a16:creationId xmlns:a16="http://schemas.microsoft.com/office/drawing/2014/main" id="{C31A4159-CC80-4BA9-B163-65C71A757970}"/>
              </a:ext>
            </a:extLst>
          </p:cNvPr>
          <p:cNvGraphicFramePr>
            <a:graphicFrameLocks noGrp="1"/>
          </p:cNvGraphicFramePr>
          <p:nvPr>
            <p:extLst>
              <p:ext uri="{D42A27DB-BD31-4B8C-83A1-F6EECF244321}">
                <p14:modId xmlns:p14="http://schemas.microsoft.com/office/powerpoint/2010/main" val="2101804344"/>
              </p:ext>
            </p:extLst>
          </p:nvPr>
        </p:nvGraphicFramePr>
        <p:xfrm>
          <a:off x="229132" y="1134994"/>
          <a:ext cx="4149725" cy="1326004"/>
        </p:xfrm>
        <a:graphic>
          <a:graphicData uri="http://schemas.openxmlformats.org/drawingml/2006/table">
            <a:tbl>
              <a:tblPr firstRow="1" firstCol="1" bandRow="1"/>
              <a:tblGrid>
                <a:gridCol w="929720">
                  <a:extLst>
                    <a:ext uri="{9D8B030D-6E8A-4147-A177-3AD203B41FA5}">
                      <a16:colId xmlns:a16="http://schemas.microsoft.com/office/drawing/2014/main" val="488683596"/>
                    </a:ext>
                  </a:extLst>
                </a:gridCol>
                <a:gridCol w="1073335">
                  <a:extLst>
                    <a:ext uri="{9D8B030D-6E8A-4147-A177-3AD203B41FA5}">
                      <a16:colId xmlns:a16="http://schemas.microsoft.com/office/drawing/2014/main" val="329404201"/>
                    </a:ext>
                  </a:extLst>
                </a:gridCol>
                <a:gridCol w="1073335">
                  <a:extLst>
                    <a:ext uri="{9D8B030D-6E8A-4147-A177-3AD203B41FA5}">
                      <a16:colId xmlns:a16="http://schemas.microsoft.com/office/drawing/2014/main" val="2987152486"/>
                    </a:ext>
                  </a:extLst>
                </a:gridCol>
                <a:gridCol w="1073335">
                  <a:extLst>
                    <a:ext uri="{9D8B030D-6E8A-4147-A177-3AD203B41FA5}">
                      <a16:colId xmlns:a16="http://schemas.microsoft.com/office/drawing/2014/main" val="2763852758"/>
                    </a:ext>
                  </a:extLst>
                </a:gridCol>
              </a:tblGrid>
              <a:tr h="265040">
                <a:tc>
                  <a:txBody>
                    <a:bodyPr/>
                    <a:lstStyle/>
                    <a:p>
                      <a:pPr marL="0" marR="0" algn="ctr">
                        <a:lnSpc>
                          <a:spcPct val="200000"/>
                        </a:lnSpc>
                        <a:spcBef>
                          <a:spcPts val="0"/>
                        </a:spcBef>
                        <a:spcAft>
                          <a:spcPts val="0"/>
                        </a:spcAft>
                      </a:pPr>
                      <a:r>
                        <a:rPr lang="en-US" sz="10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Horizon </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Oil price shock</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Inflation shock</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900" dirty="0">
                          <a:effectLst/>
                          <a:latin typeface="Calibri" panose="020F0502020204030204" pitchFamily="34" charset="0"/>
                          <a:ea typeface="Calibri" panose="020F0502020204030204" pitchFamily="34" charset="0"/>
                          <a:cs typeface="Arial" panose="020B0604020202020204" pitchFamily="34" charset="0"/>
                        </a:rPr>
                        <a:t>Other shocks</a:t>
                      </a: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9987883"/>
                  </a:ext>
                </a:extLst>
              </a:tr>
              <a:tr h="265040">
                <a:tc>
                  <a:txBody>
                    <a:bodyPr/>
                    <a:lstStyle/>
                    <a:p>
                      <a:pPr marL="0" marR="0">
                        <a:lnSpc>
                          <a:spcPct val="200000"/>
                        </a:lnSpc>
                        <a:spcBef>
                          <a:spcPts val="0"/>
                        </a:spcBef>
                        <a:spcAft>
                          <a:spcPts val="0"/>
                        </a:spcAft>
                      </a:pPr>
                      <a:r>
                        <a:rPr lang="en-US" sz="10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2</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0.167975</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0.346762</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0.485263</a:t>
                      </a: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4526441"/>
                  </a:ext>
                </a:extLst>
              </a:tr>
              <a:tr h="265040">
                <a:tc>
                  <a:txBody>
                    <a:bodyPr/>
                    <a:lstStyle/>
                    <a:p>
                      <a:pPr marL="0" marR="0">
                        <a:lnSpc>
                          <a:spcPct val="200000"/>
                        </a:lnSpc>
                        <a:spcBef>
                          <a:spcPts val="0"/>
                        </a:spcBef>
                        <a:spcAft>
                          <a:spcPts val="0"/>
                        </a:spcAft>
                      </a:pPr>
                      <a:r>
                        <a:rPr lang="en-US" sz="10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4</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0.353508</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0.277193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0.369299</a:t>
                      </a: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3657867"/>
                  </a:ext>
                </a:extLst>
              </a:tr>
              <a:tr h="265040">
                <a:tc>
                  <a:txBody>
                    <a:bodyPr/>
                    <a:lstStyle/>
                    <a:p>
                      <a:pPr marL="0" marR="0">
                        <a:lnSpc>
                          <a:spcPct val="200000"/>
                        </a:lnSpc>
                        <a:spcBef>
                          <a:spcPts val="0"/>
                        </a:spcBef>
                        <a:spcAft>
                          <a:spcPts val="0"/>
                        </a:spcAft>
                      </a:pPr>
                      <a:r>
                        <a:rPr lang="en-US" sz="10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8</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0.385735</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0.282867</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0.331398</a:t>
                      </a: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6745619"/>
                  </a:ext>
                </a:extLst>
              </a:tr>
              <a:tr h="265844">
                <a:tc>
                  <a:txBody>
                    <a:bodyPr/>
                    <a:lstStyle/>
                    <a:p>
                      <a:pPr marL="0" marR="0">
                        <a:lnSpc>
                          <a:spcPct val="200000"/>
                        </a:lnSpc>
                        <a:spcBef>
                          <a:spcPts val="0"/>
                        </a:spcBef>
                        <a:spcAft>
                          <a:spcPts val="0"/>
                        </a:spcAft>
                      </a:pPr>
                      <a:r>
                        <a:rPr lang="en-US" sz="10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Ꝏ</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0.410685</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0.30406</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0.285255</a:t>
                      </a: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746467"/>
                  </a:ext>
                </a:extLst>
              </a:tr>
            </a:tbl>
          </a:graphicData>
        </a:graphic>
      </p:graphicFrame>
      <p:sp>
        <p:nvSpPr>
          <p:cNvPr id="10" name="object 13">
            <a:extLst>
              <a:ext uri="{FF2B5EF4-FFF2-40B4-BE49-F238E27FC236}">
                <a16:creationId xmlns:a16="http://schemas.microsoft.com/office/drawing/2014/main" id="{A4E097E6-1247-41C8-B2D9-1DD30E1F871F}"/>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1" name="object 14">
            <a:extLst>
              <a:ext uri="{FF2B5EF4-FFF2-40B4-BE49-F238E27FC236}">
                <a16:creationId xmlns:a16="http://schemas.microsoft.com/office/drawing/2014/main" id="{CA66BA60-6D8E-49D4-A4EC-AC9C5F681170}"/>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2" name="object 2">
            <a:extLst>
              <a:ext uri="{FF2B5EF4-FFF2-40B4-BE49-F238E27FC236}">
                <a16:creationId xmlns:a16="http://schemas.microsoft.com/office/drawing/2014/main" id="{BDDD4403-F9B0-40BE-B161-826C0821EA56}"/>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lumMod val="65000"/>
                  </a:schemeClr>
                </a:solidFill>
                <a:latin typeface="Arial"/>
                <a:cs typeface="Arial"/>
              </a:rPr>
              <a:t>Empirical model</a:t>
            </a:r>
          </a:p>
          <a:p>
            <a:pPr marR="5715" algn="r">
              <a:lnSpc>
                <a:spcPts val="670"/>
              </a:lnSpc>
            </a:pPr>
            <a:r>
              <a:rPr lang="en-US" sz="600" b="1" spc="-30" dirty="0">
                <a:solidFill>
                  <a:schemeClr val="bg1"/>
                </a:solidFill>
                <a:latin typeface="Arial"/>
                <a:cs typeface="Arial"/>
              </a:rPr>
              <a:t>Empirical results</a:t>
            </a:r>
            <a:endParaRPr sz="600" dirty="0">
              <a:solidFill>
                <a:schemeClr val="bg1"/>
              </a:solidFill>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13" name="object 4">
            <a:extLst>
              <a:ext uri="{FF2B5EF4-FFF2-40B4-BE49-F238E27FC236}">
                <a16:creationId xmlns:a16="http://schemas.microsoft.com/office/drawing/2014/main" id="{FF9C12D4-B305-4713-AABC-3D87267B6D9F}"/>
              </a:ext>
            </a:extLst>
          </p:cNvPr>
          <p:cNvSpPr txBox="1"/>
          <p:nvPr/>
        </p:nvSpPr>
        <p:spPr>
          <a:xfrm>
            <a:off x="2421714" y="168314"/>
            <a:ext cx="1721854" cy="209673"/>
          </a:xfrm>
          <a:prstGeom prst="rect">
            <a:avLst/>
          </a:prstGeom>
        </p:spPr>
        <p:txBody>
          <a:bodyPr vert="horz" wrap="square" lIns="0" tIns="12065" rIns="0" bIns="0" rtlCol="0">
            <a:spAutoFit/>
          </a:bodyPr>
          <a:lstStyle/>
          <a:p>
            <a:pPr>
              <a:lnSpc>
                <a:spcPct val="100000"/>
              </a:lnSpc>
              <a:spcBef>
                <a:spcPts val="95"/>
              </a:spcBef>
            </a:pPr>
            <a:r>
              <a:rPr lang="en-US" sz="600" b="1" spc="-20" dirty="0">
                <a:solidFill>
                  <a:schemeClr val="bg1">
                    <a:lumMod val="65000"/>
                  </a:schemeClr>
                </a:solidFill>
                <a:latin typeface="Arial"/>
                <a:cs typeface="Arial"/>
              </a:rPr>
              <a:t>Impulse Response Analysis</a:t>
            </a:r>
          </a:p>
          <a:p>
            <a:pPr>
              <a:lnSpc>
                <a:spcPct val="100000"/>
              </a:lnSpc>
              <a:spcBef>
                <a:spcPts val="95"/>
              </a:spcBef>
            </a:pPr>
            <a:r>
              <a:rPr lang="en-US" sz="600" b="1" spc="-20" dirty="0">
                <a:solidFill>
                  <a:schemeClr val="bg1"/>
                </a:solidFill>
                <a:latin typeface="Arial"/>
                <a:cs typeface="Arial"/>
              </a:rPr>
              <a:t>Forecast Error Variance Decomposition</a:t>
            </a:r>
            <a:endParaRPr sz="600" dirty="0">
              <a:solidFill>
                <a:schemeClr val="bg1"/>
              </a:solidFill>
              <a:latin typeface="Arial"/>
              <a:cs typeface="Arial"/>
            </a:endParaRPr>
          </a:p>
        </p:txBody>
      </p:sp>
      <p:sp>
        <p:nvSpPr>
          <p:cNvPr id="17" name="TextBox 16">
            <a:extLst>
              <a:ext uri="{FF2B5EF4-FFF2-40B4-BE49-F238E27FC236}">
                <a16:creationId xmlns:a16="http://schemas.microsoft.com/office/drawing/2014/main" id="{8F02FA36-A70B-4904-9887-30F9A014DC0C}"/>
              </a:ext>
            </a:extLst>
          </p:cNvPr>
          <p:cNvSpPr txBox="1"/>
          <p:nvPr/>
        </p:nvSpPr>
        <p:spPr>
          <a:xfrm>
            <a:off x="552450" y="915169"/>
            <a:ext cx="3962400" cy="230832"/>
          </a:xfrm>
          <a:prstGeom prst="rect">
            <a:avLst/>
          </a:prstGeom>
          <a:noFill/>
        </p:spPr>
        <p:txBody>
          <a:bodyPr wrap="square" rtlCol="0">
            <a:spAutoFit/>
          </a:bodyPr>
          <a:lstStyle/>
          <a:p>
            <a:r>
              <a:rPr lang="en-US" sz="900" b="1" dirty="0">
                <a:solidFill>
                  <a:schemeClr val="tx2">
                    <a:lumMod val="10000"/>
                  </a:schemeClr>
                </a:solidFill>
                <a:latin typeface="Times New Roman" panose="02020603050405020304" pitchFamily="18" charset="0"/>
                <a:cs typeface="Times New Roman" panose="02020603050405020304" pitchFamily="18" charset="0"/>
              </a:rPr>
              <a:t>Forecast Error Variance Decomposition for Real GDP growth rate</a:t>
            </a:r>
          </a:p>
        </p:txBody>
      </p:sp>
    </p:spTree>
    <p:extLst>
      <p:ext uri="{BB962C8B-B14F-4D97-AF65-F5344CB8AC3E}">
        <p14:creationId xmlns:p14="http://schemas.microsoft.com/office/powerpoint/2010/main" val="3666608665"/>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1905" y="546303"/>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rgbClr val="FFFFFF"/>
                </a:solidFill>
                <a:latin typeface="Times New Roman" panose="02020603050405020304" pitchFamily="18" charset="0"/>
                <a:cs typeface="Times New Roman" panose="02020603050405020304" pitchFamily="18" charset="0"/>
              </a:rPr>
              <a:t>Empirical Results: </a:t>
            </a:r>
            <a:r>
              <a:rPr lang="en-US" sz="1200" dirty="0">
                <a:solidFill>
                  <a:schemeClr val="bg1"/>
                </a:solidFill>
                <a:latin typeface="Times New Roman" panose="02020603050405020304" pitchFamily="18" charset="0"/>
                <a:cs typeface="Times New Roman" panose="02020603050405020304" pitchFamily="18" charset="0"/>
              </a:rPr>
              <a:t>Forecast Error Variance Decomposition</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0" name="object 13">
            <a:extLst>
              <a:ext uri="{FF2B5EF4-FFF2-40B4-BE49-F238E27FC236}">
                <a16:creationId xmlns:a16="http://schemas.microsoft.com/office/drawing/2014/main" id="{A4E097E6-1247-41C8-B2D9-1DD30E1F871F}"/>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1" name="object 14">
            <a:extLst>
              <a:ext uri="{FF2B5EF4-FFF2-40B4-BE49-F238E27FC236}">
                <a16:creationId xmlns:a16="http://schemas.microsoft.com/office/drawing/2014/main" id="{CA66BA60-6D8E-49D4-A4EC-AC9C5F681170}"/>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2" name="object 2">
            <a:extLst>
              <a:ext uri="{FF2B5EF4-FFF2-40B4-BE49-F238E27FC236}">
                <a16:creationId xmlns:a16="http://schemas.microsoft.com/office/drawing/2014/main" id="{BDDD4403-F9B0-40BE-B161-826C0821EA56}"/>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rgbClr val="FFFFFF"/>
                </a:solidFill>
                <a:latin typeface="Arial"/>
                <a:cs typeface="Arial"/>
              </a:rPr>
              <a:t> </a:t>
            </a:r>
            <a:r>
              <a:rPr sz="600" b="1" spc="-20" dirty="0">
                <a:solidFill>
                  <a:srgbClr val="7F7F7F"/>
                </a:solidFill>
                <a:latin typeface="Arial"/>
                <a:cs typeface="Arial"/>
              </a:rPr>
              <a:t>Introducti</a:t>
            </a:r>
            <a:r>
              <a:rPr lang="en-US" sz="600" b="1" spc="-20" dirty="0">
                <a:solidFill>
                  <a:srgbClr val="7F7F7F"/>
                </a:solidFill>
                <a:latin typeface="Arial"/>
                <a:cs typeface="Arial"/>
              </a:rPr>
              <a:t>on</a:t>
            </a:r>
            <a:r>
              <a:rPr lang="en-US" sz="600" b="1" spc="500" dirty="0">
                <a:solidFill>
                  <a:srgbClr val="7F7F7F"/>
                </a:solidFill>
                <a:latin typeface="Arial"/>
                <a:cs typeface="Arial"/>
              </a:rPr>
              <a:t> </a:t>
            </a:r>
            <a:endParaRPr lang="en-US" sz="600" dirty="0">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chemeClr val="bg1">
                    <a:lumMod val="65000"/>
                  </a:schemeClr>
                </a:solidFill>
                <a:latin typeface="Arial"/>
                <a:cs typeface="Arial"/>
              </a:rPr>
              <a:t>Empirical model</a:t>
            </a:r>
          </a:p>
          <a:p>
            <a:pPr marR="5715" algn="r">
              <a:lnSpc>
                <a:spcPts val="670"/>
              </a:lnSpc>
            </a:pPr>
            <a:r>
              <a:rPr lang="en-US" sz="600" b="1" spc="-30" dirty="0">
                <a:solidFill>
                  <a:schemeClr val="bg1"/>
                </a:solidFill>
                <a:latin typeface="Arial"/>
                <a:cs typeface="Arial"/>
              </a:rPr>
              <a:t>Empirical results</a:t>
            </a:r>
            <a:endParaRPr sz="600" dirty="0">
              <a:solidFill>
                <a:schemeClr val="bg1"/>
              </a:solidFill>
              <a:latin typeface="Arial"/>
              <a:cs typeface="Arial"/>
            </a:endParaRPr>
          </a:p>
          <a:p>
            <a:pPr marR="6350" algn="r">
              <a:lnSpc>
                <a:spcPts val="695"/>
              </a:lnSpc>
            </a:pPr>
            <a:r>
              <a:rPr sz="600" b="1" spc="-35" dirty="0">
                <a:solidFill>
                  <a:srgbClr val="7F7F7F"/>
                </a:solidFill>
                <a:latin typeface="Arial"/>
                <a:cs typeface="Arial"/>
              </a:rPr>
              <a:t>Concluding</a:t>
            </a:r>
            <a:r>
              <a:rPr sz="600" b="1" spc="55" dirty="0">
                <a:solidFill>
                  <a:srgbClr val="7F7F7F"/>
                </a:solidFill>
                <a:latin typeface="Arial"/>
                <a:cs typeface="Arial"/>
              </a:rPr>
              <a:t> </a:t>
            </a:r>
            <a:r>
              <a:rPr sz="600" b="1" spc="-10" dirty="0">
                <a:solidFill>
                  <a:srgbClr val="7F7F7F"/>
                </a:solidFill>
                <a:latin typeface="Arial"/>
                <a:cs typeface="Arial"/>
              </a:rPr>
              <a:t>remarks</a:t>
            </a:r>
            <a:endParaRPr sz="600" dirty="0">
              <a:latin typeface="Arial"/>
              <a:cs typeface="Arial"/>
            </a:endParaRPr>
          </a:p>
        </p:txBody>
      </p:sp>
      <p:sp>
        <p:nvSpPr>
          <p:cNvPr id="13" name="object 4">
            <a:extLst>
              <a:ext uri="{FF2B5EF4-FFF2-40B4-BE49-F238E27FC236}">
                <a16:creationId xmlns:a16="http://schemas.microsoft.com/office/drawing/2014/main" id="{FF9C12D4-B305-4713-AABC-3D87267B6D9F}"/>
              </a:ext>
            </a:extLst>
          </p:cNvPr>
          <p:cNvSpPr txBox="1"/>
          <p:nvPr/>
        </p:nvSpPr>
        <p:spPr>
          <a:xfrm>
            <a:off x="2430976" y="173522"/>
            <a:ext cx="1721854" cy="209673"/>
          </a:xfrm>
          <a:prstGeom prst="rect">
            <a:avLst/>
          </a:prstGeom>
        </p:spPr>
        <p:txBody>
          <a:bodyPr vert="horz" wrap="square" lIns="0" tIns="12065" rIns="0" bIns="0" rtlCol="0">
            <a:spAutoFit/>
          </a:bodyPr>
          <a:lstStyle/>
          <a:p>
            <a:pPr>
              <a:lnSpc>
                <a:spcPct val="100000"/>
              </a:lnSpc>
              <a:spcBef>
                <a:spcPts val="95"/>
              </a:spcBef>
            </a:pPr>
            <a:r>
              <a:rPr lang="en-US" sz="600" b="1" spc="-20" dirty="0">
                <a:solidFill>
                  <a:schemeClr val="bg1">
                    <a:lumMod val="65000"/>
                  </a:schemeClr>
                </a:solidFill>
                <a:latin typeface="Arial"/>
                <a:cs typeface="Arial"/>
              </a:rPr>
              <a:t>Impulse Response Analysis</a:t>
            </a:r>
          </a:p>
          <a:p>
            <a:pPr>
              <a:lnSpc>
                <a:spcPct val="100000"/>
              </a:lnSpc>
              <a:spcBef>
                <a:spcPts val="95"/>
              </a:spcBef>
            </a:pPr>
            <a:r>
              <a:rPr lang="en-US" sz="600" b="1" spc="-20" dirty="0">
                <a:solidFill>
                  <a:schemeClr val="bg1"/>
                </a:solidFill>
                <a:latin typeface="Arial"/>
                <a:cs typeface="Arial"/>
              </a:rPr>
              <a:t>Forecast Error Variance Decomposition</a:t>
            </a:r>
            <a:endParaRPr sz="600" dirty="0">
              <a:solidFill>
                <a:schemeClr val="bg1"/>
              </a:solidFill>
              <a:latin typeface="Arial"/>
              <a:cs typeface="Arial"/>
            </a:endParaRPr>
          </a:p>
        </p:txBody>
      </p:sp>
      <p:sp>
        <p:nvSpPr>
          <p:cNvPr id="17" name="TextBox 16">
            <a:extLst>
              <a:ext uri="{FF2B5EF4-FFF2-40B4-BE49-F238E27FC236}">
                <a16:creationId xmlns:a16="http://schemas.microsoft.com/office/drawing/2014/main" id="{8F02FA36-A70B-4904-9887-30F9A014DC0C}"/>
              </a:ext>
            </a:extLst>
          </p:cNvPr>
          <p:cNvSpPr txBox="1"/>
          <p:nvPr/>
        </p:nvSpPr>
        <p:spPr>
          <a:xfrm>
            <a:off x="552450" y="915169"/>
            <a:ext cx="3962400" cy="230832"/>
          </a:xfrm>
          <a:prstGeom prst="rect">
            <a:avLst/>
          </a:prstGeom>
          <a:noFill/>
        </p:spPr>
        <p:txBody>
          <a:bodyPr wrap="square" rtlCol="0">
            <a:spAutoFit/>
          </a:bodyPr>
          <a:lstStyle/>
          <a:p>
            <a:r>
              <a:rPr lang="en-US" sz="900" b="1" dirty="0">
                <a:solidFill>
                  <a:schemeClr val="tx2">
                    <a:lumMod val="10000"/>
                  </a:schemeClr>
                </a:solidFill>
                <a:latin typeface="Times New Roman" panose="02020603050405020304" pitchFamily="18" charset="0"/>
                <a:cs typeface="Times New Roman" panose="02020603050405020304" pitchFamily="18" charset="0"/>
              </a:rPr>
              <a:t>Forecast Error Variance Decomposition for Inflation rate</a:t>
            </a:r>
          </a:p>
        </p:txBody>
      </p:sp>
      <p:graphicFrame>
        <p:nvGraphicFramePr>
          <p:cNvPr id="4" name="Table 3">
            <a:extLst>
              <a:ext uri="{FF2B5EF4-FFF2-40B4-BE49-F238E27FC236}">
                <a16:creationId xmlns:a16="http://schemas.microsoft.com/office/drawing/2014/main" id="{19AC1DE5-278D-425C-8B74-A477516FD85D}"/>
              </a:ext>
            </a:extLst>
          </p:cNvPr>
          <p:cNvGraphicFramePr>
            <a:graphicFrameLocks noGrp="1"/>
          </p:cNvGraphicFramePr>
          <p:nvPr>
            <p:extLst>
              <p:ext uri="{D42A27DB-BD31-4B8C-83A1-F6EECF244321}">
                <p14:modId xmlns:p14="http://schemas.microsoft.com/office/powerpoint/2010/main" val="3561665464"/>
              </p:ext>
            </p:extLst>
          </p:nvPr>
        </p:nvGraphicFramePr>
        <p:xfrm>
          <a:off x="645242" y="1177334"/>
          <a:ext cx="2874962" cy="1568135"/>
        </p:xfrm>
        <a:graphic>
          <a:graphicData uri="http://schemas.openxmlformats.org/drawingml/2006/table">
            <a:tbl>
              <a:tblPr firstRow="1" firstCol="1" bandRow="1"/>
              <a:tblGrid>
                <a:gridCol w="1386487">
                  <a:extLst>
                    <a:ext uri="{9D8B030D-6E8A-4147-A177-3AD203B41FA5}">
                      <a16:colId xmlns:a16="http://schemas.microsoft.com/office/drawing/2014/main" val="3157742455"/>
                    </a:ext>
                  </a:extLst>
                </a:gridCol>
                <a:gridCol w="1488475">
                  <a:extLst>
                    <a:ext uri="{9D8B030D-6E8A-4147-A177-3AD203B41FA5}">
                      <a16:colId xmlns:a16="http://schemas.microsoft.com/office/drawing/2014/main" val="1293979431"/>
                    </a:ext>
                  </a:extLst>
                </a:gridCol>
              </a:tblGrid>
              <a:tr h="210165">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Horizon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200000"/>
                        </a:lnSpc>
                        <a:spcBef>
                          <a:spcPts val="0"/>
                        </a:spcBef>
                        <a:spcAft>
                          <a:spcPts val="0"/>
                        </a:spcAft>
                      </a:pPr>
                      <a:r>
                        <a:rPr lang="en-US" sz="12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Oil price shocks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5456678"/>
                  </a:ext>
                </a:extLst>
              </a:tr>
              <a:tr h="275551">
                <a:tc>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0.191009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6791"/>
                  </a:ext>
                </a:extLst>
              </a:tr>
              <a:tr h="275551">
                <a:tc>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0.265304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2573929"/>
                  </a:ext>
                </a:extLst>
              </a:tr>
              <a:tr h="275551">
                <a:tc>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0.315302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5575168"/>
                  </a:ext>
                </a:extLst>
              </a:tr>
              <a:tr h="275551">
                <a:tc>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solidFill>
                            <a:srgbClr val="222222"/>
                          </a:solidFill>
                          <a:effectLst/>
                          <a:latin typeface="Times New Roman" panose="02020603050405020304" pitchFamily="18" charset="0"/>
                          <a:ea typeface="Calibri" panose="020F0502020204030204" pitchFamily="34" charset="0"/>
                          <a:cs typeface="Arial" panose="020B0604020202020204" pitchFamily="34" charset="0"/>
                        </a:rPr>
                        <a:t>0.441633</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638384"/>
                  </a:ext>
                </a:extLst>
              </a:tr>
            </a:tbl>
          </a:graphicData>
        </a:graphic>
      </p:graphicFrame>
    </p:spTree>
    <p:extLst>
      <p:ext uri="{BB962C8B-B14F-4D97-AF65-F5344CB8AC3E}">
        <p14:creationId xmlns:p14="http://schemas.microsoft.com/office/powerpoint/2010/main" val="3562238381"/>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1905" y="546303"/>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chemeClr val="bg1"/>
                </a:solidFill>
                <a:latin typeface="Times New Roman" panose="02020603050405020304" pitchFamily="18" charset="0"/>
                <a:cs typeface="Times New Roman" panose="02020603050405020304" pitchFamily="18" charset="0"/>
              </a:rPr>
              <a:t>Concluding remarks</a:t>
            </a:r>
            <a:r>
              <a:rPr lang="en-US" sz="1200" dirty="0">
                <a:solidFill>
                  <a:schemeClr val="bg1"/>
                </a:solidFill>
                <a:latin typeface="Times New Roman" panose="02020603050405020304" pitchFamily="18" charset="0"/>
                <a:cs typeface="Times New Roman" panose="02020603050405020304" pitchFamily="18" charset="0"/>
              </a:rPr>
              <a:t>: Main Findings</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21" name="object 2">
            <a:extLst>
              <a:ext uri="{FF2B5EF4-FFF2-40B4-BE49-F238E27FC236}">
                <a16:creationId xmlns:a16="http://schemas.microsoft.com/office/drawing/2014/main" id="{33E93D8B-A025-4D3F-90CD-CCA48F1EED49}"/>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chemeClr val="bg1">
                    <a:lumMod val="65000"/>
                  </a:schemeClr>
                </a:solidFill>
                <a:latin typeface="Arial"/>
                <a:cs typeface="Arial"/>
              </a:rPr>
              <a:t> </a:t>
            </a:r>
            <a:r>
              <a:rPr sz="600" b="1" spc="-20" dirty="0">
                <a:solidFill>
                  <a:schemeClr val="bg1">
                    <a:lumMod val="65000"/>
                  </a:schemeClr>
                </a:solidFill>
                <a:latin typeface="Arial"/>
                <a:cs typeface="Arial"/>
              </a:rPr>
              <a:t>Introducti</a:t>
            </a:r>
            <a:r>
              <a:rPr lang="en-US" sz="600" b="1" spc="-20" dirty="0">
                <a:solidFill>
                  <a:schemeClr val="bg1">
                    <a:lumMod val="65000"/>
                  </a:schemeClr>
                </a:solidFill>
                <a:latin typeface="Arial"/>
                <a:cs typeface="Arial"/>
              </a:rPr>
              <a:t>on</a:t>
            </a:r>
            <a:r>
              <a:rPr lang="en-US" sz="600" b="1" spc="500" dirty="0">
                <a:solidFill>
                  <a:schemeClr val="bg1">
                    <a:lumMod val="65000"/>
                  </a:schemeClr>
                </a:solidFill>
                <a:latin typeface="Arial"/>
                <a:cs typeface="Arial"/>
              </a:rPr>
              <a:t> </a:t>
            </a:r>
            <a:endParaRPr lang="en-US" sz="600" dirty="0">
              <a:solidFill>
                <a:schemeClr val="bg1">
                  <a:lumMod val="65000"/>
                </a:schemeClr>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lang="en-US" sz="600" b="1" spc="-35" dirty="0">
                <a:solidFill>
                  <a:schemeClr val="bg1"/>
                </a:solidFill>
                <a:latin typeface="Arial"/>
                <a:cs typeface="Arial"/>
              </a:rPr>
              <a:t>Concluding remarks</a:t>
            </a:r>
            <a:endParaRPr sz="600" dirty="0">
              <a:solidFill>
                <a:schemeClr val="bg1"/>
              </a:solidFill>
              <a:latin typeface="Arial"/>
              <a:cs typeface="Arial"/>
            </a:endParaRPr>
          </a:p>
        </p:txBody>
      </p:sp>
      <p:sp>
        <p:nvSpPr>
          <p:cNvPr id="10" name="TextBox 9">
            <a:extLst>
              <a:ext uri="{FF2B5EF4-FFF2-40B4-BE49-F238E27FC236}">
                <a16:creationId xmlns:a16="http://schemas.microsoft.com/office/drawing/2014/main" id="{957516CD-2A32-46F2-A0BC-4259DDBF9BA7}"/>
              </a:ext>
            </a:extLst>
          </p:cNvPr>
          <p:cNvSpPr txBox="1"/>
          <p:nvPr/>
        </p:nvSpPr>
        <p:spPr>
          <a:xfrm>
            <a:off x="-46525" y="945830"/>
            <a:ext cx="4512343" cy="2246769"/>
          </a:xfrm>
          <a:prstGeom prst="rect">
            <a:avLst/>
          </a:prstGeom>
          <a:noFill/>
        </p:spPr>
        <p:txBody>
          <a:bodyPr wrap="square" rtlCol="0">
            <a:spAutoFit/>
          </a:bodyPr>
          <a:lstStyle/>
          <a:p>
            <a:pPr marL="171450" indent="-171450">
              <a:buClr>
                <a:schemeClr val="tx2"/>
              </a:buClr>
              <a:buFont typeface="Wingdings" panose="05000000000000000000" pitchFamily="2" charset="2"/>
              <a:buChar char="Ø"/>
            </a:pPr>
            <a:r>
              <a:rPr lang="en-US" sz="1000" dirty="0">
                <a:effectLst/>
                <a:latin typeface="Times New Roman" panose="02020603050405020304" pitchFamily="18" charset="0"/>
                <a:ea typeface="Calibri" panose="020F0502020204030204" pitchFamily="34" charset="0"/>
              </a:rPr>
              <a:t>This paper attempts at investigating the impact of oil price shocks on real GDP and inflation in Saudi Arabia</a:t>
            </a:r>
            <a:r>
              <a:rPr lang="en-US" sz="1000" dirty="0">
                <a:latin typeface="Times New Roman" panose="02020603050405020304" pitchFamily="18" charset="0"/>
                <a:ea typeface="Calibri" panose="020F0502020204030204" pitchFamily="34" charset="0"/>
              </a:rPr>
              <a:t>, using </a:t>
            </a:r>
            <a:r>
              <a:rPr lang="en-US" sz="1000" dirty="0">
                <a:solidFill>
                  <a:schemeClr val="tx2">
                    <a:lumMod val="10000"/>
                  </a:schemeClr>
                </a:solidFill>
                <a:latin typeface="Times New Roman" panose="02020603050405020304" pitchFamily="18" charset="0"/>
                <a:cs typeface="Times New Roman" panose="02020603050405020304" pitchFamily="18" charset="0"/>
              </a:rPr>
              <a:t>SVAR (15) model </a:t>
            </a:r>
          </a:p>
          <a:p>
            <a:pPr marL="171450" indent="-171450">
              <a:buClr>
                <a:schemeClr val="tx2"/>
              </a:buClr>
              <a:buFont typeface="Wingdings" panose="05000000000000000000" pitchFamily="2" charset="2"/>
              <a:buChar char="Ø"/>
            </a:pPr>
            <a:endParaRPr lang="en-US" sz="1000" dirty="0">
              <a:solidFill>
                <a:schemeClr val="tx2">
                  <a:lumMod val="1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71450" indent="-171450">
              <a:buClr>
                <a:schemeClr val="tx2"/>
              </a:buClr>
              <a:buFont typeface="Wingdings" panose="05000000000000000000" pitchFamily="2" charset="2"/>
              <a:buChar char="Ø"/>
            </a:pPr>
            <a:r>
              <a:rPr lang="en-US" sz="1000" b="1" u="sng" dirty="0">
                <a:solidFill>
                  <a:schemeClr val="tx2">
                    <a:lumMod val="10000"/>
                  </a:schemeClr>
                </a:solidFill>
                <a:latin typeface="Times New Roman" panose="02020603050405020304" pitchFamily="18" charset="0"/>
                <a:ea typeface="Calibri" panose="020F0502020204030204" pitchFamily="34" charset="0"/>
                <a:cs typeface="Times New Roman" panose="02020603050405020304" pitchFamily="18" charset="0"/>
              </a:rPr>
              <a:t>Main findings:</a:t>
            </a:r>
          </a:p>
          <a:p>
            <a:pPr marL="171450" indent="-171450">
              <a:buClr>
                <a:schemeClr val="tx2"/>
              </a:buClr>
              <a:buFont typeface="Wingdings" panose="05000000000000000000" pitchFamily="2" charset="2"/>
              <a:buChar char="Ø"/>
            </a:pPr>
            <a:endParaRPr lang="en-US" sz="1000" dirty="0">
              <a:effectLst/>
              <a:latin typeface="Times New Roman" panose="02020603050405020304" pitchFamily="18" charset="0"/>
              <a:ea typeface="Calibri" panose="020F0502020204030204" pitchFamily="34" charset="0"/>
            </a:endParaRPr>
          </a:p>
          <a:p>
            <a:pPr marL="228600" indent="-228600">
              <a:buClr>
                <a:schemeClr val="tx2"/>
              </a:buClr>
              <a:buAutoNum type="arabicPeriod"/>
            </a:pPr>
            <a:r>
              <a:rPr lang="en-US" sz="1000" b="1" dirty="0"/>
              <a:t>An increase in oil prices has a direct positive impact on both the country's national income and inflation.</a:t>
            </a:r>
          </a:p>
          <a:p>
            <a:pPr marL="228600" indent="-228600">
              <a:buClr>
                <a:schemeClr val="tx2"/>
              </a:buClr>
              <a:buAutoNum type="arabicPeriod"/>
            </a:pPr>
            <a:endParaRPr lang="en-US" sz="1000" b="1" dirty="0">
              <a:latin typeface="Tahoma" panose="020B0604030504040204" pitchFamily="34" charset="0"/>
              <a:ea typeface="Tahoma" panose="020B0604030504040204" pitchFamily="34" charset="0"/>
              <a:cs typeface="Tahoma" panose="020B0604030504040204" pitchFamily="34" charset="0"/>
            </a:endParaRPr>
          </a:p>
          <a:p>
            <a:pPr marL="228600" indent="-228600">
              <a:buClr>
                <a:schemeClr val="tx2"/>
              </a:buClr>
              <a:buAutoNum type="arabicPeriod"/>
            </a:pPr>
            <a:r>
              <a:rPr lang="en-US" sz="1000" b="1" dirty="0">
                <a:latin typeface="Tahoma" panose="020B0604030504040204" pitchFamily="34" charset="0"/>
                <a:ea typeface="Tahoma" panose="020B0604030504040204" pitchFamily="34" charset="0"/>
                <a:cs typeface="Tahoma" panose="020B0604030504040204" pitchFamily="34" charset="0"/>
              </a:rPr>
              <a:t> A </a:t>
            </a:r>
            <a:r>
              <a:rPr lang="en-US" sz="1000" b="1" dirty="0">
                <a:solidFill>
                  <a:schemeClr val="tx2">
                    <a:lumMod val="10000"/>
                  </a:schemeClr>
                </a:solidFill>
                <a:effectLst/>
                <a:latin typeface="Tahoma" panose="020B0604030504040204" pitchFamily="34" charset="0"/>
                <a:ea typeface="Tahoma" panose="020B0604030504040204" pitchFamily="34" charset="0"/>
                <a:cs typeface="Tahoma" panose="020B0604030504040204" pitchFamily="34" charset="0"/>
              </a:rPr>
              <a:t>one</a:t>
            </a:r>
            <a:r>
              <a:rPr lang="en-US" sz="1000" b="1" dirty="0">
                <a:solidFill>
                  <a:schemeClr val="tx2">
                    <a:lumMod val="10000"/>
                  </a:schemeClr>
                </a:solidFill>
                <a:latin typeface="Tahoma" panose="020B0604030504040204" pitchFamily="34" charset="0"/>
                <a:ea typeface="Tahoma" panose="020B0604030504040204" pitchFamily="34" charset="0"/>
                <a:cs typeface="Tahoma" panose="020B0604030504040204" pitchFamily="34" charset="0"/>
              </a:rPr>
              <a:t>-time oil price shock boosts aggregate demand in the case of Saudi Arabia.</a:t>
            </a:r>
          </a:p>
          <a:p>
            <a:pPr marL="228600" indent="-228600">
              <a:buClr>
                <a:schemeClr val="tx2"/>
              </a:buClr>
              <a:buAutoNum type="arabicPeriod"/>
            </a:pPr>
            <a:endParaRPr lang="en-US" sz="1000" b="1" dirty="0">
              <a:solidFill>
                <a:schemeClr val="tx2">
                  <a:lumMod val="10000"/>
                </a:schemeClr>
              </a:solidFill>
              <a:latin typeface="Tahoma" panose="020B0604030504040204" pitchFamily="34" charset="0"/>
              <a:ea typeface="Tahoma" panose="020B0604030504040204" pitchFamily="34" charset="0"/>
              <a:cs typeface="Tahoma" panose="020B0604030504040204" pitchFamily="34" charset="0"/>
            </a:endParaRPr>
          </a:p>
          <a:p>
            <a:pPr marL="228600" indent="-228600">
              <a:buClr>
                <a:schemeClr val="tx2"/>
              </a:buClr>
              <a:buAutoNum type="arabicPeriod"/>
            </a:pPr>
            <a:r>
              <a:rPr lang="en-US" sz="1000" b="1" dirty="0">
                <a:solidFill>
                  <a:schemeClr val="tx2">
                    <a:lumMod val="10000"/>
                  </a:schemeClr>
                </a:solidFill>
                <a:latin typeface="Tahoma" panose="020B0604030504040204" pitchFamily="34" charset="0"/>
                <a:ea typeface="Tahoma" panose="020B0604030504040204" pitchFamily="34" charset="0"/>
                <a:cs typeface="Tahoma" panose="020B0604030504040204" pitchFamily="34" charset="0"/>
              </a:rPr>
              <a:t>Oil price shocks contribute substantially to the forecast error variance for the real economic growth and inflation.</a:t>
            </a:r>
          </a:p>
          <a:p>
            <a:pPr>
              <a:buClr>
                <a:schemeClr val="tx2"/>
              </a:buClr>
            </a:pPr>
            <a:endParaRPr lang="en-US" sz="1000" b="1" dirty="0">
              <a:solidFill>
                <a:schemeClr val="tx2">
                  <a:lumMod val="1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1" name="object 13">
            <a:extLst>
              <a:ext uri="{FF2B5EF4-FFF2-40B4-BE49-F238E27FC236}">
                <a16:creationId xmlns:a16="http://schemas.microsoft.com/office/drawing/2014/main" id="{10D04A94-84C3-4E27-B480-FBE09F314312}"/>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2" name="object 14">
            <a:extLst>
              <a:ext uri="{FF2B5EF4-FFF2-40B4-BE49-F238E27FC236}">
                <a16:creationId xmlns:a16="http://schemas.microsoft.com/office/drawing/2014/main" id="{8A2B1AE0-5C0F-4451-B0CC-9C92FE49AAE2}"/>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3" name="object 4">
            <a:extLst>
              <a:ext uri="{FF2B5EF4-FFF2-40B4-BE49-F238E27FC236}">
                <a16:creationId xmlns:a16="http://schemas.microsoft.com/office/drawing/2014/main" id="{E1924266-BB7E-4D88-AD3C-426F366CA279}"/>
              </a:ext>
            </a:extLst>
          </p:cNvPr>
          <p:cNvSpPr txBox="1"/>
          <p:nvPr/>
        </p:nvSpPr>
        <p:spPr>
          <a:xfrm>
            <a:off x="2424240" y="162835"/>
            <a:ext cx="1894727" cy="314830"/>
          </a:xfrm>
          <a:prstGeom prst="rect">
            <a:avLst/>
          </a:prstGeom>
        </p:spPr>
        <p:txBody>
          <a:bodyPr vert="horz" wrap="square" lIns="0" tIns="12065" rIns="0" bIns="0" rtlCol="0">
            <a:spAutoFit/>
          </a:bodyPr>
          <a:lstStyle/>
          <a:p>
            <a:pPr>
              <a:lnSpc>
                <a:spcPct val="100000"/>
              </a:lnSpc>
              <a:spcBef>
                <a:spcPts val="95"/>
              </a:spcBef>
            </a:pPr>
            <a:r>
              <a:rPr lang="en-US" sz="600" b="1" spc="-20" dirty="0">
                <a:solidFill>
                  <a:schemeClr val="bg1"/>
                </a:solidFill>
                <a:latin typeface="Arial"/>
                <a:cs typeface="Arial"/>
              </a:rPr>
              <a:t>Main findings</a:t>
            </a:r>
          </a:p>
          <a:p>
            <a:pPr>
              <a:lnSpc>
                <a:spcPct val="100000"/>
              </a:lnSpc>
              <a:spcBef>
                <a:spcPts val="95"/>
              </a:spcBef>
            </a:pPr>
            <a:r>
              <a:rPr lang="en-US" sz="600" b="1" spc="-20" dirty="0">
                <a:solidFill>
                  <a:schemeClr val="bg1">
                    <a:lumMod val="65000"/>
                  </a:schemeClr>
                </a:solidFill>
                <a:latin typeface="Arial"/>
                <a:cs typeface="Arial"/>
              </a:rPr>
              <a:t>Policy Implications</a:t>
            </a:r>
          </a:p>
          <a:p>
            <a:pPr>
              <a:lnSpc>
                <a:spcPct val="100000"/>
              </a:lnSpc>
              <a:spcBef>
                <a:spcPts val="95"/>
              </a:spcBef>
            </a:pPr>
            <a:r>
              <a:rPr lang="en-US" sz="600" b="1" spc="-20" dirty="0">
                <a:solidFill>
                  <a:schemeClr val="bg1">
                    <a:lumMod val="65000"/>
                  </a:schemeClr>
                </a:solidFill>
                <a:latin typeface="Arial"/>
                <a:cs typeface="Arial"/>
              </a:rPr>
              <a:t>Limitations and Future Research </a:t>
            </a:r>
            <a:endParaRPr sz="600" dirty="0">
              <a:solidFill>
                <a:schemeClr val="bg1">
                  <a:lumMod val="65000"/>
                </a:schemeClr>
              </a:solidFill>
              <a:latin typeface="Arial"/>
              <a:cs typeface="Arial"/>
            </a:endParaRPr>
          </a:p>
        </p:txBody>
      </p:sp>
    </p:spTree>
    <p:extLst>
      <p:ext uri="{BB962C8B-B14F-4D97-AF65-F5344CB8AC3E}">
        <p14:creationId xmlns:p14="http://schemas.microsoft.com/office/powerpoint/2010/main" val="1628104684"/>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1905" y="546303"/>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chemeClr val="bg1"/>
                </a:solidFill>
                <a:latin typeface="Times New Roman" panose="02020603050405020304" pitchFamily="18" charset="0"/>
                <a:cs typeface="Times New Roman" panose="02020603050405020304" pitchFamily="18" charset="0"/>
              </a:rPr>
              <a:t>Concluding remarks: </a:t>
            </a:r>
            <a:r>
              <a:rPr lang="en-US" sz="1200" dirty="0">
                <a:solidFill>
                  <a:schemeClr val="bg1"/>
                </a:solidFill>
                <a:latin typeface="Times New Roman" panose="02020603050405020304" pitchFamily="18" charset="0"/>
                <a:cs typeface="Times New Roman" panose="02020603050405020304" pitchFamily="18" charset="0"/>
              </a:rPr>
              <a:t>Policy Implications</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0" name="TextBox 9">
            <a:extLst>
              <a:ext uri="{FF2B5EF4-FFF2-40B4-BE49-F238E27FC236}">
                <a16:creationId xmlns:a16="http://schemas.microsoft.com/office/drawing/2014/main" id="{957516CD-2A32-46F2-A0BC-4259DDBF9BA7}"/>
              </a:ext>
            </a:extLst>
          </p:cNvPr>
          <p:cNvSpPr txBox="1"/>
          <p:nvPr/>
        </p:nvSpPr>
        <p:spPr>
          <a:xfrm>
            <a:off x="-57150" y="808554"/>
            <a:ext cx="4667250" cy="2708434"/>
          </a:xfrm>
          <a:prstGeom prst="rect">
            <a:avLst/>
          </a:prstGeom>
          <a:noFill/>
        </p:spPr>
        <p:txBody>
          <a:bodyPr wrap="square" rtlCol="0">
            <a:spAutoFit/>
          </a:bodyPr>
          <a:lstStyle/>
          <a:p>
            <a:pPr marL="171450" indent="-171450">
              <a:buClr>
                <a:schemeClr val="tx2"/>
              </a:buClr>
              <a:buFont typeface="Wingdings" panose="05000000000000000000" pitchFamily="2" charset="2"/>
              <a:buChar char="Ø"/>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171450" indent="-171450">
              <a:buClr>
                <a:schemeClr val="tx2"/>
              </a:buClr>
              <a:buFont typeface="Wingdings" panose="05000000000000000000" pitchFamily="2" charset="2"/>
              <a:buChar char="Ø"/>
            </a:pPr>
            <a:r>
              <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Given the high contribution of oil price shocks to fluctuations in real GDP and inflation, policymakers must prioritize efforts to lessen the reliance on oil.</a:t>
            </a:r>
          </a:p>
          <a:p>
            <a:pPr marL="171450" indent="-171450">
              <a:buClr>
                <a:schemeClr val="tx2"/>
              </a:buClr>
              <a:buFont typeface="Wingdings" panose="05000000000000000000" pitchFamily="2" charset="2"/>
              <a:buChar char="Ø"/>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buClr>
                <a:schemeClr val="tx2"/>
              </a:buClr>
            </a:pPr>
            <a:r>
              <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1</a:t>
            </a:r>
            <a:r>
              <a:rPr lang="en-US" sz="1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Focusing on diversifying the economy</a:t>
            </a:r>
            <a:r>
              <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171450" indent="-171450">
              <a:buClr>
                <a:schemeClr val="tx2"/>
              </a:buClr>
              <a:buFont typeface="Wingdings" panose="05000000000000000000" pitchFamily="2" charset="2"/>
              <a:buChar char="Ø"/>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171450" indent="-171450">
              <a:buClr>
                <a:schemeClr val="tx2"/>
              </a:buClr>
              <a:buFontTx/>
              <a:buChar char="-"/>
            </a:pPr>
            <a:r>
              <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Promoting the growth of non-oil sectors (manufacturing, services and tourism)</a:t>
            </a:r>
          </a:p>
          <a:p>
            <a:pPr marL="171450" indent="-171450">
              <a:buClr>
                <a:schemeClr val="tx2"/>
              </a:buClr>
              <a:buFontTx/>
              <a:buChar char="-"/>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171450" indent="-171450">
              <a:buClr>
                <a:schemeClr val="tx2"/>
              </a:buClr>
              <a:buFont typeface="Wingdings" panose="05000000000000000000" pitchFamily="2" charset="2"/>
              <a:buChar char="Ø"/>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buClr>
                <a:schemeClr val="tx2"/>
              </a:buClr>
            </a:pPr>
            <a:r>
              <a:rPr lang="en-US" sz="1000" dirty="0">
                <a:solidFill>
                  <a:schemeClr val="tx1"/>
                </a:solidFill>
                <a:latin typeface="Times New Roman" panose="02020603050405020304" pitchFamily="18" charset="0"/>
                <a:cs typeface="Times New Roman" panose="02020603050405020304" pitchFamily="18" charset="0"/>
              </a:rPr>
              <a:t>2. </a:t>
            </a:r>
            <a:r>
              <a:rPr lang="en-US" sz="1000" b="1" dirty="0">
                <a:solidFill>
                  <a:schemeClr val="tx1"/>
                </a:solidFill>
                <a:latin typeface="Times New Roman" panose="02020603050405020304" pitchFamily="18" charset="0"/>
                <a:cs typeface="Times New Roman" panose="02020603050405020304" pitchFamily="18" charset="0"/>
              </a:rPr>
              <a:t>Efficiently using government’s fiscal policy in allocations during oil price hikes:</a:t>
            </a:r>
          </a:p>
          <a:p>
            <a:pPr marL="171450" indent="-171450">
              <a:buClr>
                <a:schemeClr val="tx2"/>
              </a:buClr>
              <a:buFont typeface="Wingdings" panose="05000000000000000000" pitchFamily="2" charset="2"/>
              <a:buChar char="Ø"/>
            </a:pPr>
            <a:endParaRPr lang="en-US" sz="1000" dirty="0">
              <a:solidFill>
                <a:schemeClr val="tx1"/>
              </a:solidFill>
              <a:latin typeface="Times New Roman" panose="02020603050405020304" pitchFamily="18" charset="0"/>
              <a:cs typeface="Times New Roman" panose="02020603050405020304" pitchFamily="18" charset="0"/>
            </a:endParaRPr>
          </a:p>
          <a:p>
            <a:pPr marL="171450" indent="-171450">
              <a:buClr>
                <a:schemeClr val="tx2"/>
              </a:buClr>
              <a:buFontTx/>
              <a:buChar char="-"/>
            </a:pPr>
            <a:r>
              <a:rPr lang="en-US" sz="1000" dirty="0">
                <a:solidFill>
                  <a:schemeClr val="tx1"/>
                </a:solidFill>
                <a:latin typeface="Times New Roman" panose="02020603050405020304" pitchFamily="18" charset="0"/>
                <a:cs typeface="Times New Roman" panose="02020603050405020304" pitchFamily="18" charset="0"/>
              </a:rPr>
              <a:t>Investing in the private sector and promoting industrial constructions</a:t>
            </a:r>
          </a:p>
          <a:p>
            <a:pPr marL="171450" indent="-171450">
              <a:buClr>
                <a:schemeClr val="tx2"/>
              </a:buClr>
              <a:buFontTx/>
              <a:buChar char="-"/>
            </a:pPr>
            <a:r>
              <a:rPr lang="en-US" sz="1000" dirty="0">
                <a:solidFill>
                  <a:schemeClr val="tx1"/>
                </a:solidFill>
                <a:latin typeface="Times New Roman" panose="02020603050405020304" pitchFamily="18" charset="0"/>
                <a:cs typeface="Times New Roman" panose="02020603050405020304" pitchFamily="18" charset="0"/>
              </a:rPr>
              <a:t>Investing in human capital to equip citizens with the skills needed to work in non-oil sectors</a:t>
            </a:r>
          </a:p>
          <a:p>
            <a:pPr marL="171450" indent="-171450">
              <a:buClr>
                <a:schemeClr val="tx2"/>
              </a:buClr>
              <a:buFontTx/>
              <a:buChar char="-"/>
            </a:pPr>
            <a:r>
              <a:rPr lang="en-US" sz="1000" dirty="0">
                <a:solidFill>
                  <a:schemeClr val="tx1"/>
                </a:solidFill>
                <a:latin typeface="Times New Roman" panose="02020603050405020304" pitchFamily="18" charset="0"/>
                <a:cs typeface="Times New Roman" panose="02020603050405020304" pitchFamily="18" charset="0"/>
              </a:rPr>
              <a:t>Investing in renewable energies can promote efficiency and sustainability</a:t>
            </a:r>
          </a:p>
          <a:p>
            <a:pPr>
              <a:buClr>
                <a:schemeClr val="tx2"/>
              </a:buClr>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buClr>
                <a:schemeClr val="tx2"/>
              </a:buClr>
            </a:pPr>
            <a:endParaRPr lang="en-US" sz="1000" dirty="0">
              <a:solidFill>
                <a:schemeClr val="tx1"/>
              </a:solidFill>
              <a:latin typeface="Times New Roman" panose="02020603050405020304" pitchFamily="18" charset="0"/>
              <a:cs typeface="Times New Roman" panose="02020603050405020304" pitchFamily="18" charset="0"/>
            </a:endParaRPr>
          </a:p>
        </p:txBody>
      </p:sp>
      <p:sp>
        <p:nvSpPr>
          <p:cNvPr id="11" name="object 13">
            <a:extLst>
              <a:ext uri="{FF2B5EF4-FFF2-40B4-BE49-F238E27FC236}">
                <a16:creationId xmlns:a16="http://schemas.microsoft.com/office/drawing/2014/main" id="{B68E1289-587A-4539-ADE6-4B5EEE5FD6B2}"/>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2" name="object 14">
            <a:extLst>
              <a:ext uri="{FF2B5EF4-FFF2-40B4-BE49-F238E27FC236}">
                <a16:creationId xmlns:a16="http://schemas.microsoft.com/office/drawing/2014/main" id="{9CBC9C32-4A40-410B-A2FB-4DC1AD861D9F}"/>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3" name="object 2">
            <a:extLst>
              <a:ext uri="{FF2B5EF4-FFF2-40B4-BE49-F238E27FC236}">
                <a16:creationId xmlns:a16="http://schemas.microsoft.com/office/drawing/2014/main" id="{F5306007-7241-464C-8C5A-05F15F7A7593}"/>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chemeClr val="bg1">
                    <a:lumMod val="65000"/>
                  </a:schemeClr>
                </a:solidFill>
                <a:latin typeface="Arial"/>
                <a:cs typeface="Arial"/>
              </a:rPr>
              <a:t> </a:t>
            </a:r>
            <a:r>
              <a:rPr sz="600" b="1" spc="-20" dirty="0">
                <a:solidFill>
                  <a:schemeClr val="bg1">
                    <a:lumMod val="65000"/>
                  </a:schemeClr>
                </a:solidFill>
                <a:latin typeface="Arial"/>
                <a:cs typeface="Arial"/>
              </a:rPr>
              <a:t>Introducti</a:t>
            </a:r>
            <a:r>
              <a:rPr lang="en-US" sz="600" b="1" spc="-20" dirty="0">
                <a:solidFill>
                  <a:schemeClr val="bg1">
                    <a:lumMod val="65000"/>
                  </a:schemeClr>
                </a:solidFill>
                <a:latin typeface="Arial"/>
                <a:cs typeface="Arial"/>
              </a:rPr>
              <a:t>on</a:t>
            </a:r>
            <a:r>
              <a:rPr lang="en-US" sz="600" b="1" spc="500" dirty="0">
                <a:solidFill>
                  <a:schemeClr val="bg1">
                    <a:lumMod val="65000"/>
                  </a:schemeClr>
                </a:solidFill>
                <a:latin typeface="Arial"/>
                <a:cs typeface="Arial"/>
              </a:rPr>
              <a:t> </a:t>
            </a:r>
            <a:endParaRPr lang="en-US" sz="600" dirty="0">
              <a:solidFill>
                <a:schemeClr val="bg1">
                  <a:lumMod val="65000"/>
                </a:schemeClr>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lang="en-US" sz="600" b="1" spc="-35" dirty="0">
                <a:solidFill>
                  <a:schemeClr val="bg1"/>
                </a:solidFill>
                <a:latin typeface="Arial"/>
                <a:cs typeface="Arial"/>
              </a:rPr>
              <a:t>Concluding remarks</a:t>
            </a:r>
            <a:endParaRPr sz="600" dirty="0">
              <a:solidFill>
                <a:schemeClr val="bg1"/>
              </a:solidFill>
              <a:latin typeface="Arial"/>
              <a:cs typeface="Arial"/>
            </a:endParaRPr>
          </a:p>
        </p:txBody>
      </p:sp>
      <p:sp>
        <p:nvSpPr>
          <p:cNvPr id="17" name="object 4">
            <a:extLst>
              <a:ext uri="{FF2B5EF4-FFF2-40B4-BE49-F238E27FC236}">
                <a16:creationId xmlns:a16="http://schemas.microsoft.com/office/drawing/2014/main" id="{08D4843B-14E6-4BF0-9505-B5A9ED37B43D}"/>
              </a:ext>
            </a:extLst>
          </p:cNvPr>
          <p:cNvSpPr txBox="1"/>
          <p:nvPr/>
        </p:nvSpPr>
        <p:spPr>
          <a:xfrm>
            <a:off x="2411996" y="151026"/>
            <a:ext cx="1894727" cy="314830"/>
          </a:xfrm>
          <a:prstGeom prst="rect">
            <a:avLst/>
          </a:prstGeom>
        </p:spPr>
        <p:txBody>
          <a:bodyPr vert="horz" wrap="square" lIns="0" tIns="12065" rIns="0" bIns="0" rtlCol="0">
            <a:spAutoFit/>
          </a:bodyPr>
          <a:lstStyle/>
          <a:p>
            <a:pPr>
              <a:lnSpc>
                <a:spcPct val="100000"/>
              </a:lnSpc>
              <a:spcBef>
                <a:spcPts val="95"/>
              </a:spcBef>
            </a:pPr>
            <a:r>
              <a:rPr lang="en-US" sz="600" b="1" spc="-20" dirty="0">
                <a:solidFill>
                  <a:schemeClr val="bg1">
                    <a:lumMod val="65000"/>
                  </a:schemeClr>
                </a:solidFill>
                <a:latin typeface="Arial"/>
                <a:cs typeface="Arial"/>
              </a:rPr>
              <a:t>Main findings</a:t>
            </a:r>
          </a:p>
          <a:p>
            <a:pPr>
              <a:lnSpc>
                <a:spcPct val="100000"/>
              </a:lnSpc>
              <a:spcBef>
                <a:spcPts val="95"/>
              </a:spcBef>
            </a:pPr>
            <a:r>
              <a:rPr lang="en-US" sz="600" b="1" spc="-20" dirty="0">
                <a:solidFill>
                  <a:schemeClr val="bg1"/>
                </a:solidFill>
                <a:latin typeface="Arial"/>
                <a:cs typeface="Arial"/>
              </a:rPr>
              <a:t>Policy Implications</a:t>
            </a:r>
          </a:p>
          <a:p>
            <a:pPr>
              <a:lnSpc>
                <a:spcPct val="100000"/>
              </a:lnSpc>
              <a:spcBef>
                <a:spcPts val="95"/>
              </a:spcBef>
            </a:pPr>
            <a:r>
              <a:rPr lang="en-US" sz="600" b="1" spc="-20" dirty="0">
                <a:solidFill>
                  <a:schemeClr val="bg1">
                    <a:lumMod val="65000"/>
                  </a:schemeClr>
                </a:solidFill>
                <a:latin typeface="Arial"/>
                <a:cs typeface="Arial"/>
              </a:rPr>
              <a:t>Limitations and Future Research </a:t>
            </a:r>
            <a:endParaRPr sz="600" dirty="0">
              <a:solidFill>
                <a:schemeClr val="bg1">
                  <a:lumMod val="65000"/>
                </a:schemeClr>
              </a:solidFill>
              <a:latin typeface="Arial"/>
              <a:cs typeface="Arial"/>
            </a:endParaRPr>
          </a:p>
        </p:txBody>
      </p:sp>
    </p:spTree>
    <p:extLst>
      <p:ext uri="{BB962C8B-B14F-4D97-AF65-F5344CB8AC3E}">
        <p14:creationId xmlns:p14="http://schemas.microsoft.com/office/powerpoint/2010/main" val="3257532912"/>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03995" y="0"/>
            <a:ext cx="2304415" cy="548005"/>
          </a:xfrm>
          <a:custGeom>
            <a:avLst/>
            <a:gdLst/>
            <a:ahLst/>
            <a:cxnLst/>
            <a:rect l="l" t="t" r="r" b="b"/>
            <a:pathLst>
              <a:path w="2304415" h="548005">
                <a:moveTo>
                  <a:pt x="2303995" y="0"/>
                </a:moveTo>
                <a:lnTo>
                  <a:pt x="0" y="0"/>
                </a:lnTo>
                <a:lnTo>
                  <a:pt x="0" y="548004"/>
                </a:lnTo>
                <a:lnTo>
                  <a:pt x="2303995" y="548004"/>
                </a:lnTo>
                <a:lnTo>
                  <a:pt x="2303995" y="0"/>
                </a:lnTo>
                <a:close/>
              </a:path>
            </a:pathLst>
          </a:custGeom>
          <a:solidFill>
            <a:srgbClr val="3333B2"/>
          </a:solidFill>
        </p:spPr>
        <p:txBody>
          <a:bodyPr wrap="square" lIns="0" tIns="0" rIns="0" bIns="0" rtlCol="0"/>
          <a:lstStyle/>
          <a:p>
            <a:endParaRPr/>
          </a:p>
        </p:txBody>
      </p:sp>
      <p:sp>
        <p:nvSpPr>
          <p:cNvPr id="5" name="object 5"/>
          <p:cNvSpPr txBox="1"/>
          <p:nvPr/>
        </p:nvSpPr>
        <p:spPr>
          <a:xfrm>
            <a:off x="1905" y="546303"/>
            <a:ext cx="4608195" cy="262251"/>
          </a:xfrm>
          <a:prstGeom prst="rect">
            <a:avLst/>
          </a:prstGeom>
          <a:solidFill>
            <a:srgbClr val="3333B2"/>
          </a:solidFill>
        </p:spPr>
        <p:txBody>
          <a:bodyPr vert="horz" wrap="square" lIns="0" tIns="76835" rIns="0" bIns="0" rtlCol="0">
            <a:spAutoFit/>
          </a:bodyPr>
          <a:lstStyle/>
          <a:p>
            <a:pPr marL="107950">
              <a:spcBef>
                <a:spcPts val="605"/>
              </a:spcBef>
            </a:pPr>
            <a:r>
              <a:rPr lang="en-US" sz="1200" b="1" dirty="0">
                <a:solidFill>
                  <a:schemeClr val="bg1"/>
                </a:solidFill>
                <a:latin typeface="Times New Roman" panose="02020603050405020304" pitchFamily="18" charset="0"/>
                <a:cs typeface="Times New Roman" panose="02020603050405020304" pitchFamily="18" charset="0"/>
              </a:rPr>
              <a:t>Concluding remarks: </a:t>
            </a:r>
            <a:r>
              <a:rPr lang="en-US" sz="1200" dirty="0">
                <a:solidFill>
                  <a:schemeClr val="bg1"/>
                </a:solidFill>
                <a:latin typeface="Times New Roman" panose="02020603050405020304" pitchFamily="18" charset="0"/>
                <a:cs typeface="Times New Roman" panose="02020603050405020304" pitchFamily="18" charset="0"/>
              </a:rPr>
              <a:t>Limitations and Future Recommendations</a:t>
            </a:r>
          </a:p>
        </p:txBody>
      </p:sp>
      <p:grpSp>
        <p:nvGrpSpPr>
          <p:cNvPr id="14" name="object 14"/>
          <p:cNvGrpSpPr/>
          <p:nvPr/>
        </p:nvGrpSpPr>
        <p:grpSpPr>
          <a:xfrm>
            <a:off x="0" y="3329876"/>
            <a:ext cx="4608195" cy="126364"/>
            <a:chOff x="0" y="3329876"/>
            <a:chExt cx="4608195" cy="126364"/>
          </a:xfrm>
        </p:grpSpPr>
        <p:sp>
          <p:nvSpPr>
            <p:cNvPr id="15" name="object 15"/>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6" name="object 16"/>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0" name="TextBox 9">
            <a:extLst>
              <a:ext uri="{FF2B5EF4-FFF2-40B4-BE49-F238E27FC236}">
                <a16:creationId xmlns:a16="http://schemas.microsoft.com/office/drawing/2014/main" id="{957516CD-2A32-46F2-A0BC-4259DDBF9BA7}"/>
              </a:ext>
            </a:extLst>
          </p:cNvPr>
          <p:cNvSpPr txBox="1"/>
          <p:nvPr/>
        </p:nvSpPr>
        <p:spPr>
          <a:xfrm>
            <a:off x="14134" y="992559"/>
            <a:ext cx="4406245" cy="1938992"/>
          </a:xfrm>
          <a:prstGeom prst="rect">
            <a:avLst/>
          </a:prstGeom>
          <a:noFill/>
        </p:spPr>
        <p:txBody>
          <a:bodyPr wrap="square" rtlCol="0">
            <a:spAutoFit/>
          </a:bodyPr>
          <a:lstStyle/>
          <a:p>
            <a:pPr marL="171450" indent="-171450">
              <a:buClr>
                <a:schemeClr val="tx2"/>
              </a:buClr>
              <a:buFont typeface="Wingdings" panose="05000000000000000000" pitchFamily="2" charset="2"/>
              <a:buChar char="Ø"/>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28600" indent="-228600">
              <a:buClr>
                <a:schemeClr val="tx2"/>
              </a:buClr>
              <a:buAutoNum type="arabicPeriod"/>
            </a:pPr>
            <a:r>
              <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While this paper does not consider the asymmetric effects oil price shocks, future research could study the different effects of positive and negative shocks.</a:t>
            </a:r>
          </a:p>
          <a:p>
            <a:pPr marL="228600" indent="-228600">
              <a:buClr>
                <a:schemeClr val="tx2"/>
              </a:buClr>
              <a:buAutoNum type="arabicPeriod"/>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28600" indent="-228600">
              <a:buClr>
                <a:schemeClr val="tx2"/>
              </a:buClr>
              <a:buFontTx/>
              <a:buAutoNum type="arabicPeriod"/>
            </a:pPr>
            <a:r>
              <a:rPr lang="en-US" sz="1000" dirty="0">
                <a:solidFill>
                  <a:schemeClr val="tx1"/>
                </a:solidFill>
                <a:latin typeface="Times New Roman" panose="02020603050405020304" pitchFamily="18" charset="0"/>
                <a:cs typeface="Times New Roman" panose="02020603050405020304" pitchFamily="18" charset="0"/>
              </a:rPr>
              <a:t>While our main focus in this study is on oil price shocks, future research may include other macroeconomic variables that may impact economic growth in Saudi Arabia (fiscal policy, monetary policy, real exchange rate…)</a:t>
            </a:r>
          </a:p>
          <a:p>
            <a:pPr marL="228600" indent="-228600">
              <a:buClr>
                <a:schemeClr val="tx2"/>
              </a:buClr>
              <a:buAutoNum type="arabicPeriod"/>
            </a:pPr>
            <a:endPar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28600" indent="-228600">
              <a:buClr>
                <a:schemeClr val="tx2"/>
              </a:buClr>
              <a:buAutoNum type="arabicPeriod"/>
            </a:pPr>
            <a:r>
              <a:rPr lang="en-US" sz="1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It is interesting for future research to evaluate the effectiveness of  diversification efforts and the success of Saudi Vision 2030 by comparing the effect of oil price shocks before and after these efforts.</a:t>
            </a:r>
            <a:endParaRPr lang="en-US" sz="1000" dirty="0">
              <a:solidFill>
                <a:schemeClr val="tx1"/>
              </a:solidFill>
              <a:latin typeface="Times New Roman" panose="02020603050405020304" pitchFamily="18" charset="0"/>
              <a:cs typeface="Times New Roman" panose="02020603050405020304" pitchFamily="18" charset="0"/>
            </a:endParaRPr>
          </a:p>
        </p:txBody>
      </p:sp>
      <p:sp>
        <p:nvSpPr>
          <p:cNvPr id="11" name="object 13">
            <a:extLst>
              <a:ext uri="{FF2B5EF4-FFF2-40B4-BE49-F238E27FC236}">
                <a16:creationId xmlns:a16="http://schemas.microsoft.com/office/drawing/2014/main" id="{581ED79E-7A31-4690-8C2C-182359FF5886}"/>
              </a:ext>
            </a:extLst>
          </p:cNvPr>
          <p:cNvSpPr txBox="1"/>
          <p:nvPr/>
        </p:nvSpPr>
        <p:spPr>
          <a:xfrm>
            <a:off x="628650" y="3345694"/>
            <a:ext cx="993140" cy="89018"/>
          </a:xfrm>
          <a:prstGeom prst="rect">
            <a:avLst/>
          </a:prstGeom>
        </p:spPr>
        <p:txBody>
          <a:bodyPr vert="horz" wrap="square" lIns="0" tIns="0" rIns="0" bIns="0" rtlCol="0">
            <a:spAutoFit/>
          </a:bodyPr>
          <a:lstStyle/>
          <a:p>
            <a:pPr marL="12700">
              <a:lnSpc>
                <a:spcPts val="685"/>
              </a:lnSpc>
            </a:pPr>
            <a:r>
              <a:rPr lang="en-US" sz="600" b="1" spc="-10" dirty="0">
                <a:solidFill>
                  <a:srgbClr val="FFFFFF"/>
                </a:solidFill>
                <a:latin typeface="Arial"/>
                <a:cs typeface="Arial"/>
              </a:rPr>
              <a:t>Rawan Al Gharib</a:t>
            </a:r>
            <a:endParaRPr sz="600" dirty="0">
              <a:latin typeface="Arial"/>
              <a:cs typeface="Arial"/>
            </a:endParaRPr>
          </a:p>
        </p:txBody>
      </p:sp>
      <p:sp>
        <p:nvSpPr>
          <p:cNvPr id="12" name="object 14">
            <a:extLst>
              <a:ext uri="{FF2B5EF4-FFF2-40B4-BE49-F238E27FC236}">
                <a16:creationId xmlns:a16="http://schemas.microsoft.com/office/drawing/2014/main" id="{E3A63701-3AAB-493C-9E09-BDD96B433455}"/>
              </a:ext>
            </a:extLst>
          </p:cNvPr>
          <p:cNvSpPr txBox="1">
            <a:spLocks noGrp="1"/>
          </p:cNvSpPr>
          <p:nvPr>
            <p:ph type="ftr" sz="quarter" idx="5"/>
          </p:nvPr>
        </p:nvSpPr>
        <p:spPr>
          <a:xfrm>
            <a:off x="2399296" y="3344944"/>
            <a:ext cx="1993900" cy="89768"/>
          </a:xfrm>
          <a:prstGeom prst="rect">
            <a:avLst/>
          </a:prstGeom>
        </p:spPr>
        <p:txBody>
          <a:bodyPr vert="horz" wrap="square" lIns="0" tIns="0" rIns="0" bIns="0" rtlCol="0">
            <a:spAutoFit/>
          </a:bodyPr>
          <a:lstStyle/>
          <a:p>
            <a:pPr marL="12700">
              <a:lnSpc>
                <a:spcPts val="685"/>
              </a:lnSpc>
            </a:pPr>
            <a:r>
              <a:rPr lang="en-US" spc="-10" dirty="0"/>
              <a:t>Impact of Oil Price Shocks on Saudi Arabia</a:t>
            </a:r>
            <a:endParaRPr spc="-20" dirty="0"/>
          </a:p>
        </p:txBody>
      </p:sp>
      <p:sp>
        <p:nvSpPr>
          <p:cNvPr id="13" name="object 2">
            <a:extLst>
              <a:ext uri="{FF2B5EF4-FFF2-40B4-BE49-F238E27FC236}">
                <a16:creationId xmlns:a16="http://schemas.microsoft.com/office/drawing/2014/main" id="{7AAD209D-0B94-4854-BD0B-26DB4D6FE2E2}"/>
              </a:ext>
            </a:extLst>
          </p:cNvPr>
          <p:cNvSpPr txBox="1"/>
          <p:nvPr/>
        </p:nvSpPr>
        <p:spPr>
          <a:xfrm>
            <a:off x="303377" y="0"/>
            <a:ext cx="1906270" cy="546303"/>
          </a:xfrm>
          <a:prstGeom prst="rect">
            <a:avLst/>
          </a:prstGeom>
        </p:spPr>
        <p:txBody>
          <a:bodyPr vert="horz" wrap="square" lIns="0" tIns="20320" rIns="0" bIns="0" rtlCol="0">
            <a:spAutoFit/>
          </a:bodyPr>
          <a:lstStyle/>
          <a:p>
            <a:pPr marL="1464945" marR="5715" indent="173355" algn="r">
              <a:lnSpc>
                <a:spcPts val="670"/>
              </a:lnSpc>
              <a:spcBef>
                <a:spcPts val="160"/>
              </a:spcBef>
            </a:pPr>
            <a:r>
              <a:rPr sz="600" b="1" spc="-20" dirty="0">
                <a:solidFill>
                  <a:schemeClr val="bg1">
                    <a:lumMod val="65000"/>
                  </a:schemeClr>
                </a:solidFill>
                <a:latin typeface="Arial"/>
                <a:cs typeface="Arial"/>
              </a:rPr>
              <a:t>Outline</a:t>
            </a:r>
            <a:r>
              <a:rPr sz="600" b="1" spc="500" dirty="0">
                <a:solidFill>
                  <a:schemeClr val="bg1">
                    <a:lumMod val="65000"/>
                  </a:schemeClr>
                </a:solidFill>
                <a:latin typeface="Arial"/>
                <a:cs typeface="Arial"/>
              </a:rPr>
              <a:t> </a:t>
            </a:r>
            <a:r>
              <a:rPr sz="600" b="1" spc="-20" dirty="0">
                <a:solidFill>
                  <a:schemeClr val="bg1">
                    <a:lumMod val="65000"/>
                  </a:schemeClr>
                </a:solidFill>
                <a:latin typeface="Arial"/>
                <a:cs typeface="Arial"/>
              </a:rPr>
              <a:t>Introducti</a:t>
            </a:r>
            <a:r>
              <a:rPr lang="en-US" sz="600" b="1" spc="-20" dirty="0">
                <a:solidFill>
                  <a:schemeClr val="bg1">
                    <a:lumMod val="65000"/>
                  </a:schemeClr>
                </a:solidFill>
                <a:latin typeface="Arial"/>
                <a:cs typeface="Arial"/>
              </a:rPr>
              <a:t>on</a:t>
            </a:r>
            <a:r>
              <a:rPr lang="en-US" sz="600" b="1" spc="500" dirty="0">
                <a:solidFill>
                  <a:schemeClr val="bg1">
                    <a:lumMod val="65000"/>
                  </a:schemeClr>
                </a:solidFill>
                <a:latin typeface="Arial"/>
                <a:cs typeface="Arial"/>
              </a:rPr>
              <a:t> </a:t>
            </a:r>
            <a:endParaRPr lang="en-US" sz="600" dirty="0">
              <a:solidFill>
                <a:schemeClr val="bg1">
                  <a:lumMod val="65000"/>
                </a:schemeClr>
              </a:solidFill>
              <a:latin typeface="Arial"/>
              <a:cs typeface="Arial"/>
            </a:endParaRPr>
          </a:p>
          <a:p>
            <a:pPr marR="5080" algn="r">
              <a:lnSpc>
                <a:spcPts val="625"/>
              </a:lnSpc>
            </a:pPr>
            <a:r>
              <a:rPr lang="en-US" sz="600" b="1" dirty="0">
                <a:solidFill>
                  <a:srgbClr val="7F7F7F"/>
                </a:solidFill>
                <a:latin typeface="Arial"/>
                <a:cs typeface="Arial"/>
              </a:rPr>
              <a:t>Data</a:t>
            </a:r>
            <a:endParaRPr sz="600" dirty="0">
              <a:latin typeface="Arial"/>
              <a:cs typeface="Arial"/>
            </a:endParaRPr>
          </a:p>
          <a:p>
            <a:pPr marR="5715" algn="r">
              <a:lnSpc>
                <a:spcPts val="670"/>
              </a:lnSpc>
            </a:pPr>
            <a:r>
              <a:rPr lang="en-US" sz="600" b="1" spc="-30" dirty="0">
                <a:solidFill>
                  <a:srgbClr val="7F7F7F"/>
                </a:solidFill>
                <a:latin typeface="Arial"/>
                <a:cs typeface="Arial"/>
              </a:rPr>
              <a:t>Empirical model</a:t>
            </a:r>
          </a:p>
          <a:p>
            <a:pPr marR="5715" algn="r">
              <a:lnSpc>
                <a:spcPts val="670"/>
              </a:lnSpc>
            </a:pPr>
            <a:r>
              <a:rPr lang="en-US" sz="600" b="1" spc="-30" dirty="0">
                <a:solidFill>
                  <a:srgbClr val="7F7F7F"/>
                </a:solidFill>
                <a:latin typeface="Arial"/>
                <a:cs typeface="Arial"/>
              </a:rPr>
              <a:t>Empirical results</a:t>
            </a:r>
            <a:endParaRPr sz="600" dirty="0">
              <a:latin typeface="Arial"/>
              <a:cs typeface="Arial"/>
            </a:endParaRPr>
          </a:p>
          <a:p>
            <a:pPr marR="6350" algn="r">
              <a:lnSpc>
                <a:spcPts val="695"/>
              </a:lnSpc>
            </a:pPr>
            <a:r>
              <a:rPr lang="en-US" sz="600" b="1" spc="-35" dirty="0">
                <a:solidFill>
                  <a:schemeClr val="bg1"/>
                </a:solidFill>
                <a:latin typeface="Arial"/>
                <a:cs typeface="Arial"/>
              </a:rPr>
              <a:t>Concluding remarks</a:t>
            </a:r>
            <a:endParaRPr sz="600" dirty="0">
              <a:solidFill>
                <a:schemeClr val="bg1"/>
              </a:solidFill>
              <a:latin typeface="Arial"/>
              <a:cs typeface="Arial"/>
            </a:endParaRPr>
          </a:p>
        </p:txBody>
      </p:sp>
      <p:sp>
        <p:nvSpPr>
          <p:cNvPr id="18" name="object 4">
            <a:extLst>
              <a:ext uri="{FF2B5EF4-FFF2-40B4-BE49-F238E27FC236}">
                <a16:creationId xmlns:a16="http://schemas.microsoft.com/office/drawing/2014/main" id="{68245591-50D7-4E58-AC48-414259FDA95C}"/>
              </a:ext>
            </a:extLst>
          </p:cNvPr>
          <p:cNvSpPr txBox="1"/>
          <p:nvPr/>
        </p:nvSpPr>
        <p:spPr>
          <a:xfrm>
            <a:off x="2411996" y="147978"/>
            <a:ext cx="1894727" cy="314830"/>
          </a:xfrm>
          <a:prstGeom prst="rect">
            <a:avLst/>
          </a:prstGeom>
        </p:spPr>
        <p:txBody>
          <a:bodyPr vert="horz" wrap="square" lIns="0" tIns="12065" rIns="0" bIns="0" rtlCol="0">
            <a:spAutoFit/>
          </a:bodyPr>
          <a:lstStyle/>
          <a:p>
            <a:pPr>
              <a:lnSpc>
                <a:spcPct val="100000"/>
              </a:lnSpc>
              <a:spcBef>
                <a:spcPts val="95"/>
              </a:spcBef>
            </a:pPr>
            <a:r>
              <a:rPr lang="en-US" sz="600" b="1" spc="-20" dirty="0">
                <a:solidFill>
                  <a:schemeClr val="bg1">
                    <a:lumMod val="65000"/>
                  </a:schemeClr>
                </a:solidFill>
                <a:latin typeface="Arial"/>
                <a:cs typeface="Arial"/>
              </a:rPr>
              <a:t>Main findings</a:t>
            </a:r>
          </a:p>
          <a:p>
            <a:pPr>
              <a:lnSpc>
                <a:spcPct val="100000"/>
              </a:lnSpc>
              <a:spcBef>
                <a:spcPts val="95"/>
              </a:spcBef>
            </a:pPr>
            <a:r>
              <a:rPr lang="en-US" sz="600" b="1" spc="-20" dirty="0">
                <a:solidFill>
                  <a:schemeClr val="bg1">
                    <a:lumMod val="65000"/>
                  </a:schemeClr>
                </a:solidFill>
                <a:latin typeface="Arial"/>
                <a:cs typeface="Arial"/>
              </a:rPr>
              <a:t>Policy Implications</a:t>
            </a:r>
          </a:p>
          <a:p>
            <a:pPr>
              <a:lnSpc>
                <a:spcPct val="100000"/>
              </a:lnSpc>
              <a:spcBef>
                <a:spcPts val="95"/>
              </a:spcBef>
            </a:pPr>
            <a:r>
              <a:rPr lang="en-US" sz="600" b="1" spc="-20" dirty="0">
                <a:solidFill>
                  <a:schemeClr val="bg1"/>
                </a:solidFill>
                <a:latin typeface="Arial"/>
                <a:cs typeface="Arial"/>
              </a:rPr>
              <a:t>Limitations and Future Research </a:t>
            </a:r>
            <a:endParaRPr sz="600" dirty="0">
              <a:solidFill>
                <a:schemeClr val="bg1"/>
              </a:solidFill>
              <a:latin typeface="Arial"/>
              <a:cs typeface="Arial"/>
            </a:endParaRPr>
          </a:p>
        </p:txBody>
      </p:sp>
    </p:spTree>
    <p:extLst>
      <p:ext uri="{BB962C8B-B14F-4D97-AF65-F5344CB8AC3E}">
        <p14:creationId xmlns:p14="http://schemas.microsoft.com/office/powerpoint/2010/main" val="890885648"/>
      </p:ext>
    </p:extLst>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732</TotalTime>
  <Words>2375</Words>
  <Application>Microsoft Office PowerPoint</Application>
  <PresentationFormat>Custom</PresentationFormat>
  <Paragraphs>495</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Cambria Math</vt:lpstr>
      <vt:lpstr>Lucida Sans Unicode</vt:lpstr>
      <vt:lpstr>Tahoma</vt:lpstr>
      <vt:lpstr>Times New Roman</vt:lpstr>
      <vt:lpstr>Wingdings</vt:lpstr>
      <vt:lpstr>Office Theme</vt:lpstr>
      <vt:lpstr>The Impact of Oil Price Shocks on GDP and Inflation: Case of Saudi Arabia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Adaptation technology and free-riding incentives in international environmental agreements</dc:title>
  <dc:creator>Hassan Benchekroun       Walid Marrouch       Amrita Ray Chaudhuri</dc:creator>
  <cp:lastModifiedBy>Rawan Al Gharib</cp:lastModifiedBy>
  <cp:revision>69</cp:revision>
  <dcterms:created xsi:type="dcterms:W3CDTF">2023-04-25T18:01:04Z</dcterms:created>
  <dcterms:modified xsi:type="dcterms:W3CDTF">2026-03-08T17:32:35Z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2014-01-04T00:00:00Z</vt:filetime>
  </property>
  <property fmtid="{D5CDD505-2E9C-101B-9397-08002B2CF9AE}" pid="3" name="Creator">
    <vt:lpwstr>LaTeX with Beamer class version 3.10</vt:lpwstr>
  </property>
  <property fmtid="{D5CDD505-2E9C-101B-9397-08002B2CF9AE}" pid="4" name="LastSaved">
    <vt:filetime>2023-04-25T00:00:00Z</vt:filetime>
  </property>
</Properties>
</file>